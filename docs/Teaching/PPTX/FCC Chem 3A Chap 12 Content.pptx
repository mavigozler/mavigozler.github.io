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9"/>
  </p:notesMasterIdLst>
  <p:sldIdLst>
    <p:sldId id="608" r:id="rId2"/>
    <p:sldId id="830" r:id="rId3"/>
    <p:sldId id="831" r:id="rId4"/>
    <p:sldId id="836" r:id="rId5"/>
    <p:sldId id="835" r:id="rId6"/>
    <p:sldId id="837" r:id="rId7"/>
    <p:sldId id="838" r:id="rId8"/>
    <p:sldId id="840" r:id="rId9"/>
    <p:sldId id="833" r:id="rId10"/>
    <p:sldId id="841" r:id="rId11"/>
    <p:sldId id="834" r:id="rId12"/>
    <p:sldId id="842" r:id="rId13"/>
    <p:sldId id="843" r:id="rId14"/>
    <p:sldId id="844" r:id="rId15"/>
    <p:sldId id="845" r:id="rId16"/>
    <p:sldId id="846" r:id="rId17"/>
    <p:sldId id="847" r:id="rId1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00FF00"/>
    <a:srgbClr val="FFFFCC"/>
    <a:srgbClr val="339933"/>
    <a:srgbClr val="CCFFFF"/>
    <a:srgbClr val="FFFF99"/>
    <a:srgbClr val="99FFCC"/>
    <a:srgbClr val="99FF66"/>
    <a:srgbClr val="FF9933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2" autoAdjust="0"/>
    <p:restoredTop sz="94620" autoAdjust="0"/>
  </p:normalViewPr>
  <p:slideViewPr>
    <p:cSldViewPr snapToGrid="0">
      <p:cViewPr varScale="1">
        <p:scale>
          <a:sx n="130" d="100"/>
          <a:sy n="130" d="100"/>
        </p:scale>
        <p:origin x="144" y="210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32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29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3C9FD-BB70-7A66-1D77-1340C35A2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426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8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734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0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9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9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59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71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4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864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015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2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0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27B3E2-E413-4BBF-87A8-148331BF0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5321" y="636499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803D5D98-E6AF-418F-A1B9-21EEB670A939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524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02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2436" y="2274838"/>
            <a:ext cx="8111067" cy="2308324"/>
          </a:xfrm>
        </p:spPr>
        <p:txBody>
          <a:bodyPr/>
          <a:lstStyle/>
          <a:p>
            <a:r>
              <a:rPr lang="en-US" sz="7200" dirty="0"/>
              <a:t>Introductory General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933" y="335982"/>
            <a:ext cx="6793992" cy="1466314"/>
          </a:xfrm>
        </p:spPr>
        <p:txBody>
          <a:bodyPr/>
          <a:lstStyle/>
          <a:p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S. M.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78178-09A5-760C-4B2B-FE5DCFDC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4B865D-5DA3-6C23-2A19-B874111D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1649CD-26F3-FDAC-6641-475A24C14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Acids and Bases</a:t>
            </a:r>
          </a:p>
          <a:p>
            <a:r>
              <a:rPr lang="en-US" sz="2800" dirty="0"/>
              <a:t>Properties</a:t>
            </a:r>
          </a:p>
          <a:p>
            <a:r>
              <a:rPr lang="en-US" sz="2800" dirty="0"/>
              <a:t>Chemistry</a:t>
            </a:r>
          </a:p>
          <a:p>
            <a:r>
              <a:rPr lang="en-US" sz="2800" dirty="0"/>
              <a:t>Equilibria</a:t>
            </a:r>
          </a:p>
          <a:p>
            <a:r>
              <a:rPr lang="en-US" sz="2800" dirty="0"/>
              <a:t>Buffers: Stabilizing pH Against Changes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0594F6-8605-CCEC-0C31-33D9E3D29F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6939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BA4E7-1830-0D36-516C-B27EB7C8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80364B-602F-A0FF-46EC-B13EFD8BB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70E291-FA40-9CC8-12A3-682F11E34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49292"/>
            <a:ext cx="8387645" cy="5398263"/>
          </a:xfrm>
        </p:spPr>
        <p:txBody>
          <a:bodyPr/>
          <a:lstStyle/>
          <a:p>
            <a:r>
              <a:rPr lang="en-US" dirty="0"/>
              <a:t>Foods</a:t>
            </a:r>
          </a:p>
          <a:p>
            <a:pPr lvl="1"/>
            <a:r>
              <a:rPr lang="en-US" dirty="0"/>
              <a:t>Citrus: oranges, lemons</a:t>
            </a:r>
          </a:p>
          <a:p>
            <a:r>
              <a:rPr lang="en-US" dirty="0"/>
              <a:t>Compounds: citric acid,</a:t>
            </a:r>
            <a:br>
              <a:rPr lang="en-US" dirty="0"/>
            </a:br>
            <a:r>
              <a:rPr lang="en-US" sz="2000" dirty="0"/>
              <a:t>L</a:t>
            </a:r>
            <a:r>
              <a:rPr lang="en-US" dirty="0"/>
              <a:t>-ascorbic acid (Vitamin C),</a:t>
            </a:r>
            <a:br>
              <a:rPr lang="en-US" dirty="0"/>
            </a:br>
            <a:r>
              <a:rPr lang="en-US" dirty="0"/>
              <a:t>phosphoric acid (soft drinks),</a:t>
            </a:r>
            <a:br>
              <a:rPr lang="en-US" dirty="0"/>
            </a:br>
            <a:r>
              <a:rPr lang="en-US" dirty="0"/>
              <a:t>acetic acid (vinegar),</a:t>
            </a:r>
            <a:br>
              <a:rPr lang="en-US" dirty="0"/>
            </a:br>
            <a:r>
              <a:rPr lang="en-US" dirty="0"/>
              <a:t>hydrochloric acid (stomach acid)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D553BB1-E9A1-3747-408B-2A9ABEFDC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751" y="342150"/>
            <a:ext cx="3179427" cy="17791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D0D47D-488B-CC87-F52C-AA73F7C16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86" y="4350869"/>
            <a:ext cx="3380147" cy="19513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4FA6AF8-D67C-8E17-0667-509682ACD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273" y="4128900"/>
            <a:ext cx="4283650" cy="2284292"/>
          </a:xfrm>
          <a:prstGeom prst="rect">
            <a:avLst/>
          </a:prstGeom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9001A72-02F5-1BB4-2282-814894DA25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26965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B6082-D0D5-C2DC-66A2-74E77D35F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77FA45-0FE9-922B-930D-267D42C81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EEC0E0-2190-A598-7B9E-C2D488D1B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49292"/>
            <a:ext cx="8387645" cy="5398263"/>
          </a:xfrm>
        </p:spPr>
        <p:txBody>
          <a:bodyPr/>
          <a:lstStyle/>
          <a:p>
            <a:r>
              <a:rPr lang="en-US" dirty="0"/>
              <a:t>The protic kind of acids release </a:t>
            </a:r>
            <a:r>
              <a:rPr lang="en-US" dirty="0">
                <a:solidFill>
                  <a:srgbClr val="00FF00"/>
                </a:solidFill>
              </a:rPr>
              <a:t>hydrogen ions </a:t>
            </a:r>
            <a:r>
              <a:rPr lang="en-US" dirty="0"/>
              <a:t>(H</a:t>
            </a:r>
            <a:r>
              <a:rPr lang="en-US" baseline="30000" dirty="0"/>
              <a:t>+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rgbClr val="FFFF00"/>
                </a:solidFill>
              </a:rPr>
              <a:t>Hydrogen ions </a:t>
            </a:r>
            <a:r>
              <a:rPr lang="en-US" dirty="0"/>
              <a:t>are actually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protons</a:t>
            </a:r>
            <a:r>
              <a:rPr lang="en-US" dirty="0"/>
              <a:t>, so you will hear the word </a:t>
            </a:r>
            <a:r>
              <a:rPr lang="en-US" dirty="0">
                <a:solidFill>
                  <a:srgbClr val="FFFF00"/>
                </a:solidFill>
              </a:rPr>
              <a:t>proton</a:t>
            </a:r>
            <a:r>
              <a:rPr lang="en-US" dirty="0"/>
              <a:t> used in reference to acids</a:t>
            </a:r>
          </a:p>
          <a:p>
            <a:r>
              <a:rPr lang="en-US" dirty="0"/>
              <a:t>Acids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electrolytes</a:t>
            </a:r>
            <a:r>
              <a:rPr lang="en-US" dirty="0"/>
              <a:t>: conduct electrical current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Strong acids</a:t>
            </a:r>
            <a:r>
              <a:rPr lang="en-US" dirty="0"/>
              <a:t>: (nearly) complete (100%) ionization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Weak acids</a:t>
            </a:r>
            <a:r>
              <a:rPr lang="en-US" dirty="0"/>
              <a:t>: moderately weak 10-99% ionization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Very weak acids</a:t>
            </a:r>
            <a:r>
              <a:rPr lang="en-US" dirty="0"/>
              <a:t>: &lt; 10% ionization</a:t>
            </a:r>
          </a:p>
          <a:p>
            <a:r>
              <a:rPr lang="en-US" dirty="0"/>
              <a:t>Sour taste</a:t>
            </a:r>
          </a:p>
          <a:p>
            <a:r>
              <a:rPr lang="en-US" dirty="0">
                <a:solidFill>
                  <a:srgbClr val="FFFF00"/>
                </a:solidFill>
              </a:rPr>
              <a:t>Blue litmus </a:t>
            </a:r>
            <a:r>
              <a:rPr lang="en-US" dirty="0">
                <a:sym typeface="Wingdings" panose="05000000000000000000" pitchFamily="2" charset="2"/>
              </a:rPr>
              <a:t> red,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phenolphthalein</a:t>
            </a:r>
            <a:r>
              <a:rPr lang="en-US" dirty="0">
                <a:sym typeface="Wingdings" panose="05000000000000000000" pitchFamily="2" charset="2"/>
              </a:rPr>
              <a:t>  colorless</a:t>
            </a:r>
          </a:p>
          <a:p>
            <a:r>
              <a:rPr lang="en-US" dirty="0"/>
              <a:t>React with active metals </a:t>
            </a:r>
            <a:r>
              <a:rPr lang="en-US" dirty="0">
                <a:sym typeface="Wingdings" panose="05000000000000000000" pitchFamily="2" charset="2"/>
              </a:rPr>
              <a:t> hydrogen gas (H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Neutralization</a:t>
            </a:r>
            <a:r>
              <a:rPr lang="en-US" dirty="0">
                <a:sym typeface="Wingdings" panose="05000000000000000000" pitchFamily="2" charset="2"/>
              </a:rPr>
              <a:t>: react with bases  salt + water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42616-BF41-2026-77B4-77342012DD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9673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4764-ED57-6BE5-7EFC-0A533C5B3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3EB0F3-8E7C-E32A-F0F3-D02703FB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endParaRPr lang="en-US" sz="4000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D20BB78-1F6A-E6AB-3321-E06323F79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58421" y="576903"/>
            <a:ext cx="8317106" cy="584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EDEBA8-3B42-6E18-34B3-82AD7356DE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02794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DA6E-C6D2-DBBF-7B81-DF0A8111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6462D9-419B-42CB-4D57-4B8E1033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0E365E-6BC0-57A2-A898-EEC37AEB0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Hydrochloric acid (HCl)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HCl (</a:t>
            </a:r>
            <a:r>
              <a:rPr lang="en-US" i="1" dirty="0">
                <a:solidFill>
                  <a:srgbClr val="FFC000"/>
                </a:solidFill>
              </a:rPr>
              <a:t>g</a:t>
            </a:r>
            <a:r>
              <a:rPr lang="en-US" dirty="0">
                <a:solidFill>
                  <a:srgbClr val="FFC000"/>
                </a:solidFill>
              </a:rPr>
              <a:t>) + H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O (</a:t>
            </a:r>
            <a:r>
              <a:rPr lang="en-US" i="1" dirty="0">
                <a:solidFill>
                  <a:srgbClr val="FFC000"/>
                </a:solidFill>
              </a:rPr>
              <a:t>l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/>
              <a:t>a STRONG acid</a:t>
            </a:r>
          </a:p>
          <a:p>
            <a:r>
              <a:rPr lang="en-US" dirty="0">
                <a:sym typeface="Wingdings" panose="05000000000000000000" pitchFamily="2" charset="2"/>
              </a:rPr>
              <a:t>Often used is titration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Sulfuric acid (H</a:t>
            </a:r>
            <a:r>
              <a:rPr lang="en-US" sz="2800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2</a:t>
            </a: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SO</a:t>
            </a:r>
            <a:r>
              <a:rPr lang="en-US" sz="2800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4</a:t>
            </a: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another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strong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diprotic</a:t>
            </a:r>
            <a:r>
              <a:rPr lang="en-US" dirty="0">
                <a:sym typeface="Wingdings" panose="05000000000000000000" pitchFamily="2" charset="2"/>
              </a:rPr>
              <a:t> acid</a:t>
            </a:r>
          </a:p>
          <a:p>
            <a:r>
              <a:rPr lang="en-US" dirty="0">
                <a:sym typeface="Wingdings" panose="05000000000000000000" pitchFamily="2" charset="2"/>
              </a:rPr>
              <a:t>strongly dehydrating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Diprotic</a:t>
            </a:r>
            <a:r>
              <a:rPr lang="en-US" dirty="0">
                <a:sym typeface="Wingdings" panose="05000000000000000000" pitchFamily="2" charset="2"/>
              </a:rPr>
              <a:t> – releases two H+ ions in solvent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Monoprotic</a:t>
            </a:r>
            <a:r>
              <a:rPr lang="en-US" dirty="0">
                <a:sym typeface="Wingdings" panose="05000000000000000000" pitchFamily="2" charset="2"/>
              </a:rPr>
              <a:t> – releases one H+ ion in solvent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E531F-E7F7-692B-E31C-A8EA35789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5469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51887-795B-BDA8-0DAD-11BF93C9D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E86F9D-0E3D-6B26-815A-E01D5B1A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8" y="180238"/>
            <a:ext cx="8421512" cy="707886"/>
          </a:xfrm>
        </p:spPr>
        <p:txBody>
          <a:bodyPr/>
          <a:lstStyle/>
          <a:p>
            <a:r>
              <a:rPr lang="en-US" sz="4000" dirty="0"/>
              <a:t>Specific 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3E7515-1F09-E913-D129-BABC03B9D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2" y="888124"/>
            <a:ext cx="8387645" cy="521546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Nitric acid (HNO</a:t>
            </a:r>
            <a:r>
              <a:rPr lang="en-US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3</a:t>
            </a:r>
            <a:r>
              <a:rPr lang="en-US" b="1" dirty="0">
                <a:solidFill>
                  <a:srgbClr val="00FF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ym typeface="Wingdings" panose="05000000000000000000" pitchFamily="2" charset="2"/>
              </a:rPr>
              <a:t>Production: 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3 NO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sz="2000" i="1" dirty="0">
                <a:solidFill>
                  <a:srgbClr val="FFC000"/>
                </a:solidFill>
                <a:sym typeface="Wingdings" panose="05000000000000000000" pitchFamily="2" charset="2"/>
              </a:rPr>
              <a:t>g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sz="2000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 2 HNO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sz="2000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+ NO (g)</a:t>
            </a:r>
            <a:endParaRPr lang="en-US" dirty="0">
              <a:solidFill>
                <a:srgbClr val="FFC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strong corrosive mineral acid</a:t>
            </a:r>
          </a:p>
          <a:p>
            <a:r>
              <a:rPr lang="en-US" dirty="0">
                <a:sym typeface="Wingdings" panose="05000000000000000000" pitchFamily="2" charset="2"/>
              </a:rPr>
              <a:t>Reactive with metals Mn, Mg, Zn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metal + 2 HNO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 metal(NO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(g)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Carbonic acid (H</a:t>
            </a:r>
            <a:r>
              <a:rPr lang="en-US" b="1" baseline="-25000" dirty="0">
                <a:solidFill>
                  <a:srgbClr val="00FF00"/>
                </a:solidFill>
              </a:rPr>
              <a:t>2</a:t>
            </a:r>
            <a:r>
              <a:rPr lang="en-US" b="1" dirty="0">
                <a:solidFill>
                  <a:srgbClr val="00FF00"/>
                </a:solidFill>
              </a:rPr>
              <a:t>CO</a:t>
            </a:r>
            <a:r>
              <a:rPr lang="en-US" b="1" baseline="-25000" dirty="0">
                <a:solidFill>
                  <a:srgbClr val="00FF00"/>
                </a:solidFill>
              </a:rPr>
              <a:t>3</a:t>
            </a:r>
            <a:r>
              <a:rPr lang="en-US" b="1" dirty="0">
                <a:solidFill>
                  <a:srgbClr val="00FF00"/>
                </a:solidFill>
              </a:rPr>
              <a:t>)</a:t>
            </a:r>
          </a:p>
          <a:p>
            <a:r>
              <a:rPr lang="en-US" dirty="0"/>
              <a:t>a weak </a:t>
            </a:r>
            <a:r>
              <a:rPr lang="en-US" dirty="0">
                <a:solidFill>
                  <a:srgbClr val="FFFF00"/>
                </a:solidFill>
              </a:rPr>
              <a:t>diprotic</a:t>
            </a:r>
            <a:r>
              <a:rPr lang="en-US" dirty="0"/>
              <a:t> acid that can</a:t>
            </a:r>
            <a:br>
              <a:rPr lang="en-US" dirty="0"/>
            </a:br>
            <a:r>
              <a:rPr lang="en-US" dirty="0"/>
              <a:t>form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carbonates</a:t>
            </a:r>
            <a:r>
              <a:rPr lang="en-US" dirty="0"/>
              <a:t> (</a:t>
            </a:r>
            <a:r>
              <a:rPr lang="en-US" dirty="0">
                <a:solidFill>
                  <a:srgbClr val="FFC000"/>
                </a:solidFill>
              </a:rPr>
              <a:t>CO</a:t>
            </a:r>
            <a:r>
              <a:rPr lang="en-US" baseline="-25000" dirty="0">
                <a:solidFill>
                  <a:srgbClr val="FFC000"/>
                </a:solidFill>
              </a:rPr>
              <a:t>3</a:t>
            </a:r>
            <a:r>
              <a:rPr lang="en-US" baseline="30000" dirty="0">
                <a:solidFill>
                  <a:srgbClr val="FFC000"/>
                </a:solidFill>
              </a:rPr>
              <a:t>2–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bicarbonates</a:t>
            </a:r>
            <a:r>
              <a:rPr lang="en-US" dirty="0"/>
              <a:t> (</a:t>
            </a:r>
            <a:r>
              <a:rPr lang="en-US" dirty="0">
                <a:solidFill>
                  <a:srgbClr val="FFC000"/>
                </a:solidFill>
              </a:rPr>
              <a:t>HCO</a:t>
            </a:r>
            <a:r>
              <a:rPr lang="en-US" baseline="-25000" dirty="0">
                <a:solidFill>
                  <a:srgbClr val="FFC000"/>
                </a:solidFill>
              </a:rPr>
              <a:t>3</a:t>
            </a:r>
            <a:r>
              <a:rPr lang="en-US" baseline="30000" dirty="0">
                <a:solidFill>
                  <a:srgbClr val="FFC000"/>
                </a:solidFill>
              </a:rPr>
              <a:t>–</a:t>
            </a:r>
            <a:r>
              <a:rPr lang="en-US" dirty="0"/>
              <a:t>)</a:t>
            </a:r>
          </a:p>
          <a:p>
            <a:r>
              <a:rPr lang="en-US" dirty="0"/>
              <a:t>Found in carbonated</a:t>
            </a:r>
            <a:br>
              <a:rPr lang="en-US" dirty="0"/>
            </a:br>
            <a:r>
              <a:rPr lang="en-US" dirty="0"/>
              <a:t>beverages</a:t>
            </a:r>
          </a:p>
          <a:p>
            <a:r>
              <a:rPr lang="en-US" dirty="0"/>
              <a:t>Dissolves </a:t>
            </a:r>
            <a:r>
              <a:rPr lang="en-US" dirty="0">
                <a:solidFill>
                  <a:srgbClr val="FFFF00"/>
                </a:solidFill>
              </a:rPr>
              <a:t>limestone</a:t>
            </a:r>
            <a:br>
              <a:rPr lang="en-US" dirty="0"/>
            </a:br>
            <a:r>
              <a:rPr lang="en-US" dirty="0"/>
              <a:t>(to </a:t>
            </a:r>
            <a:r>
              <a:rPr lang="en-US" dirty="0">
                <a:solidFill>
                  <a:srgbClr val="FFC000"/>
                </a:solidFill>
              </a:rPr>
              <a:t>Ca(HCO</a:t>
            </a:r>
            <a:r>
              <a:rPr lang="en-US" baseline="-25000" dirty="0">
                <a:solidFill>
                  <a:srgbClr val="FFC000"/>
                </a:solidFill>
              </a:rPr>
              <a:t>3</a:t>
            </a:r>
            <a:r>
              <a:rPr lang="en-US" dirty="0">
                <a:solidFill>
                  <a:srgbClr val="FFC000"/>
                </a:solidFill>
              </a:rPr>
              <a:t>)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/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6CF99E-ACD5-7410-C77B-9E122CD43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557" y="4062588"/>
            <a:ext cx="3953620" cy="22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3C7BE9-0113-D031-E5CE-A7E770D8C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1009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115B4-6B0F-E510-3E97-25CCA0FCB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69B690-886A-938D-9C58-36C595551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Acids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8DEDBF-2B87-1924-55A8-65F043ED7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Formic acid (HCOOH)</a:t>
            </a:r>
          </a:p>
          <a:p>
            <a:r>
              <a:rPr lang="en-US" dirty="0"/>
              <a:t>simplest of carboxylic acids</a:t>
            </a:r>
          </a:p>
          <a:p>
            <a:r>
              <a:rPr lang="en-US" dirty="0"/>
              <a:t>an acid strongly associated with ants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Citric acid (C</a:t>
            </a:r>
            <a:r>
              <a:rPr lang="en-US" b="1" baseline="-25000" dirty="0">
                <a:solidFill>
                  <a:srgbClr val="00FF00"/>
                </a:solidFill>
              </a:rPr>
              <a:t>6</a:t>
            </a:r>
            <a:r>
              <a:rPr lang="en-US" b="1" dirty="0">
                <a:solidFill>
                  <a:srgbClr val="00FF00"/>
                </a:solidFill>
              </a:rPr>
              <a:t>H</a:t>
            </a:r>
            <a:r>
              <a:rPr lang="en-US" b="1" baseline="-25000" dirty="0">
                <a:solidFill>
                  <a:srgbClr val="00FF00"/>
                </a:solidFill>
              </a:rPr>
              <a:t>8</a:t>
            </a:r>
            <a:r>
              <a:rPr lang="en-US" b="1" dirty="0">
                <a:solidFill>
                  <a:srgbClr val="00FF00"/>
                </a:solidFill>
              </a:rPr>
              <a:t>O</a:t>
            </a:r>
            <a:r>
              <a:rPr lang="en-US" b="1" baseline="-25000" dirty="0">
                <a:solidFill>
                  <a:srgbClr val="00FF00"/>
                </a:solidFill>
              </a:rPr>
              <a:t>7</a:t>
            </a:r>
            <a:r>
              <a:rPr lang="en-US" b="1" dirty="0">
                <a:solidFill>
                  <a:srgbClr val="00FF00"/>
                </a:solidFill>
              </a:rPr>
              <a:t>)</a:t>
            </a:r>
          </a:p>
          <a:p>
            <a:r>
              <a:rPr lang="en-US" dirty="0"/>
              <a:t>weak tricarboxylic acid in citrus fruits</a:t>
            </a:r>
          </a:p>
          <a:p>
            <a:r>
              <a:rPr lang="en-US" dirty="0"/>
              <a:t>At the start of the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tricarboxylic acid cycle</a:t>
            </a:r>
            <a:r>
              <a:rPr lang="en-US" dirty="0"/>
              <a:t> (also called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Krebs cycle</a:t>
            </a:r>
            <a:r>
              <a:rPr lang="en-US" dirty="0"/>
              <a:t>,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citric acid cycle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Acetylsalicylic acid (aspirin)</a:t>
            </a:r>
          </a:p>
          <a:p>
            <a:r>
              <a:rPr lang="en-US" dirty="0"/>
              <a:t>effective anti-inflammatory agent (fever, pain)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7F2CF2-5BF9-A26B-01BB-1F71D0B47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8849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A7338-13D6-F381-5FBC-B458D6A76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2B6A92-BF54-B5DF-1CF8-90E051EDF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endParaRPr lang="en-US" sz="4000" dirty="0"/>
          </a:p>
        </p:txBody>
      </p:sp>
      <p:pic>
        <p:nvPicPr>
          <p:cNvPr id="8" name="Content Placeholder 7" descr="A glass with bubbles in it">
            <a:extLst>
              <a:ext uri="{FF2B5EF4-FFF2-40B4-BE49-F238E27FC236}">
                <a16:creationId xmlns:a16="http://schemas.microsoft.com/office/drawing/2014/main" id="{C85DD14E-8A11-A1FD-D9EC-CD103A887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719" y="2796381"/>
            <a:ext cx="2457450" cy="22860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4F777B-1619-EBF3-B62B-4140B0726C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81385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F73F2-6F21-7A44-CD7D-56995035B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61BA2C-6D15-6501-AF37-A8127C08E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F3E440-72AF-C194-1B28-6F608565A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77" y="1153664"/>
            <a:ext cx="8387645" cy="5398263"/>
          </a:xfrm>
        </p:spPr>
        <p:txBody>
          <a:bodyPr/>
          <a:lstStyle/>
          <a:p>
            <a:r>
              <a:rPr lang="en-US" dirty="0"/>
              <a:t>Bases often generate </a:t>
            </a:r>
            <a:r>
              <a:rPr lang="en-US" dirty="0">
                <a:solidFill>
                  <a:srgbClr val="00FF00"/>
                </a:solidFill>
              </a:rPr>
              <a:t>hydroxyl ions </a:t>
            </a:r>
            <a:r>
              <a:rPr lang="en-US" dirty="0"/>
              <a:t>(OH</a:t>
            </a:r>
            <a:r>
              <a:rPr lang="en-US" baseline="30000" dirty="0"/>
              <a:t>–</a:t>
            </a:r>
            <a:r>
              <a:rPr lang="en-US" dirty="0"/>
              <a:t>)</a:t>
            </a:r>
          </a:p>
          <a:p>
            <a:r>
              <a:rPr lang="en-US" dirty="0"/>
              <a:t>Like acids, they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electrolytes</a:t>
            </a:r>
            <a:endParaRPr lang="en-US" dirty="0"/>
          </a:p>
          <a:p>
            <a:r>
              <a:rPr lang="en-US" dirty="0"/>
              <a:t>There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Strong</a:t>
            </a:r>
            <a:r>
              <a:rPr lang="en-US" dirty="0"/>
              <a:t>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Weak</a:t>
            </a:r>
            <a:r>
              <a:rPr lang="en-US" dirty="0"/>
              <a:t> bases</a:t>
            </a:r>
          </a:p>
          <a:p>
            <a:r>
              <a:rPr lang="en-US" dirty="0"/>
              <a:t>Usually have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bitter</a:t>
            </a:r>
            <a:r>
              <a:rPr lang="en-US" dirty="0"/>
              <a:t> taste, not typical in foods</a:t>
            </a:r>
          </a:p>
          <a:p>
            <a:r>
              <a:rPr lang="en-US" dirty="0">
                <a:solidFill>
                  <a:srgbClr val="FFFF00"/>
                </a:solidFill>
              </a:rPr>
              <a:t>Red litmus </a:t>
            </a:r>
            <a:r>
              <a:rPr lang="en-US" dirty="0">
                <a:sym typeface="Wingdings" panose="05000000000000000000" pitchFamily="2" charset="2"/>
              </a:rPr>
              <a:t> blue,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phenolphthalein</a:t>
            </a:r>
            <a:r>
              <a:rPr lang="en-US" dirty="0">
                <a:sym typeface="Wingdings" panose="05000000000000000000" pitchFamily="2" charset="2"/>
              </a:rPr>
              <a:t>  pink</a:t>
            </a:r>
          </a:p>
          <a:p>
            <a:r>
              <a:rPr lang="en-US" dirty="0"/>
              <a:t>Not reactive with metals </a:t>
            </a:r>
            <a:r>
              <a:rPr lang="en-US" dirty="0">
                <a:sym typeface="Wingdings" panose="05000000000000000000" pitchFamily="2" charset="2"/>
              </a:rPr>
              <a:t>like acids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Neutralization</a:t>
            </a:r>
            <a:r>
              <a:rPr lang="en-US" dirty="0">
                <a:sym typeface="Wingdings" panose="05000000000000000000" pitchFamily="2" charset="2"/>
              </a:rPr>
              <a:t>: react with acids  salt + water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D1851C-9A49-FC08-2ED3-9AAA6130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10</a:t>
            </a:fld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23FFA-51B0-5B4B-EB52-8BDCFAC35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4499887"/>
            <a:ext cx="3343659" cy="1648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7DCFA6-A5DC-5E14-EC7A-778F6A1D9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423" y="4360969"/>
            <a:ext cx="3343659" cy="223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67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4079E-7516-18D5-E040-16F274EFA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05E02B-8B3E-D5A2-D0A1-C717CDC26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F6C2FE-40E4-D4C8-24B3-560753CC6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31CA5A-8D2B-D5A3-29D8-9F7792A6D7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11</a:t>
            </a:fld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29611-0B61-1D79-A09F-32BDD8BB9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" y="1332090"/>
            <a:ext cx="8145012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98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4633-8AEA-A44E-C0F4-BC4975D9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CECC99-17FA-B4DD-7E0C-47FFE550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55B05E-ED0D-5F82-0718-AF5413150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Sodium Hydroxide (NaOH)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HCl (</a:t>
            </a:r>
            <a:r>
              <a:rPr lang="en-US" i="1" dirty="0">
                <a:solidFill>
                  <a:srgbClr val="FFC000"/>
                </a:solidFill>
              </a:rPr>
              <a:t>g</a:t>
            </a:r>
            <a:r>
              <a:rPr lang="en-US" dirty="0">
                <a:solidFill>
                  <a:srgbClr val="FFC000"/>
                </a:solidFill>
              </a:rPr>
              <a:t>) + H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O (</a:t>
            </a:r>
            <a:r>
              <a:rPr lang="en-US" i="1" dirty="0">
                <a:solidFill>
                  <a:srgbClr val="FFC000"/>
                </a:solidFill>
              </a:rPr>
              <a:t>l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/>
              <a:t>a STRONG acid</a:t>
            </a:r>
          </a:p>
          <a:p>
            <a:r>
              <a:rPr lang="en-US" dirty="0">
                <a:sym typeface="Wingdings" panose="05000000000000000000" pitchFamily="2" charset="2"/>
              </a:rPr>
              <a:t>Often used is titration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Potassium Hydroxide (KOH)</a:t>
            </a:r>
          </a:p>
          <a:p>
            <a:r>
              <a:rPr lang="en-US" dirty="0">
                <a:sym typeface="Wingdings" panose="05000000000000000000" pitchFamily="2" charset="2"/>
              </a:rPr>
              <a:t>another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strong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diprotic</a:t>
            </a:r>
            <a:r>
              <a:rPr lang="en-US" dirty="0">
                <a:sym typeface="Wingdings" panose="05000000000000000000" pitchFamily="2" charset="2"/>
              </a:rPr>
              <a:t> acid</a:t>
            </a:r>
          </a:p>
          <a:p>
            <a:r>
              <a:rPr lang="en-US" dirty="0">
                <a:sym typeface="Wingdings" panose="05000000000000000000" pitchFamily="2" charset="2"/>
              </a:rPr>
              <a:t>strongly dehydrating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Diprotic</a:t>
            </a:r>
            <a:r>
              <a:rPr lang="en-US" dirty="0">
                <a:sym typeface="Wingdings" panose="05000000000000000000" pitchFamily="2" charset="2"/>
              </a:rPr>
              <a:t> – releases two H+ ions in solvent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Monoprotic</a:t>
            </a:r>
            <a:r>
              <a:rPr lang="en-US" dirty="0">
                <a:sym typeface="Wingdings" panose="05000000000000000000" pitchFamily="2" charset="2"/>
              </a:rPr>
              <a:t> – releases one H+ ion in solvent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765D-4C36-4C8C-BC5A-B08AAD8136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71552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6DD00-1DAF-5455-D6EF-80302BD8B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FD3EC7-323F-1792-9E99-1F04849F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22DE82-F54C-5085-E351-6C06CECDF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Magnesium Hydroxide [Mg(OH)</a:t>
            </a:r>
            <a:r>
              <a:rPr lang="en-US" sz="2800" b="1" baseline="-25000" dirty="0">
                <a:solidFill>
                  <a:srgbClr val="00FF00"/>
                </a:solidFill>
              </a:rPr>
              <a:t>2</a:t>
            </a:r>
            <a:r>
              <a:rPr lang="en-US" sz="2800" b="1" dirty="0">
                <a:solidFill>
                  <a:srgbClr val="00FF00"/>
                </a:solidFill>
              </a:rPr>
              <a:t>]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HCl (</a:t>
            </a:r>
            <a:r>
              <a:rPr lang="en-US" i="1" dirty="0">
                <a:solidFill>
                  <a:srgbClr val="FFC000"/>
                </a:solidFill>
              </a:rPr>
              <a:t>g</a:t>
            </a:r>
            <a:r>
              <a:rPr lang="en-US" dirty="0">
                <a:solidFill>
                  <a:srgbClr val="FFC000"/>
                </a:solidFill>
              </a:rPr>
              <a:t>) + H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O (</a:t>
            </a:r>
            <a:r>
              <a:rPr lang="en-US" i="1" dirty="0">
                <a:solidFill>
                  <a:srgbClr val="FFC000"/>
                </a:solidFill>
              </a:rPr>
              <a:t>l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/>
              <a:t>a STRONG acid</a:t>
            </a:r>
          </a:p>
          <a:p>
            <a:r>
              <a:rPr lang="en-US" dirty="0">
                <a:sym typeface="Wingdings" panose="05000000000000000000" pitchFamily="2" charset="2"/>
              </a:rPr>
              <a:t>Often used is titration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Calcium Hydroxide [Ca(OH)</a:t>
            </a:r>
            <a:r>
              <a:rPr lang="en-US" sz="2800" b="1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2</a:t>
            </a:r>
            <a:r>
              <a:rPr lang="en-US" sz="2800" b="1" dirty="0">
                <a:solidFill>
                  <a:srgbClr val="00FF00"/>
                </a:solidFill>
                <a:sym typeface="Wingdings" panose="05000000000000000000" pitchFamily="2" charset="2"/>
              </a:rPr>
              <a:t>]</a:t>
            </a:r>
          </a:p>
          <a:p>
            <a:r>
              <a:rPr lang="en-US" dirty="0">
                <a:sym typeface="Wingdings" panose="05000000000000000000" pitchFamily="2" charset="2"/>
              </a:rPr>
              <a:t>another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strong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diprotic</a:t>
            </a:r>
            <a:r>
              <a:rPr lang="en-US" dirty="0">
                <a:sym typeface="Wingdings" panose="05000000000000000000" pitchFamily="2" charset="2"/>
              </a:rPr>
              <a:t> acid</a:t>
            </a:r>
          </a:p>
          <a:p>
            <a:r>
              <a:rPr lang="en-US" dirty="0">
                <a:sym typeface="Wingdings" panose="05000000000000000000" pitchFamily="2" charset="2"/>
              </a:rPr>
              <a:t>strongly dehydrating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Diprotic</a:t>
            </a:r>
            <a:r>
              <a:rPr lang="en-US" dirty="0">
                <a:sym typeface="Wingdings" panose="05000000000000000000" pitchFamily="2" charset="2"/>
              </a:rPr>
              <a:t> – releases two H+ ions in solvent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Monoprotic</a:t>
            </a:r>
            <a:r>
              <a:rPr lang="en-US" dirty="0">
                <a:sym typeface="Wingdings" panose="05000000000000000000" pitchFamily="2" charset="2"/>
              </a:rPr>
              <a:t> – releases one H+ ion in solvent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7433E-05A7-D4E2-ABB9-B6E3148CF9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78660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7D30C-3E61-6450-ACBC-1DFD6D46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2B9B74-3A7D-C6AC-8FB6-B48B46A6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Specific Bases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4ECB1F-6361-2386-3561-416EF6B5B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Ammonia (NH</a:t>
            </a:r>
            <a:r>
              <a:rPr lang="en-US" sz="2800" b="1" baseline="-25000" dirty="0">
                <a:solidFill>
                  <a:srgbClr val="00FF00"/>
                </a:solidFill>
              </a:rPr>
              <a:t>3</a:t>
            </a:r>
            <a:r>
              <a:rPr lang="en-US" sz="2800" b="1" dirty="0">
                <a:solidFill>
                  <a:srgbClr val="00FF00"/>
                </a:solidFill>
              </a:rPr>
              <a:t>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</a:rPr>
              <a:t>HCl (</a:t>
            </a:r>
            <a:r>
              <a:rPr lang="en-US" i="1" dirty="0">
                <a:solidFill>
                  <a:srgbClr val="FFC000"/>
                </a:solidFill>
              </a:rPr>
              <a:t>g</a:t>
            </a:r>
            <a:r>
              <a:rPr lang="en-US" dirty="0">
                <a:solidFill>
                  <a:srgbClr val="FFC000"/>
                </a:solidFill>
              </a:rPr>
              <a:t>) + H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O (</a:t>
            </a:r>
            <a:r>
              <a:rPr lang="en-US" i="1" dirty="0">
                <a:solidFill>
                  <a:srgbClr val="FFC000"/>
                </a:solidFill>
              </a:rPr>
              <a:t>l</a:t>
            </a:r>
            <a:r>
              <a:rPr lang="en-US" dirty="0">
                <a:solidFill>
                  <a:srgbClr val="FFC000"/>
                </a:solidFill>
              </a:rPr>
              <a:t>) 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/>
              <a:t>a STRONG acid</a:t>
            </a:r>
          </a:p>
          <a:p>
            <a:r>
              <a:rPr lang="en-US" dirty="0">
                <a:sym typeface="Wingdings" panose="05000000000000000000" pitchFamily="2" charset="2"/>
              </a:rPr>
              <a:t>Often used is titration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D9F5F-968D-1365-7482-8EE2F86F5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75649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D655D-BE93-0831-8E2C-32FE15A09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6DC01D-93BA-EC60-2B4B-750FB6F5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What Defines An Acid, A Base?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887527-8CDB-F0E4-E6AC-4831D143B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Arrhenius Theory of Acids/Bases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1884: Arrhenius proposes acid increases 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ions as hydronium (H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O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) ion concentration in aqueous solvent, base increase OH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ions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HCl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Cl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NaOH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Na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>
                <a:sym typeface="Wingdings" panose="05000000000000000000" pitchFamily="2" charset="2"/>
              </a:rPr>
              <a:t>Limitations</a:t>
            </a:r>
          </a:p>
          <a:p>
            <a:r>
              <a:rPr lang="en-US" sz="2200" dirty="0">
                <a:sym typeface="Wingdings" panose="05000000000000000000" pitchFamily="2" charset="2"/>
              </a:rPr>
              <a:t>Does not explain how ammonia NH</a:t>
            </a:r>
            <a:r>
              <a:rPr lang="en-US" sz="2200" baseline="-25000" dirty="0">
                <a:sym typeface="Wingdings" panose="05000000000000000000" pitchFamily="2" charset="2"/>
              </a:rPr>
              <a:t>3</a:t>
            </a:r>
            <a:r>
              <a:rPr lang="en-US" sz="2200" dirty="0">
                <a:sym typeface="Wingdings" panose="05000000000000000000" pitchFamily="2" charset="2"/>
              </a:rPr>
              <a:t> achieves this</a:t>
            </a:r>
          </a:p>
          <a:p>
            <a:r>
              <a:rPr lang="en-US" sz="2200" dirty="0">
                <a:sym typeface="Wingdings" panose="05000000000000000000" pitchFamily="2" charset="2"/>
              </a:rPr>
              <a:t>Does not explain alkalinity in non-aqueous solutions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4C92C-FEB1-F564-4159-40F4661565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6813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AF2A5-8573-81E4-F9FB-2C3788DEE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18E494-685D-BA8B-E22C-FB538C24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What Defines An Acid, A Base?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30D571-2DD9-2B23-149B-9D9F8DDF5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C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Bronsted-Lowry Theory of Acids/Bases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1923: Dane Bronsted and Englishman Lowry propose an acid is a substance that donates a proton (H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) ion to a molecule and a base accepts a proton. This now explains ammonia as a base: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NH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O (</a:t>
            </a:r>
            <a:r>
              <a:rPr lang="en-US" i="1" dirty="0">
                <a:solidFill>
                  <a:srgbClr val="FFC000"/>
                </a:solidFill>
                <a:sym typeface="Wingdings" panose="05000000000000000000" pitchFamily="2" charset="2"/>
              </a:rPr>
              <a:t>l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 NH</a:t>
            </a:r>
            <a:r>
              <a:rPr lang="en-US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4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+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 + OH</a:t>
            </a:r>
            <a:r>
              <a:rPr lang="en-US" baseline="30000" dirty="0">
                <a:solidFill>
                  <a:srgbClr val="FFC000"/>
                </a:solidFill>
                <a:sym typeface="Wingdings" panose="05000000000000000000" pitchFamily="2" charset="2"/>
              </a:rPr>
              <a:t>–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49AC2-0D19-44C1-01CA-1C20CCC86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16</a:t>
            </a:fld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882E6B-3F10-1AF0-4351-E53BA0083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29" y="3841590"/>
            <a:ext cx="5586972" cy="263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196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D4D39-A504-D519-38AE-90B6CD24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3E9526-2222-BC3D-6792-847C50B25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The Hydronium Ion (H</a:t>
            </a:r>
            <a:r>
              <a:rPr lang="en-US" sz="4000" baseline="-25000" dirty="0"/>
              <a:t>3</a:t>
            </a:r>
            <a:r>
              <a:rPr lang="en-US" sz="4000" dirty="0"/>
              <a:t>O</a:t>
            </a:r>
            <a:r>
              <a:rPr lang="en-US" sz="4000" baseline="30000" dirty="0"/>
              <a:t>+</a:t>
            </a:r>
            <a:r>
              <a:rPr lang="en-US" sz="4000" dirty="0"/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108CA7-D5E4-77FF-26E2-53D8CDFA0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35626"/>
            <a:ext cx="8387645" cy="5411929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An acid can yield a hydrogen ion (H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), a proton, but that does move about alone in water</a:t>
            </a:r>
          </a:p>
          <a:p>
            <a:r>
              <a:rPr lang="en-US" dirty="0">
                <a:sym typeface="Wingdings" panose="05000000000000000000" pitchFamily="2" charset="2"/>
              </a:rPr>
              <a:t>HCl will ionize to 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and Cl</a:t>
            </a:r>
            <a:r>
              <a:rPr lang="en-US" baseline="30000" dirty="0">
                <a:sym typeface="Wingdings" panose="05000000000000000000" pitchFamily="2" charset="2"/>
              </a:rPr>
              <a:t>–</a:t>
            </a:r>
            <a:r>
              <a:rPr lang="en-US" dirty="0">
                <a:sym typeface="Wingdings" panose="05000000000000000000" pitchFamily="2" charset="2"/>
              </a:rPr>
              <a:t> particularly in water (aqueous solution), but what really happens is that it transfers H</a:t>
            </a:r>
            <a:r>
              <a:rPr lang="en-US" baseline="30000" dirty="0">
                <a:sym typeface="Wingdings" panose="05000000000000000000" pitchFamily="2" charset="2"/>
              </a:rPr>
              <a:t>+</a:t>
            </a:r>
            <a:r>
              <a:rPr lang="en-US" dirty="0">
                <a:sym typeface="Wingdings" panose="05000000000000000000" pitchFamily="2" charset="2"/>
              </a:rPr>
              <a:t> (the proton) to H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O, which actually acts as a (weak) base (proton acceptor) 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06EC6-662C-93D1-D7F9-D865AAAB19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3D5D98-E6AF-418F-A1B9-21EEB670A939}" type="slidenum">
              <a:rPr lang="en-US" smtClean="0"/>
              <a:pPr/>
              <a:t>17</a:t>
            </a:fld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503972-4C2B-2E8A-109C-1306FAE9E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199" y="3728374"/>
            <a:ext cx="6166387" cy="273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56499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29136</TotalTime>
  <Words>853</Words>
  <Application>Microsoft Office PowerPoint</Application>
  <PresentationFormat>On-screen Show (4:3)</PresentationFormat>
  <Paragraphs>117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Cambria</vt:lpstr>
      <vt:lpstr>Courier New</vt:lpstr>
      <vt:lpstr>Tahoma</vt:lpstr>
      <vt:lpstr>Times New Roman</vt:lpstr>
      <vt:lpstr>Verdana</vt:lpstr>
      <vt:lpstr>Wingdings</vt:lpstr>
      <vt:lpstr>Light-on-dark-standard-presentation</vt:lpstr>
      <vt:lpstr>Introductory General Chemistry</vt:lpstr>
      <vt:lpstr>PowerPoint Presentation</vt:lpstr>
      <vt:lpstr>Acids</vt:lpstr>
      <vt:lpstr>Acids</vt:lpstr>
      <vt:lpstr>PowerPoint Presentation</vt:lpstr>
      <vt:lpstr>Specific Acids</vt:lpstr>
      <vt:lpstr>Specific Acids</vt:lpstr>
      <vt:lpstr>Specific Acids</vt:lpstr>
      <vt:lpstr>PowerPoint Presentation</vt:lpstr>
      <vt:lpstr>Bases</vt:lpstr>
      <vt:lpstr>PowerPoint Presentation</vt:lpstr>
      <vt:lpstr>Specific Bases</vt:lpstr>
      <vt:lpstr>Specific Bases</vt:lpstr>
      <vt:lpstr>Specific Bases</vt:lpstr>
      <vt:lpstr>What Defines An Acid, A Base?</vt:lpstr>
      <vt:lpstr>What Defines An Acid, A Base?</vt:lpstr>
      <vt:lpstr>The Hydronium Ion (H3O+)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sm h</cp:lastModifiedBy>
  <cp:revision>1018</cp:revision>
  <cp:lastPrinted>2016-03-14T04:22:58Z</cp:lastPrinted>
  <dcterms:created xsi:type="dcterms:W3CDTF">2005-12-08T13:54:14Z</dcterms:created>
  <dcterms:modified xsi:type="dcterms:W3CDTF">2025-11-04T17:42:39Z</dcterms:modified>
</cp:coreProperties>
</file>