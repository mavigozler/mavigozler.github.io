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0"/>
  </p:notesMasterIdLst>
  <p:sldIdLst>
    <p:sldId id="256" r:id="rId2"/>
    <p:sldId id="269" r:id="rId3"/>
    <p:sldId id="270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870B40-4A4A-4B08-A78F-7A6D3DA854F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E3275-5115-48A3-A6BE-A99C5BB94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8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56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44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757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09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688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0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6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01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13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02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45793-6087-4628-9F20-6CEB173D0D9A}" type="datetimeFigureOut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2288EED-371D-4755-9CB5-4E620EC3791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70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 11A – </a:t>
            </a:r>
            <a:br>
              <a:rPr lang="en-US" dirty="0"/>
            </a:br>
            <a:r>
              <a:rPr lang="en-US" dirty="0"/>
              <a:t>Synthesis of Alum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4301" y="3821705"/>
            <a:ext cx="6808124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you done your pre-lab quiz on Canvas?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out: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Goggles, pencil, calculator, lab packet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Backpacks in front of classroom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food or beverages - put it away</a:t>
            </a:r>
          </a:p>
        </p:txBody>
      </p:sp>
    </p:spTree>
    <p:extLst>
      <p:ext uri="{BB962C8B-B14F-4D97-AF65-F5344CB8AC3E}">
        <p14:creationId xmlns:p14="http://schemas.microsoft.com/office/powerpoint/2010/main" val="803007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212C3-856D-4535-A1ED-805AA706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8486378" cy="3448595"/>
          </a:xfrm>
        </p:spPr>
        <p:txBody>
          <a:bodyPr/>
          <a:lstStyle/>
          <a:p>
            <a:r>
              <a:rPr lang="en-US" dirty="0"/>
              <a:t>Today we will be making </a:t>
            </a:r>
            <a:r>
              <a:rPr lang="pt-BR" dirty="0"/>
              <a:t>potassium aluminum sulfate dodecahydrate (KAl(SO</a:t>
            </a:r>
            <a:r>
              <a:rPr lang="pt-BR" baseline="-25000" dirty="0"/>
              <a:t>4</a:t>
            </a:r>
            <a:r>
              <a:rPr lang="pt-BR" dirty="0"/>
              <a:t>)</a:t>
            </a:r>
            <a:r>
              <a:rPr lang="pt-BR" baseline="-25000" dirty="0"/>
              <a:t>2</a:t>
            </a:r>
            <a:r>
              <a:rPr lang="pt-BR" dirty="0"/>
              <a:t>•12H</a:t>
            </a:r>
            <a:r>
              <a:rPr lang="pt-BR" baseline="-25000" dirty="0"/>
              <a:t>2</a:t>
            </a:r>
            <a:r>
              <a:rPr lang="pt-BR" dirty="0"/>
              <a:t>O) – aka </a:t>
            </a:r>
            <a:r>
              <a:rPr lang="pt-BR" i="1" dirty="0"/>
              <a:t>Alum</a:t>
            </a:r>
          </a:p>
          <a:p>
            <a:pPr lvl="1"/>
            <a:r>
              <a:rPr lang="pt-BR" dirty="0"/>
              <a:t>We will be making </a:t>
            </a:r>
            <a:r>
              <a:rPr lang="pt-BR" dirty="0" err="1"/>
              <a:t>Alum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using</a:t>
            </a:r>
            <a:r>
              <a:rPr lang="pt-BR" dirty="0"/>
              <a:t> </a:t>
            </a:r>
            <a:r>
              <a:rPr lang="pt-BR" dirty="0" err="1"/>
              <a:t>aluminum</a:t>
            </a:r>
            <a:r>
              <a:rPr lang="pt-BR" dirty="0"/>
              <a:t> </a:t>
            </a:r>
            <a:r>
              <a:rPr lang="pt-BR" dirty="0" err="1"/>
              <a:t>powder</a:t>
            </a:r>
            <a:endParaRPr lang="pt-BR" dirty="0"/>
          </a:p>
          <a:p>
            <a:pPr lvl="2"/>
            <a:r>
              <a:rPr lang="pt-BR" dirty="0"/>
              <a:t>Aluminum metal was named after the compound Alum.</a:t>
            </a:r>
            <a:endParaRPr lang="en-US" dirty="0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973" y="3735175"/>
            <a:ext cx="1157059" cy="173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Body Shop Mania: Transferência de produtos entre embalagen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49" y="3832528"/>
            <a:ext cx="2219141" cy="1764217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995093" y="5699249"/>
            <a:ext cx="16819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KAl</a:t>
            </a:r>
            <a:r>
              <a:rPr lang="en-US" dirty="0">
                <a:solidFill>
                  <a:srgbClr val="000000"/>
                </a:solidFill>
              </a:rPr>
              <a:t>(OH)</a:t>
            </a:r>
            <a:r>
              <a:rPr lang="en-US" baseline="-25000" dirty="0">
                <a:solidFill>
                  <a:srgbClr val="000000"/>
                </a:solidFill>
              </a:rPr>
              <a:t>4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aq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8510845" y="5470764"/>
            <a:ext cx="2129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KAl(SO</a:t>
            </a:r>
            <a:r>
              <a:rPr lang="pt-BR" baseline="-25000" dirty="0"/>
              <a:t>4</a:t>
            </a:r>
            <a:r>
              <a:rPr lang="pt-BR" dirty="0"/>
              <a:t>)</a:t>
            </a:r>
            <a:r>
              <a:rPr lang="pt-BR" baseline="-25000" dirty="0"/>
              <a:t>2</a:t>
            </a:r>
            <a:r>
              <a:rPr lang="pt-BR" dirty="0"/>
              <a:t>•12H</a:t>
            </a:r>
            <a:r>
              <a:rPr lang="pt-BR" baseline="-25000" dirty="0"/>
              <a:t>2</a:t>
            </a:r>
            <a:r>
              <a:rPr lang="pt-BR" dirty="0"/>
              <a:t>O(s)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447331" y="5606157"/>
            <a:ext cx="1222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Al(s)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408218" y="4347556"/>
            <a:ext cx="1391870" cy="6483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>
            <a:off x="6612946" y="4347556"/>
            <a:ext cx="1391870" cy="6483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File:Lithium chloride.jpg - Wikimedia Commons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765" y="3620099"/>
            <a:ext cx="1937270" cy="184501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79136" y="5795988"/>
            <a:ext cx="36174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Your Alum may be brownish white.</a:t>
            </a:r>
          </a:p>
        </p:txBody>
      </p:sp>
    </p:spTree>
    <p:extLst>
      <p:ext uri="{BB962C8B-B14F-4D97-AF65-F5344CB8AC3E}">
        <p14:creationId xmlns:p14="http://schemas.microsoft.com/office/powerpoint/2010/main" val="279888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80" y="2015732"/>
            <a:ext cx="7027402" cy="34506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While waiting for the Al powder to completely react, you can </a:t>
            </a:r>
            <a:r>
              <a:rPr lang="en-US" u="sng" dirty="0"/>
              <a:t>calculate your theoretical yield of Alum</a:t>
            </a:r>
            <a:endParaRPr lang="en-US" dirty="0"/>
          </a:p>
          <a:p>
            <a:pPr lvl="1"/>
            <a:r>
              <a:rPr lang="en-US" dirty="0"/>
              <a:t>We are assuming Al powder is the limiting reactant</a:t>
            </a:r>
          </a:p>
          <a:p>
            <a:pPr lvl="1"/>
            <a:r>
              <a:rPr lang="en-US" dirty="0"/>
              <a:t>You may move on when no more Al powder is visible. Swirl every few minutes.</a:t>
            </a:r>
          </a:p>
          <a:p>
            <a:r>
              <a:rPr lang="en-US" dirty="0"/>
              <a:t>You won’t know your </a:t>
            </a:r>
            <a:r>
              <a:rPr lang="en-US" u="sng" dirty="0"/>
              <a:t>actual yield</a:t>
            </a:r>
            <a:r>
              <a:rPr lang="en-US" dirty="0"/>
              <a:t> until you weigh your product at the very end. </a:t>
            </a:r>
          </a:p>
          <a:p>
            <a:pPr lvl="1"/>
            <a:r>
              <a:rPr lang="en-US" dirty="0"/>
              <a:t>Vacuum Filtration apparatus </a:t>
            </a:r>
          </a:p>
          <a:p>
            <a:pPr lvl="2"/>
            <a:r>
              <a:rPr lang="en-US" dirty="0"/>
              <a:t>Rinsing beaker</a:t>
            </a:r>
          </a:p>
        </p:txBody>
      </p:sp>
      <p:pic>
        <p:nvPicPr>
          <p:cNvPr id="4" name="Picture 3" descr="Laboratory equipment - Wikimedia Common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046" y="555154"/>
            <a:ext cx="1143000" cy="981075"/>
          </a:xfrm>
          <a:prstGeom prst="rect">
            <a:avLst/>
          </a:prstGeom>
        </p:spPr>
      </p:pic>
      <p:pic>
        <p:nvPicPr>
          <p:cNvPr id="5" name="Picture 4" descr="Comunidad de foros de Apicultura - Precio tintura de propóleo - Temas generales apícola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290" y="2103119"/>
            <a:ext cx="2836718" cy="378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80" y="2015732"/>
            <a:ext cx="9603274" cy="3733187"/>
          </a:xfrm>
        </p:spPr>
        <p:txBody>
          <a:bodyPr>
            <a:normAutofit/>
          </a:bodyPr>
          <a:lstStyle/>
          <a:p>
            <a:r>
              <a:rPr lang="en-US" dirty="0"/>
              <a:t>Step 5 &amp; 6: </a:t>
            </a:r>
          </a:p>
          <a:p>
            <a:pPr lvl="1"/>
            <a:r>
              <a:rPr lang="en-US" dirty="0"/>
              <a:t>Be very careful with the sulfuric acid! It is very corrosive.</a:t>
            </a:r>
          </a:p>
          <a:p>
            <a:pPr lvl="1"/>
            <a:r>
              <a:rPr lang="en-US" dirty="0"/>
              <a:t>Add acid slowly to reaction beaker.</a:t>
            </a:r>
          </a:p>
          <a:p>
            <a:pPr lvl="2"/>
            <a:r>
              <a:rPr lang="en-US" dirty="0"/>
              <a:t>One person stirs the reaction while the other person adds the sulfuric acid. Very neat to watch.</a:t>
            </a:r>
          </a:p>
          <a:p>
            <a:pPr lvl="2"/>
            <a:r>
              <a:rPr lang="en-US" dirty="0"/>
              <a:t>Very exothermic. Keep working in the fume hood.</a:t>
            </a:r>
          </a:p>
          <a:p>
            <a:pPr lvl="1"/>
            <a:r>
              <a:rPr lang="en-US" dirty="0"/>
              <a:t>Be careful not to touch the gloves to your skin. This is how accidental chemical burns happen.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761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Recording Data: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330" y="2017343"/>
            <a:ext cx="7837985" cy="3441520"/>
          </a:xfrm>
        </p:spPr>
        <p:txBody>
          <a:bodyPr>
            <a:normAutofit/>
          </a:bodyPr>
          <a:lstStyle/>
          <a:p>
            <a:r>
              <a:rPr lang="en-US" dirty="0"/>
              <a:t>The Data Report is short.</a:t>
            </a:r>
          </a:p>
          <a:p>
            <a:pPr lvl="1"/>
            <a:r>
              <a:rPr lang="en-US" dirty="0"/>
              <a:t>Make sure you have units on all measured values</a:t>
            </a:r>
          </a:p>
          <a:p>
            <a:pPr lvl="1"/>
            <a:r>
              <a:rPr lang="en-US" dirty="0"/>
              <a:t>Show your work</a:t>
            </a:r>
          </a:p>
          <a:p>
            <a:pPr lvl="2"/>
            <a:r>
              <a:rPr lang="en-US" dirty="0"/>
              <a:t>For full credit, setup theoretical yield has one calculation (one equal sign)</a:t>
            </a:r>
          </a:p>
        </p:txBody>
      </p:sp>
    </p:spTree>
    <p:extLst>
      <p:ext uri="{BB962C8B-B14F-4D97-AF65-F5344CB8AC3E}">
        <p14:creationId xmlns:p14="http://schemas.microsoft.com/office/powerpoint/2010/main" val="1083040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Do’s and Don’ts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74984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 work in the fume hood when instructed to do so.</a:t>
            </a:r>
          </a:p>
          <a:p>
            <a:r>
              <a:rPr lang="en-US" dirty="0"/>
              <a:t>DO make your own personal ice bath 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2483" y="2017343"/>
            <a:ext cx="5146324" cy="34415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DON’T boil your reaction</a:t>
            </a:r>
          </a:p>
          <a:p>
            <a:pPr lvl="1"/>
            <a:r>
              <a:rPr lang="en-US" dirty="0"/>
              <a:t>Use the pancake griddles in the fume hood when you need to heat your reaction </a:t>
            </a:r>
          </a:p>
          <a:p>
            <a:r>
              <a:rPr lang="en-US" dirty="0"/>
              <a:t>DON’T leave alum crystals on wet filter paper to dry (it will take forever)</a:t>
            </a:r>
          </a:p>
          <a:p>
            <a:pPr lvl="1"/>
            <a:r>
              <a:rPr lang="en-US" dirty="0"/>
              <a:t>Gently scrape off onto a watch glass (put a paper towel underneath for easier cleanup).</a:t>
            </a:r>
          </a:p>
          <a:p>
            <a:pPr lvl="1"/>
            <a:r>
              <a:rPr lang="en-US" dirty="0"/>
              <a:t>Spread it out so it will dry faster.</a:t>
            </a:r>
          </a:p>
          <a:p>
            <a:pPr lvl="1"/>
            <a:r>
              <a:rPr lang="en-US" dirty="0"/>
              <a:t>Also, the paper is </a:t>
            </a:r>
            <a:r>
              <a:rPr lang="en-US" i="1" u="sng" dirty="0"/>
              <a:t>not</a:t>
            </a:r>
            <a:r>
              <a:rPr lang="en-US" dirty="0"/>
              <a:t> part of your actual yield measurement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509" y="4210994"/>
            <a:ext cx="1854172" cy="138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5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Up and Waste Disposal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Side Arm Flask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527069"/>
            <a:ext cx="4645152" cy="2941657"/>
          </a:xfrm>
        </p:spPr>
        <p:txBody>
          <a:bodyPr/>
          <a:lstStyle/>
          <a:p>
            <a:r>
              <a:rPr lang="en-US" u="sng" dirty="0"/>
              <a:t>Aqueous</a:t>
            </a:r>
            <a:r>
              <a:rPr lang="en-US" dirty="0"/>
              <a:t> Waste (Large Plastic Jug)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4"/>
            <a:ext cx="4645152" cy="504066"/>
          </a:xfrm>
        </p:spPr>
        <p:txBody>
          <a:bodyPr/>
          <a:lstStyle/>
          <a:p>
            <a:r>
              <a:rPr lang="en-US" dirty="0"/>
              <a:t>Alum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610197"/>
            <a:ext cx="4645152" cy="723207"/>
          </a:xfrm>
        </p:spPr>
        <p:txBody>
          <a:bodyPr/>
          <a:lstStyle/>
          <a:p>
            <a:r>
              <a:rPr lang="en-US" u="sng" dirty="0"/>
              <a:t>Solid</a:t>
            </a:r>
            <a:r>
              <a:rPr lang="en-US" dirty="0"/>
              <a:t> waste (Small plastic bottle)</a:t>
            </a:r>
          </a:p>
          <a:p>
            <a:endParaRPr lang="en-US" dirty="0"/>
          </a:p>
        </p:txBody>
      </p:sp>
      <p:pic>
        <p:nvPicPr>
          <p:cNvPr id="3074" name="Picture 2" descr="Related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527" y="3100704"/>
            <a:ext cx="2205240" cy="220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4"/>
          <p:cNvSpPr txBox="1">
            <a:spLocks/>
          </p:cNvSpPr>
          <p:nvPr/>
        </p:nvSpPr>
        <p:spPr>
          <a:xfrm>
            <a:off x="6409700" y="3333404"/>
            <a:ext cx="4645152" cy="504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200" b="0" kern="1200" cap="all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Filter Paper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6409700" y="3920597"/>
            <a:ext cx="4645152" cy="7232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Trash can (remove as much Alum as you can first)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8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79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 Reports are Individual Assignments</a:t>
            </a:r>
          </a:p>
          <a:p>
            <a:pPr lvl="1"/>
            <a:r>
              <a:rPr lang="en-US" dirty="0"/>
              <a:t>You may ask your classmates for help, and you can cross-check before you turn it in</a:t>
            </a:r>
          </a:p>
          <a:p>
            <a:pPr lvl="1"/>
            <a:r>
              <a:rPr lang="en-US" dirty="0"/>
              <a:t>Do not copy or let others copy</a:t>
            </a:r>
          </a:p>
          <a:p>
            <a:pPr lvl="1"/>
            <a:r>
              <a:rPr lang="en-US" dirty="0"/>
              <a:t>Be neat and clear</a:t>
            </a:r>
          </a:p>
          <a:p>
            <a:r>
              <a:rPr lang="en-US" dirty="0"/>
              <a:t>Use complete sentences</a:t>
            </a:r>
          </a:p>
          <a:p>
            <a:pPr lvl="1"/>
            <a:r>
              <a:rPr lang="en-US" dirty="0"/>
              <a:t>One-word answers are insufficient.</a:t>
            </a:r>
          </a:p>
          <a:p>
            <a:pPr lvl="1"/>
            <a:r>
              <a:rPr lang="en-US" dirty="0"/>
              <a:t>Use vocabulary terms correctly</a:t>
            </a:r>
          </a:p>
          <a:p>
            <a:r>
              <a:rPr lang="en-US" dirty="0"/>
              <a:t>Double-check your charges and phase symbols before you turn it in!</a:t>
            </a:r>
          </a:p>
          <a:p>
            <a:r>
              <a:rPr lang="en-US" b="1" dirty="0"/>
              <a:t>Turn-in Data-Report pages ONLY</a:t>
            </a:r>
          </a:p>
          <a:p>
            <a:pPr lvl="1"/>
            <a:r>
              <a:rPr lang="en-US" dirty="0"/>
              <a:t>Save the procedure for Lab-Practical (end of the semester)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89979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878</TotalTime>
  <Words>485</Words>
  <Application>Microsoft Macintosh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Gill Sans MT</vt:lpstr>
      <vt:lpstr>Gallery</vt:lpstr>
      <vt:lpstr>EXP 11A –  Synthesis of Alum</vt:lpstr>
      <vt:lpstr>Introduction</vt:lpstr>
      <vt:lpstr>Setup:</vt:lpstr>
      <vt:lpstr>Safety</vt:lpstr>
      <vt:lpstr>Recording Data: </vt:lpstr>
      <vt:lpstr>Do’s and Don’ts</vt:lpstr>
      <vt:lpstr>Clean Up and Waste Disposal</vt:lpstr>
      <vt:lpstr>Data-Report</vt:lpstr>
    </vt:vector>
  </TitlesOfParts>
  <Company>Fresno City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 6A –  Empirical Formula</dc:title>
  <dc:creator>Catherine Uvarov</dc:creator>
  <cp:lastModifiedBy>CSUF Faculty</cp:lastModifiedBy>
  <cp:revision>110</cp:revision>
  <dcterms:created xsi:type="dcterms:W3CDTF">2018-01-30T19:25:13Z</dcterms:created>
  <dcterms:modified xsi:type="dcterms:W3CDTF">2025-10-30T17:12:37Z</dcterms:modified>
</cp:coreProperties>
</file>