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9"/>
  </p:notesMasterIdLst>
  <p:sldIdLst>
    <p:sldId id="608" r:id="rId2"/>
    <p:sldId id="609" r:id="rId3"/>
    <p:sldId id="616" r:id="rId4"/>
    <p:sldId id="624" r:id="rId5"/>
    <p:sldId id="632" r:id="rId6"/>
    <p:sldId id="635" r:id="rId7"/>
    <p:sldId id="613" r:id="rId8"/>
    <p:sldId id="633" r:id="rId9"/>
    <p:sldId id="610" r:id="rId10"/>
    <p:sldId id="626" r:id="rId11"/>
    <p:sldId id="627" r:id="rId12"/>
    <p:sldId id="628" r:id="rId13"/>
    <p:sldId id="629" r:id="rId14"/>
    <p:sldId id="612" r:id="rId15"/>
    <p:sldId id="623" r:id="rId16"/>
    <p:sldId id="634" r:id="rId17"/>
    <p:sldId id="631" r:id="rId1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00"/>
    <a:srgbClr val="00FF00"/>
    <a:srgbClr val="CC99FF"/>
    <a:srgbClr val="66FFFF"/>
    <a:srgbClr val="FF9933"/>
    <a:srgbClr val="FF0066"/>
    <a:srgbClr val="99FFCC"/>
    <a:srgbClr val="FFFFCC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2" autoAdjust="0"/>
    <p:restoredTop sz="94620" autoAdjust="0"/>
  </p:normalViewPr>
  <p:slideViewPr>
    <p:cSldViewPr snapToGrid="0">
      <p:cViewPr varScale="1">
        <p:scale>
          <a:sx n="134" d="100"/>
          <a:sy n="134" d="100"/>
        </p:scale>
        <p:origin x="528" y="120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-4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3313D-7EAB-A6FF-5CDB-5966FAB977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E9695-C8F5-0DC9-568D-0CA2B50DE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22727" y="636499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baseline="0">
                <a:solidFill>
                  <a:schemeClr val="bg1"/>
                </a:solidFill>
              </a:defRPr>
            </a:lvl1pPr>
          </a:lstStyle>
          <a:p>
            <a:fld id="{A0CF78A4-19A0-4EF5-A4D9-597660847FB4}" type="slidenum">
              <a:rPr lang="en-US" smtClean="0"/>
              <a:pPr/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fresno.chem101.com/Chemistry/BetterLabReport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03197" y="1295478"/>
            <a:ext cx="8111067" cy="769441"/>
          </a:xfrm>
        </p:spPr>
        <p:txBody>
          <a:bodyPr/>
          <a:lstStyle/>
          <a:p>
            <a:r>
              <a:rPr lang="en-US" sz="44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Mitch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itle 3">
            <a:extLst>
              <a:ext uri="{FF2B5EF4-FFF2-40B4-BE49-F238E27FC236}">
                <a16:creationId xmlns:a16="http://schemas.microsoft.com/office/drawing/2014/main" id="{9D93987C-C3A6-9E17-4494-2A0E8AA68125}"/>
              </a:ext>
            </a:extLst>
          </p:cNvPr>
          <p:cNvSpPr txBox="1">
            <a:spLocks/>
          </p:cNvSpPr>
          <p:nvPr/>
        </p:nvSpPr>
        <p:spPr bwMode="auto">
          <a:xfrm>
            <a:off x="516466" y="2207794"/>
            <a:ext cx="8111067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sz="6600" i="1" kern="0" dirty="0">
                <a:solidFill>
                  <a:srgbClr val="CC99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Experiment 11a</a:t>
            </a:r>
          </a:p>
        </p:txBody>
      </p:sp>
      <p:sp>
        <p:nvSpPr>
          <p:cNvPr id="29" name="Title 3">
            <a:extLst>
              <a:ext uri="{FF2B5EF4-FFF2-40B4-BE49-F238E27FC236}">
                <a16:creationId xmlns:a16="http://schemas.microsoft.com/office/drawing/2014/main" id="{0F667B90-ADA0-D7AE-AC82-9C44B2A46AE5}"/>
              </a:ext>
            </a:extLst>
          </p:cNvPr>
          <p:cNvSpPr txBox="1">
            <a:spLocks/>
          </p:cNvSpPr>
          <p:nvPr/>
        </p:nvSpPr>
        <p:spPr bwMode="auto">
          <a:xfrm>
            <a:off x="490153" y="3730219"/>
            <a:ext cx="81110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sz="6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Synthesis of Alum</a:t>
            </a:r>
            <a:endParaRPr lang="en-US" sz="6000" b="1" i="1" kern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0286-47AD-54C9-04A3-607B80CE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34315"/>
            <a:ext cx="8421512" cy="83099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C5B2E-5542-F5D6-CEA6-30C230FF4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1065312"/>
            <a:ext cx="8387645" cy="5215465"/>
          </a:xfrm>
        </p:spPr>
        <p:txBody>
          <a:bodyPr/>
          <a:lstStyle/>
          <a:p>
            <a:r>
              <a:rPr lang="en-US" dirty="0"/>
              <a:t>This experiment will produce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potassium aluminum sulfate dodecahydrate</a:t>
            </a:r>
            <a:r>
              <a:rPr lang="en-US" dirty="0"/>
              <a:t> [</a:t>
            </a:r>
            <a:r>
              <a:rPr lang="en-US" dirty="0" err="1">
                <a:solidFill>
                  <a:srgbClr val="FFC000"/>
                </a:solidFill>
              </a:rPr>
              <a:t>KAl</a:t>
            </a:r>
            <a:r>
              <a:rPr lang="en-US" dirty="0">
                <a:solidFill>
                  <a:srgbClr val="FFC000"/>
                </a:solidFill>
              </a:rPr>
              <a:t>(SO</a:t>
            </a:r>
            <a:r>
              <a:rPr lang="en-US" baseline="-25000" dirty="0">
                <a:solidFill>
                  <a:srgbClr val="FFC000"/>
                </a:solidFill>
              </a:rPr>
              <a:t>4</a:t>
            </a:r>
            <a:r>
              <a:rPr lang="en-US" dirty="0">
                <a:solidFill>
                  <a:srgbClr val="FFC000"/>
                </a:solidFill>
              </a:rPr>
              <a:t>)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 • 12 H</a:t>
            </a:r>
            <a:r>
              <a:rPr lang="en-US" baseline="-25000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rgbClr val="FFC000"/>
                </a:solidFill>
              </a:rPr>
              <a:t>O</a:t>
            </a:r>
            <a:r>
              <a:rPr lang="en-US" dirty="0"/>
              <a:t>]—called </a:t>
            </a:r>
            <a:r>
              <a:rPr lang="en-US" dirty="0">
                <a:solidFill>
                  <a:srgbClr val="00FF00"/>
                </a:solidFill>
              </a:rPr>
              <a:t>alum</a:t>
            </a:r>
            <a:r>
              <a:rPr lang="en-US" dirty="0"/>
              <a:t> from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aluminum</a:t>
            </a:r>
            <a:r>
              <a:rPr lang="en-US" dirty="0"/>
              <a:t> </a:t>
            </a:r>
            <a:r>
              <a:rPr lang="en-US" dirty="0">
                <a:solidFill>
                  <a:srgbClr val="FFFF00"/>
                </a:solidFill>
              </a:rPr>
              <a:t>metal</a:t>
            </a:r>
          </a:p>
          <a:p>
            <a:r>
              <a:rPr lang="en-US" dirty="0"/>
              <a:t>Alum uses and purposes are numerous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C4479-4C57-065A-3A30-0F2FDB2B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46" y="2896447"/>
            <a:ext cx="9144000" cy="34898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66CDF-0509-2C2E-DC7C-799EDE8D9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2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6BD6-F4FE-A7D4-2A37-C4EA7D32A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B19F-006B-7531-DD27-28B722C19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187156"/>
            <a:ext cx="8421512" cy="830997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4572-3706-EF53-95DE-248E030B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59" y="1109610"/>
            <a:ext cx="8387645" cy="543794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There are FOUR reactions involved in alum synthesis:</a:t>
            </a:r>
          </a:p>
          <a:p>
            <a:pPr marL="514350" indent="0">
              <a:spcBef>
                <a:spcPts val="2400"/>
              </a:spcBef>
              <a:buNone/>
              <a:tabLst>
                <a:tab pos="3832225" algn="l"/>
              </a:tabLst>
            </a:pPr>
            <a:r>
              <a:rPr lang="en-US" sz="2000" dirty="0">
                <a:solidFill>
                  <a:srgbClr val="FFC000"/>
                </a:solidFill>
              </a:rPr>
              <a:t>2 Al (</a:t>
            </a:r>
            <a:r>
              <a:rPr lang="en-US" sz="2000" i="1" dirty="0">
                <a:solidFill>
                  <a:srgbClr val="FFC000"/>
                </a:solidFill>
              </a:rPr>
              <a:t>s</a:t>
            </a:r>
            <a:r>
              <a:rPr lang="en-US" sz="2000" dirty="0">
                <a:solidFill>
                  <a:srgbClr val="FFC000"/>
                </a:solidFill>
              </a:rPr>
              <a:t>) + 2 KOH (</a:t>
            </a:r>
            <a:r>
              <a:rPr lang="en-US" sz="2000" i="1" dirty="0" err="1">
                <a:solidFill>
                  <a:srgbClr val="FFC000"/>
                </a:solidFill>
              </a:rPr>
              <a:t>aq</a:t>
            </a:r>
            <a:r>
              <a:rPr lang="en-US" sz="2000" dirty="0">
                <a:solidFill>
                  <a:srgbClr val="FFC000"/>
                </a:solidFill>
              </a:rPr>
              <a:t>) + 6 H</a:t>
            </a:r>
            <a:r>
              <a:rPr lang="en-US" sz="2000" baseline="-25000" dirty="0">
                <a:solidFill>
                  <a:srgbClr val="FFC000"/>
                </a:solidFill>
              </a:rPr>
              <a:t>2</a:t>
            </a:r>
            <a:r>
              <a:rPr lang="en-US" sz="2000" dirty="0">
                <a:solidFill>
                  <a:srgbClr val="FFC000"/>
                </a:solidFill>
              </a:rPr>
              <a:t>O (</a:t>
            </a:r>
            <a:r>
              <a:rPr lang="en-US" sz="2000" i="1" dirty="0">
                <a:solidFill>
                  <a:srgbClr val="FFC000"/>
                </a:solidFill>
              </a:rPr>
              <a:t>l</a:t>
            </a:r>
            <a:r>
              <a:rPr lang="en-US" sz="2000" dirty="0">
                <a:solidFill>
                  <a:srgbClr val="FFC000"/>
                </a:solidFill>
              </a:rPr>
              <a:t>) 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</a:t>
            </a:r>
            <a:b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	2 </a:t>
            </a:r>
            <a:r>
              <a:rPr lang="en-US" sz="2000" b="1" dirty="0" err="1">
                <a:solidFill>
                  <a:srgbClr val="FFC000"/>
                </a:solidFill>
                <a:sym typeface="Wingdings" panose="05000000000000000000" pitchFamily="2" charset="2"/>
              </a:rPr>
              <a:t>KAl</a:t>
            </a:r>
            <a:r>
              <a:rPr lang="en-US" sz="2000" b="1" dirty="0">
                <a:solidFill>
                  <a:srgbClr val="FFC000"/>
                </a:solidFill>
                <a:sym typeface="Wingdings" panose="05000000000000000000" pitchFamily="2" charset="2"/>
              </a:rPr>
              <a:t>(OH)</a:t>
            </a:r>
            <a:r>
              <a:rPr lang="en-US" sz="2000" b="1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4</a:t>
            </a:r>
            <a:r>
              <a:rPr lang="en-US" sz="2000" b="1" dirty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(</a:t>
            </a:r>
            <a:r>
              <a:rPr lang="en-US" sz="2000" i="1" dirty="0" err="1">
                <a:solidFill>
                  <a:srgbClr val="FFC000"/>
                </a:solidFill>
                <a:sym typeface="Wingdings" panose="05000000000000000000" pitchFamily="2" charset="2"/>
              </a:rPr>
              <a:t>aq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 + 3 H</a:t>
            </a:r>
            <a:r>
              <a:rPr lang="en-US" sz="2000" baseline="-25000" dirty="0">
                <a:solidFill>
                  <a:srgbClr val="FFC0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rgbClr val="FFC000"/>
                </a:solidFill>
                <a:sym typeface="Wingdings" panose="05000000000000000000" pitchFamily="2" charset="2"/>
              </a:rPr>
              <a:t>g</a:t>
            </a:r>
            <a:r>
              <a:rPr lang="en-US" sz="2000" dirty="0">
                <a:solidFill>
                  <a:srgbClr val="FFC0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spcBef>
                <a:spcPts val="0"/>
              </a:spcBef>
              <a:buNone/>
              <a:tabLst>
                <a:tab pos="3832225" algn="l"/>
              </a:tabLst>
            </a:pPr>
            <a:r>
              <a:rPr lang="en-US" sz="1800" b="1" dirty="0">
                <a:solidFill>
                  <a:srgbClr val="FF00FF"/>
                </a:solidFill>
                <a:sym typeface="Wingdings" panose="05000000000000000000" pitchFamily="2" charset="2"/>
              </a:rPr>
              <a:t>SINGLE REPLACEMENT – REDOX</a:t>
            </a:r>
            <a:r>
              <a:rPr lang="en-US" sz="1800" i="1" dirty="0">
                <a:sym typeface="Wingdings" panose="05000000000000000000" pitchFamily="2" charset="2"/>
              </a:rPr>
              <a:t> – This reaction evolves a gas</a:t>
            </a:r>
            <a:endParaRPr lang="en-US" sz="1800" i="1" dirty="0"/>
          </a:p>
          <a:p>
            <a:pPr marL="514350" indent="0">
              <a:spcBef>
                <a:spcPts val="1200"/>
              </a:spcBef>
              <a:buNone/>
              <a:tabLst>
                <a:tab pos="2116138" algn="l"/>
              </a:tabLst>
            </a:pPr>
            <a:r>
              <a:rPr lang="en-US" sz="2000" dirty="0">
                <a:solidFill>
                  <a:srgbClr val="CC99FF"/>
                </a:solidFill>
              </a:rPr>
              <a:t>2 </a:t>
            </a:r>
            <a:r>
              <a:rPr lang="en-US" sz="2000" b="1" dirty="0" err="1">
                <a:solidFill>
                  <a:srgbClr val="FFC000"/>
                </a:solidFill>
              </a:rPr>
              <a:t>KAl</a:t>
            </a:r>
            <a:r>
              <a:rPr lang="en-US" sz="2000" b="1" dirty="0">
                <a:solidFill>
                  <a:srgbClr val="FFC000"/>
                </a:solidFill>
              </a:rPr>
              <a:t>(OH)</a:t>
            </a:r>
            <a:r>
              <a:rPr lang="en-US" sz="2000" b="1" baseline="-25000" dirty="0">
                <a:solidFill>
                  <a:srgbClr val="FFC000"/>
                </a:solidFill>
              </a:rPr>
              <a:t>4</a:t>
            </a:r>
            <a:r>
              <a:rPr lang="en-US" sz="2000" dirty="0">
                <a:solidFill>
                  <a:srgbClr val="CC99FF"/>
                </a:solidFill>
              </a:rPr>
              <a:t> (</a:t>
            </a:r>
            <a:r>
              <a:rPr lang="en-US" sz="2000" i="1" dirty="0" err="1">
                <a:solidFill>
                  <a:srgbClr val="CC99FF"/>
                </a:solidFill>
              </a:rPr>
              <a:t>aq</a:t>
            </a:r>
            <a:r>
              <a:rPr lang="en-US" sz="2000" dirty="0">
                <a:solidFill>
                  <a:srgbClr val="CC99FF"/>
                </a:solidFill>
              </a:rPr>
              <a:t>) + H</a:t>
            </a:r>
            <a:r>
              <a:rPr lang="en-US" sz="2000" baseline="-25000" dirty="0">
                <a:solidFill>
                  <a:srgbClr val="CC99FF"/>
                </a:solidFill>
              </a:rPr>
              <a:t>2</a:t>
            </a:r>
            <a:r>
              <a:rPr lang="en-US" sz="2000" dirty="0">
                <a:solidFill>
                  <a:srgbClr val="CC99FF"/>
                </a:solidFill>
              </a:rPr>
              <a:t>SO</a:t>
            </a:r>
            <a:r>
              <a:rPr lang="en-US" sz="2000" baseline="-25000" dirty="0">
                <a:solidFill>
                  <a:srgbClr val="CC99FF"/>
                </a:solidFill>
              </a:rPr>
              <a:t>4</a:t>
            </a:r>
            <a:r>
              <a:rPr lang="en-US" sz="2000" dirty="0">
                <a:solidFill>
                  <a:srgbClr val="CC99FF"/>
                </a:solidFill>
              </a:rPr>
              <a:t> (</a:t>
            </a:r>
            <a:r>
              <a:rPr lang="en-US" sz="2000" i="1" dirty="0" err="1">
                <a:solidFill>
                  <a:srgbClr val="CC99FF"/>
                </a:solidFill>
              </a:rPr>
              <a:t>aq</a:t>
            </a:r>
            <a:r>
              <a:rPr lang="en-US" sz="2000" dirty="0">
                <a:solidFill>
                  <a:srgbClr val="CC99FF"/>
                </a:solidFill>
              </a:rPr>
              <a:t>) </a:t>
            </a: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</a:t>
            </a:r>
            <a:b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	2 </a:t>
            </a:r>
            <a:r>
              <a:rPr lang="en-US" sz="2000" b="1" dirty="0">
                <a:solidFill>
                  <a:srgbClr val="CC99FF"/>
                </a:solidFill>
                <a:sym typeface="Wingdings" panose="05000000000000000000" pitchFamily="2" charset="2"/>
              </a:rPr>
              <a:t>Al(OH)</a:t>
            </a:r>
            <a:r>
              <a:rPr lang="en-US" sz="2000" b="1" baseline="-25000" dirty="0">
                <a:solidFill>
                  <a:srgbClr val="CC99FF"/>
                </a:solidFill>
                <a:sym typeface="Wingdings" panose="05000000000000000000" pitchFamily="2" charset="2"/>
              </a:rPr>
              <a:t>3</a:t>
            </a:r>
            <a:r>
              <a:rPr lang="en-US" sz="2000" b="1" dirty="0">
                <a:solidFill>
                  <a:srgbClr val="CC99FF"/>
                </a:solidFill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(</a:t>
            </a:r>
            <a:r>
              <a:rPr lang="en-US" sz="2000" i="1" dirty="0">
                <a:solidFill>
                  <a:srgbClr val="CC99FF"/>
                </a:solidFill>
                <a:sym typeface="Wingdings" panose="05000000000000000000" pitchFamily="2" charset="2"/>
              </a:rPr>
              <a:t>s</a:t>
            </a: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) + K</a:t>
            </a:r>
            <a:r>
              <a:rPr lang="en-US" sz="2000" baseline="-25000" dirty="0">
                <a:solidFill>
                  <a:srgbClr val="CC99FF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SO</a:t>
            </a:r>
            <a:r>
              <a:rPr lang="en-US" sz="2000" baseline="-25000" dirty="0">
                <a:solidFill>
                  <a:srgbClr val="CC99FF"/>
                </a:solidFill>
                <a:sym typeface="Wingdings" panose="05000000000000000000" pitchFamily="2" charset="2"/>
              </a:rPr>
              <a:t>4</a:t>
            </a: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 (</a:t>
            </a:r>
            <a:r>
              <a:rPr lang="en-US" sz="2000" dirty="0" err="1">
                <a:solidFill>
                  <a:srgbClr val="CC99FF"/>
                </a:solidFill>
                <a:sym typeface="Wingdings" panose="05000000000000000000" pitchFamily="2" charset="2"/>
              </a:rPr>
              <a:t>aq</a:t>
            </a: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) + 2 H</a:t>
            </a:r>
            <a:r>
              <a:rPr lang="en-US" sz="2000" baseline="-25000" dirty="0">
                <a:solidFill>
                  <a:srgbClr val="CC99FF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O (</a:t>
            </a:r>
            <a:r>
              <a:rPr lang="en-US" sz="2000" i="1" dirty="0">
                <a:solidFill>
                  <a:srgbClr val="CC99FF"/>
                </a:solidFill>
                <a:sym typeface="Wingdings" panose="05000000000000000000" pitchFamily="2" charset="2"/>
              </a:rPr>
              <a:t>l</a:t>
            </a:r>
            <a:r>
              <a:rPr lang="en-US" sz="2000" dirty="0">
                <a:solidFill>
                  <a:srgbClr val="CC99FF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00FF"/>
                </a:solidFill>
                <a:sym typeface="Wingdings" panose="05000000000000000000" pitchFamily="2" charset="2"/>
              </a:rPr>
              <a:t>DOUBLE REPLACEMENT – PRECIPITATION </a:t>
            </a:r>
            <a:r>
              <a:rPr lang="en-US" sz="1800" i="1" dirty="0">
                <a:sym typeface="Wingdings" panose="05000000000000000000" pitchFamily="2" charset="2"/>
              </a:rPr>
              <a:t>–</a:t>
            </a:r>
            <a:r>
              <a:rPr lang="en-US" sz="1800" b="1" dirty="0">
                <a:solidFill>
                  <a:srgbClr val="FF00FF"/>
                </a:solidFill>
                <a:sym typeface="Wingdings" panose="05000000000000000000" pitchFamily="2" charset="2"/>
              </a:rPr>
              <a:t> </a:t>
            </a:r>
            <a:r>
              <a:rPr lang="en-US" sz="1800" i="1" dirty="0">
                <a:sym typeface="Wingdings" panose="05000000000000000000" pitchFamily="2" charset="2"/>
              </a:rPr>
              <a:t>This is a precipitation</a:t>
            </a:r>
            <a:endParaRPr lang="en-US" sz="1800" i="1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en-US" sz="2000" dirty="0">
                <a:solidFill>
                  <a:srgbClr val="FFFF00"/>
                </a:solidFill>
              </a:rPr>
              <a:t>2 </a:t>
            </a:r>
            <a:r>
              <a:rPr lang="en-US" sz="2000" b="1" dirty="0">
                <a:solidFill>
                  <a:srgbClr val="CC99FF"/>
                </a:solidFill>
              </a:rPr>
              <a:t>Al(OH)</a:t>
            </a:r>
            <a:r>
              <a:rPr lang="en-US" sz="2000" b="1" baseline="-25000" dirty="0">
                <a:solidFill>
                  <a:srgbClr val="CC99FF"/>
                </a:solidFill>
              </a:rPr>
              <a:t>3</a:t>
            </a:r>
            <a:r>
              <a:rPr lang="en-US" sz="2000" dirty="0">
                <a:solidFill>
                  <a:srgbClr val="FFFF00"/>
                </a:solidFill>
              </a:rPr>
              <a:t> (</a:t>
            </a:r>
            <a:r>
              <a:rPr lang="en-US" sz="2000" i="1" dirty="0">
                <a:solidFill>
                  <a:srgbClr val="FFFF00"/>
                </a:solidFill>
              </a:rPr>
              <a:t>s</a:t>
            </a:r>
            <a:r>
              <a:rPr lang="en-US" sz="2000" dirty="0">
                <a:solidFill>
                  <a:srgbClr val="FFFF00"/>
                </a:solidFill>
              </a:rPr>
              <a:t>) + 3 H</a:t>
            </a:r>
            <a:r>
              <a:rPr lang="en-US" sz="2000" baseline="-25000" dirty="0">
                <a:solidFill>
                  <a:srgbClr val="FFFF00"/>
                </a:solidFill>
              </a:rPr>
              <a:t>2</a:t>
            </a:r>
            <a:r>
              <a:rPr lang="en-US" sz="2000" dirty="0">
                <a:solidFill>
                  <a:srgbClr val="FFFF00"/>
                </a:solidFill>
              </a:rPr>
              <a:t>SO</a:t>
            </a:r>
            <a:r>
              <a:rPr lang="en-US" sz="2000" baseline="-25000" dirty="0">
                <a:solidFill>
                  <a:srgbClr val="FFFF00"/>
                </a:solidFill>
              </a:rPr>
              <a:t>4</a:t>
            </a:r>
            <a:r>
              <a:rPr lang="en-US" sz="2000" dirty="0">
                <a:solidFill>
                  <a:srgbClr val="FFFF00"/>
                </a:solidFill>
              </a:rPr>
              <a:t> (</a:t>
            </a:r>
            <a:r>
              <a:rPr lang="en-US" sz="2000" i="1" dirty="0" err="1">
                <a:solidFill>
                  <a:srgbClr val="FFFF00"/>
                </a:solidFill>
              </a:rPr>
              <a:t>aq</a:t>
            </a:r>
            <a:r>
              <a:rPr lang="en-US" sz="2000" dirty="0">
                <a:solidFill>
                  <a:srgbClr val="FFFF00"/>
                </a:solidFill>
              </a:rPr>
              <a:t>)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US" sz="2000" b="1" dirty="0">
                <a:solidFill>
                  <a:srgbClr val="FFFF00"/>
                </a:solidFill>
                <a:sym typeface="Wingdings" panose="05000000000000000000" pitchFamily="2" charset="2"/>
              </a:rPr>
              <a:t>Al</a:t>
            </a:r>
            <a:r>
              <a:rPr lang="en-US" sz="2000" b="1" baseline="-25000" dirty="0">
                <a:solidFill>
                  <a:srgbClr val="FFFF00"/>
                </a:solidFill>
                <a:sym typeface="Wingdings" panose="05000000000000000000" pitchFamily="2" charset="2"/>
              </a:rPr>
              <a:t>2</a:t>
            </a:r>
            <a:r>
              <a:rPr lang="en-US" sz="2000" b="1" dirty="0">
                <a:solidFill>
                  <a:srgbClr val="FFFF00"/>
                </a:solidFill>
                <a:sym typeface="Wingdings" panose="05000000000000000000" pitchFamily="2" charset="2"/>
              </a:rPr>
              <a:t>(SO</a:t>
            </a:r>
            <a:r>
              <a:rPr lang="en-US" sz="2000" b="1" baseline="-25000" dirty="0">
                <a:solidFill>
                  <a:srgbClr val="FFFF00"/>
                </a:solidFill>
                <a:sym typeface="Wingdings" panose="05000000000000000000" pitchFamily="2" charset="2"/>
              </a:rPr>
              <a:t>4</a:t>
            </a:r>
            <a:r>
              <a:rPr lang="en-US" sz="2000" b="1" dirty="0">
                <a:solidFill>
                  <a:srgbClr val="FFFF00"/>
                </a:solidFill>
                <a:sym typeface="Wingdings" panose="05000000000000000000" pitchFamily="2" charset="2"/>
              </a:rPr>
              <a:t>)</a:t>
            </a:r>
            <a:r>
              <a:rPr lang="en-US" sz="2000" b="1" baseline="-25000" dirty="0">
                <a:solidFill>
                  <a:srgbClr val="FFFF00"/>
                </a:solidFill>
                <a:sym typeface="Wingdings" panose="05000000000000000000" pitchFamily="2" charset="2"/>
              </a:rPr>
              <a:t>3</a:t>
            </a:r>
            <a:r>
              <a:rPr lang="en-US" sz="2000" b="1" dirty="0">
                <a:solidFill>
                  <a:srgbClr val="FFFF00"/>
                </a:solidFill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(</a:t>
            </a:r>
            <a:r>
              <a:rPr lang="en-US" sz="2000" i="1" dirty="0" err="1">
                <a:solidFill>
                  <a:srgbClr val="FFFF00"/>
                </a:solidFill>
                <a:sym typeface="Wingdings" panose="05000000000000000000" pitchFamily="2" charset="2"/>
              </a:rPr>
              <a:t>aq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) + 6 H</a:t>
            </a:r>
            <a:r>
              <a:rPr lang="en-US" sz="2000" baseline="-25000" dirty="0">
                <a:solidFill>
                  <a:srgbClr val="FFFF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O (</a:t>
            </a:r>
            <a:r>
              <a:rPr lang="en-US" sz="2000" i="1" dirty="0">
                <a:solidFill>
                  <a:srgbClr val="FFFF00"/>
                </a:solidFill>
                <a:sym typeface="Wingdings" panose="05000000000000000000" pitchFamily="2" charset="2"/>
              </a:rPr>
              <a:t>l</a:t>
            </a:r>
            <a:r>
              <a:rPr lang="en-US" sz="2000" dirty="0">
                <a:solidFill>
                  <a:srgbClr val="FFFF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i="1" dirty="0">
                <a:sym typeface="Wingdings" panose="05000000000000000000" pitchFamily="2" charset="2"/>
              </a:rPr>
              <a:t>This is an </a:t>
            </a:r>
            <a:r>
              <a:rPr lang="en-US" sz="1800" b="1" dirty="0">
                <a:solidFill>
                  <a:srgbClr val="FF00FF"/>
                </a:solidFill>
                <a:sym typeface="Wingdings" panose="05000000000000000000" pitchFamily="2" charset="2"/>
              </a:rPr>
              <a:t>ACID-BASE NEUTRALIZATION </a:t>
            </a:r>
            <a:r>
              <a:rPr lang="en-US" sz="1800" i="1" dirty="0">
                <a:sym typeface="Wingdings" panose="05000000000000000000" pitchFamily="2" charset="2"/>
              </a:rPr>
              <a:t>of an alkaline precipitate</a:t>
            </a:r>
            <a:endParaRPr lang="en-US" sz="1800" i="1" dirty="0"/>
          </a:p>
          <a:p>
            <a:pPr marL="514350" indent="174625">
              <a:spcBef>
                <a:spcPts val="1200"/>
              </a:spcBef>
              <a:buNone/>
              <a:tabLst>
                <a:tab pos="4057650" algn="l"/>
              </a:tabLst>
            </a:pPr>
            <a:r>
              <a:rPr lang="en-US" sz="2000" b="1" dirty="0">
                <a:solidFill>
                  <a:srgbClr val="FFFF00"/>
                </a:solidFill>
              </a:rPr>
              <a:t>Al</a:t>
            </a:r>
            <a:r>
              <a:rPr lang="en-US" sz="2000" b="1" baseline="-25000" dirty="0">
                <a:solidFill>
                  <a:srgbClr val="FFFF00"/>
                </a:solidFill>
              </a:rPr>
              <a:t>2</a:t>
            </a:r>
            <a:r>
              <a:rPr lang="en-US" sz="2000" b="1" dirty="0">
                <a:solidFill>
                  <a:srgbClr val="FFFF00"/>
                </a:solidFill>
              </a:rPr>
              <a:t>(SO</a:t>
            </a:r>
            <a:r>
              <a:rPr lang="en-US" sz="2000" b="1" baseline="-25000" dirty="0">
                <a:solidFill>
                  <a:srgbClr val="FFFF00"/>
                </a:solidFill>
              </a:rPr>
              <a:t>4</a:t>
            </a:r>
            <a:r>
              <a:rPr lang="en-US" sz="2000" b="1" dirty="0">
                <a:solidFill>
                  <a:srgbClr val="FFFF00"/>
                </a:solidFill>
              </a:rPr>
              <a:t>)</a:t>
            </a:r>
            <a:r>
              <a:rPr lang="en-US" sz="2000" b="1" baseline="-25000" dirty="0">
                <a:solidFill>
                  <a:srgbClr val="FFFF00"/>
                </a:solidFill>
              </a:rPr>
              <a:t>3</a:t>
            </a:r>
            <a:r>
              <a:rPr lang="en-US" sz="2000" b="1" dirty="0">
                <a:solidFill>
                  <a:srgbClr val="FFFF00"/>
                </a:solidFill>
              </a:rPr>
              <a:t> </a:t>
            </a:r>
            <a:r>
              <a:rPr lang="en-US" sz="2000" dirty="0">
                <a:solidFill>
                  <a:srgbClr val="66FFFF"/>
                </a:solidFill>
              </a:rPr>
              <a:t>(</a:t>
            </a:r>
            <a:r>
              <a:rPr lang="en-US" sz="2000" i="1" dirty="0" err="1">
                <a:solidFill>
                  <a:srgbClr val="66FFFF"/>
                </a:solidFill>
              </a:rPr>
              <a:t>aq</a:t>
            </a:r>
            <a:r>
              <a:rPr lang="en-US" sz="2000" dirty="0">
                <a:solidFill>
                  <a:srgbClr val="66FFFF"/>
                </a:solidFill>
              </a:rPr>
              <a:t>) + K</a:t>
            </a:r>
            <a:r>
              <a:rPr lang="en-US" sz="2000" baseline="-25000" dirty="0">
                <a:solidFill>
                  <a:srgbClr val="66FFFF"/>
                </a:solidFill>
              </a:rPr>
              <a:t>2</a:t>
            </a:r>
            <a:r>
              <a:rPr lang="en-US" sz="2000" dirty="0">
                <a:solidFill>
                  <a:srgbClr val="66FFFF"/>
                </a:solidFill>
              </a:rPr>
              <a:t>SO</a:t>
            </a:r>
            <a:r>
              <a:rPr lang="en-US" sz="2000" baseline="-25000" dirty="0">
                <a:solidFill>
                  <a:srgbClr val="66FFFF"/>
                </a:solidFill>
              </a:rPr>
              <a:t>4</a:t>
            </a:r>
            <a:r>
              <a:rPr lang="en-US" sz="2000" dirty="0">
                <a:solidFill>
                  <a:srgbClr val="66FFFF"/>
                </a:solidFill>
              </a:rPr>
              <a:t> (</a:t>
            </a:r>
            <a:r>
              <a:rPr lang="en-US" sz="2000" i="1" dirty="0" err="1">
                <a:solidFill>
                  <a:srgbClr val="66FFFF"/>
                </a:solidFill>
              </a:rPr>
              <a:t>aq</a:t>
            </a:r>
            <a:r>
              <a:rPr lang="en-US" sz="2000" dirty="0">
                <a:solidFill>
                  <a:srgbClr val="66FFFF"/>
                </a:solidFill>
              </a:rPr>
              <a:t>) + 24 H</a:t>
            </a:r>
            <a:r>
              <a:rPr lang="en-US" sz="2000" baseline="-25000" dirty="0">
                <a:solidFill>
                  <a:srgbClr val="66FFFF"/>
                </a:solidFill>
              </a:rPr>
              <a:t>2</a:t>
            </a:r>
            <a:r>
              <a:rPr lang="en-US" sz="2000" dirty="0">
                <a:solidFill>
                  <a:srgbClr val="66FFFF"/>
                </a:solidFill>
              </a:rPr>
              <a:t>O (</a:t>
            </a:r>
            <a:r>
              <a:rPr lang="en-US" sz="2000" i="1" dirty="0">
                <a:solidFill>
                  <a:srgbClr val="66FFFF"/>
                </a:solidFill>
              </a:rPr>
              <a:t>l</a:t>
            </a:r>
            <a:r>
              <a:rPr lang="en-US" sz="2000" dirty="0">
                <a:solidFill>
                  <a:srgbClr val="66FFFF"/>
                </a:solidFill>
              </a:rPr>
              <a:t>) </a:t>
            </a:r>
            <a:r>
              <a:rPr lang="en-US" sz="2000" dirty="0">
                <a:solidFill>
                  <a:srgbClr val="66FFFF"/>
                </a:solidFill>
                <a:sym typeface="Wingdings" panose="05000000000000000000" pitchFamily="2" charset="2"/>
              </a:rPr>
              <a:t></a:t>
            </a:r>
            <a:br>
              <a:rPr lang="en-US" sz="2000" dirty="0">
                <a:solidFill>
                  <a:srgbClr val="66FFFF"/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rgbClr val="66FFFF"/>
                </a:solidFill>
                <a:sym typeface="Wingdings" panose="05000000000000000000" pitchFamily="2" charset="2"/>
              </a:rPr>
              <a:t>	2 </a:t>
            </a:r>
            <a:r>
              <a:rPr lang="en-US" sz="2000" b="1" dirty="0" err="1">
                <a:solidFill>
                  <a:srgbClr val="66FFFF"/>
                </a:solidFill>
                <a:sym typeface="Wingdings" panose="05000000000000000000" pitchFamily="2" charset="2"/>
              </a:rPr>
              <a:t>KAl</a:t>
            </a:r>
            <a:r>
              <a:rPr lang="en-US" sz="2000" b="1" dirty="0">
                <a:solidFill>
                  <a:srgbClr val="66FFFF"/>
                </a:solidFill>
                <a:sym typeface="Wingdings" panose="05000000000000000000" pitchFamily="2" charset="2"/>
              </a:rPr>
              <a:t>(SO</a:t>
            </a:r>
            <a:r>
              <a:rPr lang="en-US" sz="2000" b="1" baseline="-25000" dirty="0">
                <a:solidFill>
                  <a:srgbClr val="66FFFF"/>
                </a:solidFill>
                <a:sym typeface="Wingdings" panose="05000000000000000000" pitchFamily="2" charset="2"/>
              </a:rPr>
              <a:t>4</a:t>
            </a:r>
            <a:r>
              <a:rPr lang="en-US" sz="2000" b="1" dirty="0">
                <a:solidFill>
                  <a:srgbClr val="66FFFF"/>
                </a:solidFill>
                <a:sym typeface="Wingdings" panose="05000000000000000000" pitchFamily="2" charset="2"/>
              </a:rPr>
              <a:t>)</a:t>
            </a:r>
            <a:r>
              <a:rPr lang="en-US" sz="2000" b="1" baseline="-25000" dirty="0">
                <a:solidFill>
                  <a:srgbClr val="66FFFF"/>
                </a:solidFill>
                <a:sym typeface="Wingdings" panose="05000000000000000000" pitchFamily="2" charset="2"/>
              </a:rPr>
              <a:t>2</a:t>
            </a:r>
            <a:r>
              <a:rPr lang="en-US" sz="2000" b="1" dirty="0">
                <a:solidFill>
                  <a:srgbClr val="66FFFF"/>
                </a:solidFill>
                <a:sym typeface="Wingdings" panose="05000000000000000000" pitchFamily="2" charset="2"/>
              </a:rPr>
              <a:t> • 12 H</a:t>
            </a:r>
            <a:r>
              <a:rPr lang="en-US" sz="2000" b="1" baseline="-25000" dirty="0">
                <a:solidFill>
                  <a:srgbClr val="66FFFF"/>
                </a:solidFill>
                <a:sym typeface="Wingdings" panose="05000000000000000000" pitchFamily="2" charset="2"/>
              </a:rPr>
              <a:t>2</a:t>
            </a:r>
            <a:r>
              <a:rPr lang="en-US" sz="2000" b="1" dirty="0">
                <a:solidFill>
                  <a:srgbClr val="66FFFF"/>
                </a:solidFill>
                <a:sym typeface="Wingdings" panose="05000000000000000000" pitchFamily="2" charset="2"/>
              </a:rPr>
              <a:t>O </a:t>
            </a:r>
            <a:r>
              <a:rPr lang="en-US" sz="2000" dirty="0">
                <a:solidFill>
                  <a:srgbClr val="66FFFF"/>
                </a:solidFill>
                <a:sym typeface="Wingdings" panose="05000000000000000000" pitchFamily="2" charset="2"/>
              </a:rPr>
              <a:t>(</a:t>
            </a:r>
            <a:r>
              <a:rPr lang="en-US" sz="2000" i="1" dirty="0">
                <a:solidFill>
                  <a:srgbClr val="66FFFF"/>
                </a:solidFill>
                <a:sym typeface="Wingdings" panose="05000000000000000000" pitchFamily="2" charset="2"/>
              </a:rPr>
              <a:t>s</a:t>
            </a:r>
            <a:r>
              <a:rPr lang="en-US" sz="2000" dirty="0">
                <a:solidFill>
                  <a:srgbClr val="66FFFF"/>
                </a:solidFill>
                <a:sym typeface="Wingdings" panose="05000000000000000000" pitchFamily="2" charset="2"/>
              </a:rPr>
              <a:t>)</a:t>
            </a:r>
            <a:endParaRPr lang="en-US" sz="2000" dirty="0">
              <a:solidFill>
                <a:srgbClr val="66FFFF"/>
              </a:solidFill>
            </a:endParaRPr>
          </a:p>
          <a:p>
            <a:pPr marL="0" indent="0" algn="ctr">
              <a:buNone/>
            </a:pPr>
            <a:r>
              <a:rPr lang="en-US" sz="1800" i="1" dirty="0">
                <a:sym typeface="Wingdings" panose="05000000000000000000" pitchFamily="2" charset="2"/>
              </a:rPr>
              <a:t>This is a </a:t>
            </a:r>
            <a:r>
              <a:rPr lang="en-US" sz="1800" b="1" dirty="0">
                <a:solidFill>
                  <a:srgbClr val="FF00FF"/>
                </a:solidFill>
                <a:sym typeface="Wingdings" panose="05000000000000000000" pitchFamily="2" charset="2"/>
              </a:rPr>
              <a:t>HYDRATION &amp; CRYSTALLIZATION</a:t>
            </a:r>
            <a:r>
              <a:rPr lang="en-US" sz="1800" i="1" dirty="0">
                <a:sym typeface="Wingdings" panose="05000000000000000000" pitchFamily="2" charset="2"/>
              </a:rPr>
              <a:t> of a double salt</a:t>
            </a:r>
            <a:endParaRPr lang="en-US" sz="1800" i="1" dirty="0"/>
          </a:p>
          <a:p>
            <a:pPr marL="0" indent="0">
              <a:buNone/>
              <a:tabLst>
                <a:tab pos="3432175" algn="l"/>
              </a:tabLst>
            </a:pPr>
            <a:r>
              <a:rPr lang="en-US" sz="2000" dirty="0">
                <a:solidFill>
                  <a:srgbClr val="00FF00"/>
                </a:solidFill>
              </a:rPr>
              <a:t>2 Al (</a:t>
            </a:r>
            <a:r>
              <a:rPr lang="en-US" sz="2000" i="1" dirty="0">
                <a:solidFill>
                  <a:srgbClr val="00FF00"/>
                </a:solidFill>
              </a:rPr>
              <a:t>s</a:t>
            </a:r>
            <a:r>
              <a:rPr lang="en-US" sz="2000" dirty="0">
                <a:solidFill>
                  <a:srgbClr val="00FF00"/>
                </a:solidFill>
              </a:rPr>
              <a:t>) + 2 KOH (</a:t>
            </a:r>
            <a:r>
              <a:rPr lang="en-US" sz="2000" i="1" dirty="0" err="1">
                <a:solidFill>
                  <a:srgbClr val="00FF00"/>
                </a:solidFill>
              </a:rPr>
              <a:t>aq</a:t>
            </a:r>
            <a:r>
              <a:rPr lang="en-US" sz="2000" dirty="0">
                <a:solidFill>
                  <a:srgbClr val="00FF00"/>
                </a:solidFill>
              </a:rPr>
              <a:t>) + 4 H</a:t>
            </a:r>
            <a:r>
              <a:rPr lang="en-US" sz="2000" baseline="-25000" dirty="0">
                <a:solidFill>
                  <a:srgbClr val="00FF00"/>
                </a:solidFill>
              </a:rPr>
              <a:t>2</a:t>
            </a:r>
            <a:r>
              <a:rPr lang="en-US" sz="2000" dirty="0">
                <a:solidFill>
                  <a:srgbClr val="00FF00"/>
                </a:solidFill>
              </a:rPr>
              <a:t>SO</a:t>
            </a:r>
            <a:r>
              <a:rPr lang="en-US" sz="2000" baseline="-25000" dirty="0">
                <a:solidFill>
                  <a:srgbClr val="00FF00"/>
                </a:solidFill>
              </a:rPr>
              <a:t>4</a:t>
            </a:r>
            <a:r>
              <a:rPr lang="en-US" sz="2000" dirty="0">
                <a:solidFill>
                  <a:srgbClr val="00FF00"/>
                </a:solidFill>
              </a:rPr>
              <a:t> (</a:t>
            </a:r>
            <a:r>
              <a:rPr lang="en-US" sz="2000" i="1" dirty="0" err="1">
                <a:solidFill>
                  <a:srgbClr val="00FF00"/>
                </a:solidFill>
              </a:rPr>
              <a:t>aq</a:t>
            </a:r>
            <a:r>
              <a:rPr lang="en-US" sz="2000" dirty="0">
                <a:solidFill>
                  <a:srgbClr val="00FF00"/>
                </a:solidFill>
              </a:rPr>
              <a:t>) + 22 H</a:t>
            </a:r>
            <a:r>
              <a:rPr lang="en-US" sz="2000" baseline="-25000" dirty="0">
                <a:solidFill>
                  <a:srgbClr val="00FF00"/>
                </a:solidFill>
              </a:rPr>
              <a:t>2</a:t>
            </a:r>
            <a:r>
              <a:rPr lang="en-US" sz="2000" dirty="0">
                <a:solidFill>
                  <a:srgbClr val="00FF00"/>
                </a:solidFill>
              </a:rPr>
              <a:t>O (</a:t>
            </a:r>
            <a:r>
              <a:rPr lang="en-US" sz="2000" i="1" dirty="0">
                <a:solidFill>
                  <a:srgbClr val="00FF00"/>
                </a:solidFill>
              </a:rPr>
              <a:t>l</a:t>
            </a:r>
            <a:r>
              <a:rPr lang="en-US" sz="2000" dirty="0">
                <a:solidFill>
                  <a:srgbClr val="00FF00"/>
                </a:solidFill>
              </a:rPr>
              <a:t>) 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</a:t>
            </a:r>
            <a:b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</a:b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	2 </a:t>
            </a:r>
            <a:r>
              <a:rPr lang="en-US" sz="2000" dirty="0" err="1">
                <a:solidFill>
                  <a:srgbClr val="00FF00"/>
                </a:solidFill>
                <a:sym typeface="Wingdings" panose="05000000000000000000" pitchFamily="2" charset="2"/>
              </a:rPr>
              <a:t>KAl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(SO</a:t>
            </a:r>
            <a:r>
              <a:rPr lang="en-US" sz="2000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4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  <a:r>
              <a:rPr lang="en-US" sz="2000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 • 12 H</a:t>
            </a:r>
            <a:r>
              <a:rPr lang="en-US" sz="2000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O (</a:t>
            </a:r>
            <a:r>
              <a:rPr lang="en-US" sz="2000" i="1" dirty="0">
                <a:solidFill>
                  <a:srgbClr val="00FF00"/>
                </a:solidFill>
                <a:sym typeface="Wingdings" panose="05000000000000000000" pitchFamily="2" charset="2"/>
              </a:rPr>
              <a:t>s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) + 3 H</a:t>
            </a:r>
            <a:r>
              <a:rPr lang="en-US" sz="2000" baseline="-25000" dirty="0">
                <a:solidFill>
                  <a:srgbClr val="00FF00"/>
                </a:solidFill>
                <a:sym typeface="Wingdings" panose="05000000000000000000" pitchFamily="2" charset="2"/>
              </a:rPr>
              <a:t>2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 (</a:t>
            </a:r>
            <a:r>
              <a:rPr lang="en-US" sz="2000" i="1" dirty="0">
                <a:solidFill>
                  <a:srgbClr val="00FF00"/>
                </a:solidFill>
                <a:sym typeface="Wingdings" panose="05000000000000000000" pitchFamily="2" charset="2"/>
              </a:rPr>
              <a:t>g</a:t>
            </a:r>
            <a:r>
              <a:rPr lang="en-US" sz="2000" dirty="0">
                <a:solidFill>
                  <a:srgbClr val="00FF00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algn="ctr">
              <a:buNone/>
              <a:tabLst>
                <a:tab pos="3432175" algn="l"/>
              </a:tabLst>
            </a:pPr>
            <a:r>
              <a:rPr lang="en-US" sz="1800" i="1" dirty="0">
                <a:sym typeface="Wingdings" panose="05000000000000000000" pitchFamily="2" charset="2"/>
              </a:rPr>
              <a:t>This is the </a:t>
            </a:r>
            <a:r>
              <a:rPr lang="en-US" sz="1800" b="1" dirty="0">
                <a:solidFill>
                  <a:srgbClr val="FF00FF"/>
                </a:solidFill>
                <a:sym typeface="Wingdings" panose="05000000000000000000" pitchFamily="2" charset="2"/>
              </a:rPr>
              <a:t>NET REACTION </a:t>
            </a:r>
            <a:r>
              <a:rPr lang="en-US" sz="1800" i="1" dirty="0">
                <a:sym typeface="Wingdings" panose="05000000000000000000" pitchFamily="2" charset="2"/>
              </a:rPr>
              <a:t>by combining all steps</a:t>
            </a:r>
            <a:endParaRPr lang="en-US" sz="1800" i="1" dirty="0"/>
          </a:p>
          <a:p>
            <a:pPr marL="0" indent="0">
              <a:buNone/>
              <a:tabLst>
                <a:tab pos="3432175" algn="l"/>
              </a:tabLst>
            </a:pPr>
            <a:endParaRPr lang="en-US" sz="2000" dirty="0">
              <a:solidFill>
                <a:srgbClr val="00FF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F5A02-2CFA-B117-88BC-E6CBA6E85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38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30495-D935-FC4B-298C-778679B9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98413-3661-1176-CB1E-96C712529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187156"/>
            <a:ext cx="8421512" cy="830997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04F6C-99DD-3F76-E40F-99EAB1183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59" y="1109610"/>
            <a:ext cx="8387645" cy="5437946"/>
          </a:xfrm>
        </p:spPr>
        <p:txBody>
          <a:bodyPr/>
          <a:lstStyle/>
          <a:p>
            <a:r>
              <a:rPr lang="en-US" dirty="0"/>
              <a:t>In these reactions, the product of one step is carried over as a reactant in the succeeding step</a:t>
            </a:r>
          </a:p>
          <a:p>
            <a:r>
              <a:rPr lang="en-US" dirty="0"/>
              <a:t>Many reaction types are involved, from a gas-evolving step to a precipitation to an acid-base neutralization and then to a crystallization of a double salt</a:t>
            </a:r>
          </a:p>
          <a:p>
            <a:r>
              <a:rPr lang="en-US" dirty="0"/>
              <a:t>A double salt is where a compound involves a combination or mixture of two metal cations, in this case potassium (K) and aluminum (Al) both countered with a sulfate anion (SO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  <a:p>
            <a:r>
              <a:rPr lang="en-US" dirty="0"/>
              <a:t>There are many steps to pay careful attention to their execution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1721D-96E6-43D0-0A58-2F99E4D4C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81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249D-996C-45BB-DEB5-FC203DFE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FEC5-0BFA-0157-5F44-C4798765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187156"/>
            <a:ext cx="8421512" cy="830997"/>
          </a:xfrm>
        </p:spPr>
        <p:txBody>
          <a:bodyPr/>
          <a:lstStyle/>
          <a:p>
            <a:r>
              <a:rPr lang="en-US" dirty="0"/>
              <a:t>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9DFBB-4022-85EB-4492-BA54519DE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59" y="1109610"/>
            <a:ext cx="8387645" cy="5437946"/>
          </a:xfrm>
        </p:spPr>
        <p:txBody>
          <a:bodyPr/>
          <a:lstStyle/>
          <a:p>
            <a:r>
              <a:rPr lang="en-US" dirty="0"/>
              <a:t>Instruments of all kinds do not always give a true reading just one time in use</a:t>
            </a:r>
          </a:p>
          <a:p>
            <a:r>
              <a:rPr lang="en-US" dirty="0"/>
              <a:t>Careful scientists will often want to get a mass on a balance not just once, but even THREE times to ensure reproducibility</a:t>
            </a:r>
          </a:p>
          <a:p>
            <a:r>
              <a:rPr lang="en-US" dirty="0"/>
              <a:t>Check the web page I wrote in ensuring reproducibility in use of instruments</a:t>
            </a:r>
          </a:p>
          <a:p>
            <a:r>
              <a:rPr lang="en-US" dirty="0">
                <a:hlinkClick r:id="rId2"/>
              </a:rPr>
              <a:t>http://fresno.chem101.com/Chemistry/BetterLabReports.html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ED229-C48D-8670-429F-99F770772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815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BF3C9-17B3-07F0-A77E-4DBC43A7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11315-3B1A-23F7-D038-1C329DE5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187156"/>
            <a:ext cx="8421512" cy="830997"/>
          </a:xfrm>
        </p:spPr>
        <p:txBody>
          <a:bodyPr/>
          <a:lstStyle/>
          <a:p>
            <a:r>
              <a:rPr lang="en-US" dirty="0"/>
              <a:t>Limiting &amp; Excess Reagents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27FD-8B91-5A9F-92C4-67FECAEC2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59" y="1109610"/>
            <a:ext cx="8387645" cy="5437946"/>
          </a:xfrm>
        </p:spPr>
        <p:txBody>
          <a:bodyPr/>
          <a:lstStyle/>
          <a:p>
            <a:r>
              <a:rPr lang="en-US" dirty="0"/>
              <a:t>You will use three reagents in this experiment</a:t>
            </a:r>
          </a:p>
          <a:p>
            <a:pPr lvl="1"/>
            <a:r>
              <a:rPr lang="en-US" sz="2400" dirty="0"/>
              <a:t>aluminum solid (foil or powder)</a:t>
            </a:r>
          </a:p>
          <a:p>
            <a:pPr lvl="1"/>
            <a:r>
              <a:rPr lang="en-US" sz="2400" dirty="0"/>
              <a:t>potassium hydroxide</a:t>
            </a:r>
          </a:p>
          <a:p>
            <a:pPr lvl="1"/>
            <a:r>
              <a:rPr lang="en-US" sz="2400" dirty="0"/>
              <a:t>sulfuric acid</a:t>
            </a:r>
          </a:p>
          <a:p>
            <a:r>
              <a:rPr lang="en-US" dirty="0"/>
              <a:t>Which of these is/are the limiting reagent? Can there be more than one limiting reagent?</a:t>
            </a:r>
          </a:p>
          <a:p>
            <a:r>
              <a:rPr lang="en-US" dirty="0"/>
              <a:t>Which of these is/are the excess reagent? Can there be more than one excess reagent?</a:t>
            </a:r>
          </a:p>
          <a:p>
            <a:r>
              <a:rPr lang="en-US" dirty="0"/>
              <a:t>About 0.4 g aluminum is used. What is that in moles?</a:t>
            </a:r>
          </a:p>
          <a:p>
            <a:r>
              <a:rPr lang="en-US" dirty="0"/>
              <a:t>Why was about 20 mL of 1.5 M KOH used?</a:t>
            </a:r>
          </a:p>
          <a:p>
            <a:r>
              <a:rPr lang="en-US" dirty="0"/>
              <a:t>Why was 7.5 mL of 6 M </a:t>
            </a:r>
            <a:r>
              <a:rPr lang="en-US"/>
              <a:t>sulfuric acid used?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2358F-6B86-C242-452C-A1FB699A6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55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C777-AC05-5132-FF2B-F5A02DA5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9CB47-2ED6-F129-56DC-E0ADE3F3E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80A77-3A72-788B-6A53-1E27D08A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22984"/>
            <a:ext cx="8421512" cy="830997"/>
          </a:xfrm>
        </p:spPr>
        <p:txBody>
          <a:bodyPr/>
          <a:lstStyle/>
          <a:p>
            <a:r>
              <a:rPr lang="en-US" dirty="0"/>
              <a:t>Equipment You Will 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8EC464-D6B0-ECBC-152A-77212E80A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2" y="1116130"/>
            <a:ext cx="7922413" cy="56188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EC9B3E-7900-8197-7CF5-0FF14DE95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708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10911-A678-A539-24C7-B3E828133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76CC6-CA88-A77D-26F8-9D0DC156D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D63BE-40B3-96F6-FE7E-9577DC4A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22984"/>
            <a:ext cx="8421512" cy="830997"/>
          </a:xfrm>
        </p:spPr>
        <p:txBody>
          <a:bodyPr/>
          <a:lstStyle/>
          <a:p>
            <a:r>
              <a:rPr lang="en-US" dirty="0"/>
              <a:t>Consumables You Will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72F64-BC0D-C1FF-82EC-084C629F4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13" y="1464502"/>
            <a:ext cx="8702483" cy="461751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ED9D9E-BA47-EDED-55B4-029217841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89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A83F-7B22-8A01-2FE3-CCC1C22C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B132-4F9B-3FA6-3604-1ACDFE9F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68387-E25A-7C7C-241B-25887E4EA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Select a 150, 200, or 250 mL beaker and record its mass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Tear about 0.4 g aluminum foil into small pieces and place in beaker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Record the mass of beaker with foil pieces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Put name on the beaker with Sharpie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Reaction 1 - REDOX (H</a:t>
            </a:r>
            <a:r>
              <a:rPr lang="en-US" b="1" i="1" baseline="-25000" dirty="0">
                <a:solidFill>
                  <a:srgbClr val="FFFF00"/>
                </a:solidFill>
              </a:rPr>
              <a:t>2</a:t>
            </a:r>
            <a:r>
              <a:rPr lang="en-US" b="1" i="1" dirty="0">
                <a:solidFill>
                  <a:srgbClr val="FFFF00"/>
                </a:solidFill>
              </a:rPr>
              <a:t> Gas Evolution) </a:t>
            </a:r>
            <a:r>
              <a:rPr lang="en-US" dirty="0"/>
              <a:t>(Step 5)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dirty="0"/>
              <a:t>In the fume hood, add 20 mL of 1.5 M KOH to the beaker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dirty="0"/>
              <a:t>The foil pieces should dissolve and the solution becomes black. It takes about 20 min for reaction to be complete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dirty="0"/>
              <a:t>While reaction occurs, start calculating theoretical yield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dirty="0"/>
              <a:t>If reaction slows, put beaker on a hot plate but be prepared to take beaker off the hot plate so it does not boil!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dirty="0"/>
              <a:t>Is there a gas produced? What is it?</a:t>
            </a:r>
          </a:p>
          <a:p>
            <a:pPr marL="457200" indent="-457200">
              <a:buFont typeface="+mj-lt"/>
              <a:buAutoNum type="arabicPeriod" startAt="5"/>
            </a:pPr>
            <a:endParaRPr lang="en-US" dirty="0"/>
          </a:p>
          <a:p>
            <a:pPr marL="457200" indent="-457200">
              <a:buFont typeface="+mj-lt"/>
              <a:buAutoNum type="arabicPeriod" startAt="5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96B71E-9B20-46C7-EC62-7697CB992F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9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65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4BB9-1B98-8D3C-0FC3-90E597E9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971A-9F8C-2075-2D91-36C912CC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00831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08BB5F-3E5C-030D-C9EB-E73F2E031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22" y="777805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Reaction 2  (Precipitation) [DD]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dirty="0"/>
              <a:t>Into a 50 mL beaker, pour 7.5 mL of 6.0 M 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  <a:r>
              <a:rPr lang="en-US" dirty="0"/>
              <a:t> from a 10 mL graduated cylinder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dirty="0"/>
              <a:t>While stirring the dissolved aluminum solution with a glass rod in the larger beaker, use a transfer pipet to transfer the acid solution to the aluminum solution DROPWISE. Make sure you stir well after each drop. Look for a greyish white precipitate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Reaction 3 (Acid-Base Neutralization)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dirty="0"/>
              <a:t>Cover beaker with watch glass and warm solution on hot plate until the precipitate has dissolved. Be careful NOT to get it to hot and boil the solution!!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sz="2000" dirty="0"/>
              <a:t>After full dissolution, let beaker cool for few minutes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F60AD5-2C4B-016A-34FB-55880AE003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10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16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32D0C-7402-3426-6596-0ABEFAEB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AF15-2468-9EFB-9A16-2872CA216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07D76-840A-D542-614E-54E61F41D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457200" indent="-457200">
              <a:buFont typeface="+mj-lt"/>
              <a:buAutoNum type="arabicPeriod" startAt="10"/>
            </a:pPr>
            <a:r>
              <a:rPr lang="en-US" dirty="0"/>
              <a:t> Into a larger beaker set up an ice-water bath</a:t>
            </a:r>
          </a:p>
          <a:p>
            <a:pPr marL="457200" indent="-457200">
              <a:buFont typeface="+mj-lt"/>
              <a:buAutoNum type="arabicPeriod" startAt="10"/>
            </a:pPr>
            <a:r>
              <a:rPr lang="en-US" dirty="0"/>
              <a:t> Place the reaction beaker in the ice-water bath and let it sit for 15 min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Reaction 4 (Hydration-Crystallization)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dirty="0"/>
              <a:t> Swirl beaker when crystal formation is noticed. If after 5 min crystals are not seen, scratch inside of beaker with glass rod to induce nucleation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dirty="0"/>
              <a:t> Into a separate small beaker, pour 30 mL of 50% ethanol and place in ice-water bath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B8C1D2-55E5-3B7F-AA2A-8C91573AD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11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63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B226-1791-3B68-6C1E-4C70EFC7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CBAA-80A1-D02A-6677-CB448DB7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3BB77-026D-F103-0CFC-5802A72C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457200" indent="-457200">
              <a:buFont typeface="+mj-lt"/>
              <a:buAutoNum type="arabicPeriod" startAt="14"/>
            </a:pPr>
            <a:r>
              <a:rPr lang="en-US" dirty="0"/>
              <a:t> Set up a vacuum filtration apparatus as shown</a:t>
            </a:r>
          </a:p>
          <a:p>
            <a:pPr marL="457200" indent="-457200">
              <a:buFont typeface="+mj-lt"/>
              <a:buAutoNum type="arabicPeriod" startAt="14"/>
            </a:pPr>
            <a:endParaRPr lang="en-US" dirty="0"/>
          </a:p>
          <a:p>
            <a:pPr marL="457200" indent="-457200">
              <a:buFont typeface="+mj-lt"/>
              <a:buAutoNum type="arabicPeriod" startAt="14"/>
            </a:pPr>
            <a:endParaRPr lang="en-US" dirty="0"/>
          </a:p>
          <a:p>
            <a:pPr marL="457200" indent="-457200">
              <a:buFont typeface="+mj-lt"/>
              <a:buAutoNum type="arabicPeriod" startAt="14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 startAt="15"/>
            </a:pPr>
            <a:r>
              <a:rPr lang="en-US" dirty="0"/>
              <a:t> 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dirty="0"/>
              <a:t>Apply the vacuum to the apparatus and wet the filter paper so that it adheres to funnel bottom with all the holes covered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dirty="0"/>
              <a:t>Swirl the beaker to loosen crystals and pour the crystals with solution on to the paper in the funnel</a:t>
            </a:r>
          </a:p>
          <a:p>
            <a:pPr marL="693738" lvl="1" indent="-457200">
              <a:buFont typeface="+mj-lt"/>
              <a:buAutoNum type="alphaLcPeriod"/>
            </a:pPr>
            <a:r>
              <a:rPr lang="en-US" dirty="0"/>
              <a:t>Pour ~10 mL of cold 50% EtOH into beaker and then swirl to wash out crystals into funnel while also slowly washing the crystals with the ethanol through the filter paper. Repeat ethanol washing of crystals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4DB9BB-0782-C244-D96E-1141227A3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165" y="1370599"/>
            <a:ext cx="4393894" cy="205840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F2C555-8867-4541-B7CF-481FB8227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12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603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6C51D-C39C-F648-474E-67FCB4E5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034F-5890-7535-73A3-637660DF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E1312-A97E-0F19-A378-FF87FEADA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457200" indent="-457200">
              <a:buFont typeface="+mj-lt"/>
              <a:buAutoNum type="arabicPeriod" startAt="15"/>
            </a:pPr>
            <a:r>
              <a:rPr lang="en-US" dirty="0"/>
              <a:t> </a:t>
            </a:r>
          </a:p>
          <a:p>
            <a:pPr marL="693738" lvl="1" indent="-457200">
              <a:buFont typeface="+mj-lt"/>
              <a:buAutoNum type="alphaLcPeriod" startAt="4"/>
            </a:pPr>
            <a:r>
              <a:rPr lang="en-US" dirty="0"/>
              <a:t>After washing is complete, let the crystals remain on the vacuum until they appear dried by the process. Prodding the crystals with a glass rod should prove how dry they are</a:t>
            </a:r>
          </a:p>
          <a:p>
            <a:pPr marL="457200" indent="-457200">
              <a:buFont typeface="+mj-lt"/>
              <a:buAutoNum type="arabicPeriod" startAt="15"/>
            </a:pPr>
            <a:r>
              <a:rPr lang="en-US" dirty="0"/>
              <a:t> Record the mass of a clean &amp; dry watch glass</a:t>
            </a:r>
          </a:p>
          <a:p>
            <a:pPr marL="457200" indent="-457200">
              <a:buFont typeface="+mj-lt"/>
              <a:buAutoNum type="arabicPeriod" startAt="15"/>
            </a:pPr>
            <a:r>
              <a:rPr lang="en-US" dirty="0"/>
              <a:t> Transfer the crystals to the watch glass. Now record the mass of the crystals + watch glass</a:t>
            </a:r>
          </a:p>
          <a:p>
            <a:pPr marL="457200" indent="-457200">
              <a:buFont typeface="+mj-lt"/>
              <a:buAutoNum type="arabicPeriod" startAt="15"/>
            </a:pPr>
            <a:r>
              <a:rPr lang="en-US" dirty="0"/>
              <a:t> Determine the yield of crystals and use to complete rest of report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690BD3-5E7C-0853-2316-C574E7883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13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094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79B0-B384-1533-BACA-0EA95D40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473B-F6C9-7A59-3DAB-7CBF32F68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 only for glass containers that had reaction mixture, just a brief water rinse of glassware and upside-down drip-drying on a sink rack pin is sufficient; this includes grad cylinders &amp; beakers getting KOH and H</a:t>
            </a:r>
            <a:r>
              <a:rPr lang="en-US" baseline="-25000" dirty="0"/>
              <a:t>2</a:t>
            </a:r>
            <a:r>
              <a:rPr lang="en-US" dirty="0"/>
              <a:t>SO</a:t>
            </a:r>
            <a:r>
              <a:rPr lang="en-US" baseline="-25000" dirty="0"/>
              <a:t>4</a:t>
            </a:r>
          </a:p>
          <a:p>
            <a:r>
              <a:rPr lang="en-US" dirty="0"/>
              <a:t>A small amount of soap on brush wash should be sufficient</a:t>
            </a:r>
          </a:p>
          <a:p>
            <a:r>
              <a:rPr lang="en-US" dirty="0"/>
              <a:t>There is a solid waste beaker to receive under fume hood near doors</a:t>
            </a:r>
          </a:p>
          <a:p>
            <a:r>
              <a:rPr lang="en-US" dirty="0"/>
              <a:t>Any liquid waste there is a large carboy also in that fume hood</a:t>
            </a:r>
          </a:p>
          <a:p>
            <a:r>
              <a:rPr lang="en-US" dirty="0"/>
              <a:t>Clean up area as usual. Quick paper towel dry wipe is enough to dry.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DDF9E-AA7F-DEC2-8A88-DDC1AE04B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14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14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5A24-FE88-1B37-6F21-A6AE688F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B395-B63F-4CB7-0692-A64546C6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Example Data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19B4E-9803-A35C-5535-085CE9953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A8ADB2-2E62-ACDA-9790-B0D00F380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12" y="1212811"/>
            <a:ext cx="8135485" cy="533474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CC0E0D-543D-63DC-1811-D0FC7E8AF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15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215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6FD7-475A-54CD-CA0D-237625076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AC143-A24C-79FF-2618-96C1D5CE7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Example Data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98CE7-F122-66FD-8AA3-B9C27C4A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0E312A-51CC-F789-FBE9-EFAA69B99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72" y="856505"/>
            <a:ext cx="6904119" cy="572250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5FCD85-9180-254C-4E6D-55A072578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16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224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D685-E613-A90F-DA62-932291CF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4B00E30-6AC3-5D62-FE03-F064932F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44" y="279898"/>
            <a:ext cx="8421512" cy="830997"/>
          </a:xfrm>
        </p:spPr>
        <p:txBody>
          <a:bodyPr/>
          <a:lstStyle/>
          <a:p>
            <a:r>
              <a:rPr lang="en-US" dirty="0"/>
              <a:t>Example Data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4512A4-C7A1-D468-A8B2-F5ABDF7DE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31" y="1194785"/>
            <a:ext cx="6468378" cy="544906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C98A2D-7ED5-F14C-123A-4CCB7C6FBD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F78A4-19A0-4EF5-A4D9-597660847FB4}" type="slidenum">
              <a:rPr lang="en-US" smtClean="0"/>
              <a:pPr/>
              <a:t>17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683584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33213</TotalTime>
  <Words>1157</Words>
  <Application>Microsoft Office PowerPoint</Application>
  <PresentationFormat>On-screen Show (4:3)</PresentationFormat>
  <Paragraphs>108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Introduction</vt:lpstr>
      <vt:lpstr>Background</vt:lpstr>
      <vt:lpstr>Background</vt:lpstr>
      <vt:lpstr>Reproducibility</vt:lpstr>
      <vt:lpstr>Limiting &amp; Excess Reagents</vt:lpstr>
      <vt:lpstr>Equipment You Will Use</vt:lpstr>
      <vt:lpstr>Consumables You Will Use</vt:lpstr>
      <vt:lpstr>Procedure</vt:lpstr>
      <vt:lpstr>Procedure</vt:lpstr>
      <vt:lpstr>Procedure</vt:lpstr>
      <vt:lpstr>Procedure</vt:lpstr>
      <vt:lpstr>Procedure</vt:lpstr>
      <vt:lpstr>Clean Up</vt:lpstr>
      <vt:lpstr>Example Data Analysis</vt:lpstr>
      <vt:lpstr>Example Data Analysis</vt:lpstr>
      <vt:lpstr>Example Data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1102</cp:revision>
  <cp:lastPrinted>2016-03-14T04:22:58Z</cp:lastPrinted>
  <dcterms:created xsi:type="dcterms:W3CDTF">2005-12-08T13:54:14Z</dcterms:created>
  <dcterms:modified xsi:type="dcterms:W3CDTF">2025-11-04T00:50:34Z</dcterms:modified>
</cp:coreProperties>
</file>