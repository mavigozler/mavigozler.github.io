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18"/>
  </p:notesMasterIdLst>
  <p:sldIdLst>
    <p:sldId id="608" r:id="rId2"/>
    <p:sldId id="609" r:id="rId3"/>
    <p:sldId id="616" r:id="rId4"/>
    <p:sldId id="624" r:id="rId5"/>
    <p:sldId id="632" r:id="rId6"/>
    <p:sldId id="613" r:id="rId7"/>
    <p:sldId id="610" r:id="rId8"/>
    <p:sldId id="626" r:id="rId9"/>
    <p:sldId id="627" r:id="rId10"/>
    <p:sldId id="628" r:id="rId11"/>
    <p:sldId id="629" r:id="rId12"/>
    <p:sldId id="612" r:id="rId13"/>
    <p:sldId id="621" r:id="rId14"/>
    <p:sldId id="623" r:id="rId15"/>
    <p:sldId id="630" r:id="rId16"/>
    <p:sldId id="631" r:id="rId17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00FF00"/>
    <a:srgbClr val="CC99FF"/>
    <a:srgbClr val="66FFFF"/>
    <a:srgbClr val="FF9933"/>
    <a:srgbClr val="FF0066"/>
    <a:srgbClr val="99FFCC"/>
    <a:srgbClr val="FFFFCC"/>
    <a:srgbClr val="339933"/>
    <a:srgbClr val="CC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93" d="100"/>
          <a:sy n="93" d="100"/>
        </p:scale>
        <p:origin x="96" y="996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80" d="100"/>
        <a:sy n="180" d="100"/>
      </p:scale>
      <p:origin x="0" y="-463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503197" y="1295478"/>
            <a:ext cx="8111067" cy="769441"/>
          </a:xfrm>
        </p:spPr>
        <p:txBody>
          <a:bodyPr/>
          <a:lstStyle/>
          <a:p>
            <a:r>
              <a:rPr lang="en-US" sz="44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solidFill>
                  <a:srgbClr val="FFC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Mitch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" name="Title 3">
            <a:extLst>
              <a:ext uri="{FF2B5EF4-FFF2-40B4-BE49-F238E27FC236}">
                <a16:creationId xmlns:a16="http://schemas.microsoft.com/office/drawing/2014/main" id="{9D93987C-C3A6-9E17-4494-2A0E8AA68125}"/>
              </a:ext>
            </a:extLst>
          </p:cNvPr>
          <p:cNvSpPr txBox="1">
            <a:spLocks/>
          </p:cNvSpPr>
          <p:nvPr/>
        </p:nvSpPr>
        <p:spPr bwMode="auto">
          <a:xfrm>
            <a:off x="516466" y="2207794"/>
            <a:ext cx="8111067" cy="1107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7200">
                <a:solidFill>
                  <a:srgbClr val="FFFF99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9pPr>
          </a:lstStyle>
          <a:p>
            <a:r>
              <a:rPr lang="en-US" sz="6600" i="1" kern="0" dirty="0">
                <a:solidFill>
                  <a:srgbClr val="CC99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Experiment 11a</a:t>
            </a:r>
          </a:p>
        </p:txBody>
      </p:sp>
      <p:sp>
        <p:nvSpPr>
          <p:cNvPr id="29" name="Title 3">
            <a:extLst>
              <a:ext uri="{FF2B5EF4-FFF2-40B4-BE49-F238E27FC236}">
                <a16:creationId xmlns:a16="http://schemas.microsoft.com/office/drawing/2014/main" id="{0F667B90-ADA0-D7AE-AC82-9C44B2A46AE5}"/>
              </a:ext>
            </a:extLst>
          </p:cNvPr>
          <p:cNvSpPr txBox="1">
            <a:spLocks/>
          </p:cNvSpPr>
          <p:nvPr/>
        </p:nvSpPr>
        <p:spPr bwMode="auto">
          <a:xfrm>
            <a:off x="490153" y="3730219"/>
            <a:ext cx="8111067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7200">
                <a:solidFill>
                  <a:srgbClr val="FFFF99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9pPr>
          </a:lstStyle>
          <a:p>
            <a:r>
              <a:rPr lang="en-US" sz="6000" kern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Synthesis of Alum</a:t>
            </a:r>
            <a:endParaRPr lang="en-US" sz="6000" b="1" i="1" kern="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C0286-47AD-54C9-04A3-607B80CE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34315"/>
            <a:ext cx="8421512" cy="830997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C5B2E-5542-F5D6-CEA6-30C230FF4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1065312"/>
            <a:ext cx="8387645" cy="5215465"/>
          </a:xfrm>
        </p:spPr>
        <p:txBody>
          <a:bodyPr/>
          <a:lstStyle/>
          <a:p>
            <a:r>
              <a:rPr lang="en-US" dirty="0"/>
              <a:t>This experiment will produce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potassium aluminum sulfate dodecahydrate</a:t>
            </a:r>
            <a:r>
              <a:rPr lang="en-US" dirty="0"/>
              <a:t> [</a:t>
            </a:r>
            <a:r>
              <a:rPr lang="en-US" dirty="0" err="1">
                <a:solidFill>
                  <a:srgbClr val="FFC000"/>
                </a:solidFill>
              </a:rPr>
              <a:t>KAl</a:t>
            </a:r>
            <a:r>
              <a:rPr lang="en-US" dirty="0">
                <a:solidFill>
                  <a:srgbClr val="FFC000"/>
                </a:solidFill>
              </a:rPr>
              <a:t>(SO</a:t>
            </a:r>
            <a:r>
              <a:rPr lang="en-US" baseline="-25000" dirty="0">
                <a:solidFill>
                  <a:srgbClr val="FFC000"/>
                </a:solidFill>
              </a:rPr>
              <a:t>4</a:t>
            </a:r>
            <a:r>
              <a:rPr lang="en-US" dirty="0">
                <a:solidFill>
                  <a:srgbClr val="FFC000"/>
                </a:solidFill>
              </a:rPr>
              <a:t>)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 • 12 H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O</a:t>
            </a:r>
            <a:r>
              <a:rPr lang="en-US" dirty="0"/>
              <a:t>]—called </a:t>
            </a:r>
            <a:r>
              <a:rPr lang="en-US" dirty="0">
                <a:solidFill>
                  <a:srgbClr val="00FF00"/>
                </a:solidFill>
              </a:rPr>
              <a:t>alum</a:t>
            </a:r>
            <a:r>
              <a:rPr lang="en-US" dirty="0"/>
              <a:t> from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aluminum</a:t>
            </a:r>
            <a:r>
              <a:rPr lang="en-US" dirty="0"/>
              <a:t> </a:t>
            </a:r>
            <a:r>
              <a:rPr lang="en-US" dirty="0">
                <a:solidFill>
                  <a:srgbClr val="FFFF00"/>
                </a:solidFill>
              </a:rPr>
              <a:t>metal</a:t>
            </a:r>
          </a:p>
          <a:p>
            <a:r>
              <a:rPr lang="en-US" dirty="0"/>
              <a:t>Alum uses and purposes are numerous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7C4479-4C57-065A-3A30-0F2FDB2B1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646" y="2896447"/>
            <a:ext cx="9144000" cy="3489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2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16BD6-F4FE-A7D4-2A37-C4EA7D32A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8B19F-006B-7531-DD27-28B722C19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87156"/>
            <a:ext cx="8421512" cy="830997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E4572-3706-EF53-95DE-248E030B0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2259" y="1109610"/>
            <a:ext cx="8387645" cy="5437946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The reactions involved in alum synthesis are shown:</a:t>
            </a:r>
          </a:p>
          <a:p>
            <a:pPr marL="514350" indent="0">
              <a:spcBef>
                <a:spcPts val="2400"/>
              </a:spcBef>
              <a:buNone/>
              <a:tabLst>
                <a:tab pos="3832225" algn="l"/>
              </a:tabLst>
            </a:pPr>
            <a:r>
              <a:rPr lang="en-US" sz="2000" dirty="0">
                <a:solidFill>
                  <a:srgbClr val="FFC000"/>
                </a:solidFill>
              </a:rPr>
              <a:t>2 Al (</a:t>
            </a:r>
            <a:r>
              <a:rPr lang="en-US" sz="2000" i="1" dirty="0">
                <a:solidFill>
                  <a:srgbClr val="FFC000"/>
                </a:solidFill>
              </a:rPr>
              <a:t>s</a:t>
            </a:r>
            <a:r>
              <a:rPr lang="en-US" sz="2000" dirty="0">
                <a:solidFill>
                  <a:srgbClr val="FFC000"/>
                </a:solidFill>
              </a:rPr>
              <a:t>) + 2 KOH (</a:t>
            </a:r>
            <a:r>
              <a:rPr lang="en-US" sz="2000" i="1" dirty="0" err="1">
                <a:solidFill>
                  <a:srgbClr val="FFC000"/>
                </a:solidFill>
              </a:rPr>
              <a:t>aq</a:t>
            </a:r>
            <a:r>
              <a:rPr lang="en-US" sz="2000" dirty="0">
                <a:solidFill>
                  <a:srgbClr val="FFC000"/>
                </a:solidFill>
              </a:rPr>
              <a:t>) + 6 H</a:t>
            </a:r>
            <a:r>
              <a:rPr lang="en-US" sz="2000" baseline="-25000" dirty="0">
                <a:solidFill>
                  <a:srgbClr val="FFC000"/>
                </a:solidFill>
              </a:rPr>
              <a:t>2</a:t>
            </a:r>
            <a:r>
              <a:rPr lang="en-US" sz="2000" dirty="0">
                <a:solidFill>
                  <a:srgbClr val="FFC000"/>
                </a:solidFill>
              </a:rPr>
              <a:t>O (</a:t>
            </a:r>
            <a:r>
              <a:rPr lang="en-US" sz="2000" i="1" dirty="0">
                <a:solidFill>
                  <a:srgbClr val="FFC000"/>
                </a:solidFill>
              </a:rPr>
              <a:t>l</a:t>
            </a:r>
            <a:r>
              <a:rPr lang="en-US" sz="2000" dirty="0">
                <a:solidFill>
                  <a:srgbClr val="FFC000"/>
                </a:solidFill>
              </a:rPr>
              <a:t>) 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</a:t>
            </a:r>
            <a:b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</a:b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	2 </a:t>
            </a:r>
            <a:r>
              <a:rPr lang="en-US" sz="2000" b="1" dirty="0" err="1">
                <a:solidFill>
                  <a:srgbClr val="FFC000"/>
                </a:solidFill>
                <a:sym typeface="Wingdings" panose="05000000000000000000" pitchFamily="2" charset="2"/>
              </a:rPr>
              <a:t>KAl</a:t>
            </a:r>
            <a:r>
              <a:rPr lang="en-US" sz="2000" b="1" dirty="0">
                <a:solidFill>
                  <a:srgbClr val="FFC000"/>
                </a:solidFill>
                <a:sym typeface="Wingdings" panose="05000000000000000000" pitchFamily="2" charset="2"/>
              </a:rPr>
              <a:t>(OH)</a:t>
            </a:r>
            <a:r>
              <a:rPr lang="en-US" sz="2000" b="1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4</a:t>
            </a:r>
            <a:r>
              <a:rPr lang="en-US" sz="2000" b="1" dirty="0">
                <a:solidFill>
                  <a:srgbClr val="FFC000"/>
                </a:solidFill>
                <a:sym typeface="Wingdings" panose="05000000000000000000" pitchFamily="2" charset="2"/>
              </a:rPr>
              <a:t> 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(</a:t>
            </a:r>
            <a:r>
              <a:rPr lang="en-US" sz="2000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+ 3 H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pPr marL="0" indent="0" algn="ctr">
              <a:spcBef>
                <a:spcPts val="0"/>
              </a:spcBef>
              <a:buNone/>
              <a:tabLst>
                <a:tab pos="3832225" algn="l"/>
              </a:tabLst>
            </a:pPr>
            <a:r>
              <a:rPr lang="en-US" sz="1600" i="1" dirty="0">
                <a:sym typeface="Wingdings" panose="05000000000000000000" pitchFamily="2" charset="2"/>
              </a:rPr>
              <a:t>This reaction evolves a gas</a:t>
            </a:r>
            <a:endParaRPr lang="en-US" sz="1600" i="1" dirty="0"/>
          </a:p>
          <a:p>
            <a:pPr marL="514350" indent="0">
              <a:spcBef>
                <a:spcPts val="1200"/>
              </a:spcBef>
              <a:buNone/>
              <a:tabLst>
                <a:tab pos="2116138" algn="l"/>
              </a:tabLst>
            </a:pPr>
            <a:r>
              <a:rPr lang="en-US" sz="2000" dirty="0">
                <a:solidFill>
                  <a:srgbClr val="CC99FF"/>
                </a:solidFill>
              </a:rPr>
              <a:t>2 </a:t>
            </a:r>
            <a:r>
              <a:rPr lang="en-US" sz="2000" b="1" dirty="0" err="1">
                <a:solidFill>
                  <a:srgbClr val="FFC000"/>
                </a:solidFill>
              </a:rPr>
              <a:t>KAl</a:t>
            </a:r>
            <a:r>
              <a:rPr lang="en-US" sz="2000" b="1" dirty="0">
                <a:solidFill>
                  <a:srgbClr val="FFC000"/>
                </a:solidFill>
              </a:rPr>
              <a:t>(OH)</a:t>
            </a:r>
            <a:r>
              <a:rPr lang="en-US" sz="2000" b="1" baseline="-25000" dirty="0">
                <a:solidFill>
                  <a:srgbClr val="FFC000"/>
                </a:solidFill>
              </a:rPr>
              <a:t>4</a:t>
            </a:r>
            <a:r>
              <a:rPr lang="en-US" sz="2000" dirty="0">
                <a:solidFill>
                  <a:srgbClr val="CC99FF"/>
                </a:solidFill>
              </a:rPr>
              <a:t> (</a:t>
            </a:r>
            <a:r>
              <a:rPr lang="en-US" sz="2000" i="1" dirty="0" err="1">
                <a:solidFill>
                  <a:srgbClr val="CC99FF"/>
                </a:solidFill>
              </a:rPr>
              <a:t>aq</a:t>
            </a:r>
            <a:r>
              <a:rPr lang="en-US" sz="2000" dirty="0">
                <a:solidFill>
                  <a:srgbClr val="CC99FF"/>
                </a:solidFill>
              </a:rPr>
              <a:t>) + H</a:t>
            </a:r>
            <a:r>
              <a:rPr lang="en-US" sz="2000" baseline="-25000" dirty="0">
                <a:solidFill>
                  <a:srgbClr val="CC99FF"/>
                </a:solidFill>
              </a:rPr>
              <a:t>2</a:t>
            </a:r>
            <a:r>
              <a:rPr lang="en-US" sz="2000" dirty="0">
                <a:solidFill>
                  <a:srgbClr val="CC99FF"/>
                </a:solidFill>
              </a:rPr>
              <a:t>SO</a:t>
            </a:r>
            <a:r>
              <a:rPr lang="en-US" sz="2000" baseline="-25000" dirty="0">
                <a:solidFill>
                  <a:srgbClr val="CC99FF"/>
                </a:solidFill>
              </a:rPr>
              <a:t>4</a:t>
            </a:r>
            <a:r>
              <a:rPr lang="en-US" sz="2000" dirty="0">
                <a:solidFill>
                  <a:srgbClr val="CC99FF"/>
                </a:solidFill>
              </a:rPr>
              <a:t> (</a:t>
            </a:r>
            <a:r>
              <a:rPr lang="en-US" sz="2000" i="1" dirty="0" err="1">
                <a:solidFill>
                  <a:srgbClr val="CC99FF"/>
                </a:solidFill>
              </a:rPr>
              <a:t>aq</a:t>
            </a:r>
            <a:r>
              <a:rPr lang="en-US" sz="2000" dirty="0">
                <a:solidFill>
                  <a:srgbClr val="CC99FF"/>
                </a:solidFill>
              </a:rPr>
              <a:t>) </a:t>
            </a: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</a:t>
            </a:r>
            <a:b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</a:b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	2 </a:t>
            </a:r>
            <a:r>
              <a:rPr lang="en-US" sz="2000" b="1" dirty="0">
                <a:solidFill>
                  <a:srgbClr val="CC99FF"/>
                </a:solidFill>
                <a:sym typeface="Wingdings" panose="05000000000000000000" pitchFamily="2" charset="2"/>
              </a:rPr>
              <a:t>Al(OH)</a:t>
            </a:r>
            <a:r>
              <a:rPr lang="en-US" sz="2000" b="1" baseline="-25000" dirty="0">
                <a:solidFill>
                  <a:srgbClr val="CC99FF"/>
                </a:solidFill>
                <a:sym typeface="Wingdings" panose="05000000000000000000" pitchFamily="2" charset="2"/>
              </a:rPr>
              <a:t>3</a:t>
            </a:r>
            <a:r>
              <a:rPr lang="en-US" sz="2000" b="1" dirty="0">
                <a:solidFill>
                  <a:srgbClr val="CC99FF"/>
                </a:solidFill>
                <a:sym typeface="Wingdings" panose="05000000000000000000" pitchFamily="2" charset="2"/>
              </a:rPr>
              <a:t> </a:t>
            </a: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(</a:t>
            </a:r>
            <a:r>
              <a:rPr lang="en-US" sz="2000" i="1" dirty="0">
                <a:solidFill>
                  <a:srgbClr val="CC99FF"/>
                </a:solidFill>
                <a:sym typeface="Wingdings" panose="05000000000000000000" pitchFamily="2" charset="2"/>
              </a:rPr>
              <a:t>s</a:t>
            </a: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) + K</a:t>
            </a:r>
            <a:r>
              <a:rPr lang="en-US" sz="2000" baseline="-25000" dirty="0">
                <a:solidFill>
                  <a:srgbClr val="CC99FF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SO</a:t>
            </a:r>
            <a:r>
              <a:rPr lang="en-US" sz="2000" baseline="-25000" dirty="0">
                <a:solidFill>
                  <a:srgbClr val="CC99FF"/>
                </a:solidFill>
                <a:sym typeface="Wingdings" panose="05000000000000000000" pitchFamily="2" charset="2"/>
              </a:rPr>
              <a:t>4</a:t>
            </a: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 (</a:t>
            </a:r>
            <a:r>
              <a:rPr lang="en-US" sz="2000" dirty="0" err="1">
                <a:solidFill>
                  <a:srgbClr val="CC99FF"/>
                </a:solidFill>
                <a:sym typeface="Wingdings" panose="05000000000000000000" pitchFamily="2" charset="2"/>
              </a:rPr>
              <a:t>aq</a:t>
            </a: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) + 2 H</a:t>
            </a:r>
            <a:r>
              <a:rPr lang="en-US" sz="2000" baseline="-25000" dirty="0">
                <a:solidFill>
                  <a:srgbClr val="CC99FF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O (</a:t>
            </a:r>
            <a:r>
              <a:rPr lang="en-US" sz="2000" i="1" dirty="0">
                <a:solidFill>
                  <a:srgbClr val="CC99FF"/>
                </a:solidFill>
                <a:sym typeface="Wingdings" panose="05000000000000000000" pitchFamily="2" charset="2"/>
              </a:rPr>
              <a:t>l</a:t>
            </a:r>
            <a:r>
              <a:rPr lang="en-US" sz="2000" dirty="0">
                <a:solidFill>
                  <a:srgbClr val="CC99FF"/>
                </a:solidFill>
                <a:sym typeface="Wingdings" panose="05000000000000000000" pitchFamily="2" charset="2"/>
              </a:rPr>
              <a:t>)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i="1" dirty="0">
                <a:sym typeface="Wingdings" panose="05000000000000000000" pitchFamily="2" charset="2"/>
              </a:rPr>
              <a:t>This is a precipitation</a:t>
            </a:r>
            <a:endParaRPr lang="en-US" sz="1800" i="1" dirty="0"/>
          </a:p>
          <a:p>
            <a:pPr marL="0" indent="0" algn="ctr">
              <a:spcBef>
                <a:spcPts val="1200"/>
              </a:spcBef>
              <a:buNone/>
            </a:pPr>
            <a:r>
              <a:rPr lang="en-US" sz="2000" dirty="0">
                <a:solidFill>
                  <a:srgbClr val="FFFF00"/>
                </a:solidFill>
              </a:rPr>
              <a:t>2 </a:t>
            </a:r>
            <a:r>
              <a:rPr lang="en-US" sz="2000" b="1" dirty="0">
                <a:solidFill>
                  <a:srgbClr val="CC99FF"/>
                </a:solidFill>
              </a:rPr>
              <a:t>Al(OH)</a:t>
            </a:r>
            <a:r>
              <a:rPr lang="en-US" sz="2000" b="1" baseline="-25000" dirty="0">
                <a:solidFill>
                  <a:srgbClr val="CC99FF"/>
                </a:solidFill>
              </a:rPr>
              <a:t>3</a:t>
            </a:r>
            <a:r>
              <a:rPr lang="en-US" sz="2000" dirty="0">
                <a:solidFill>
                  <a:srgbClr val="FFFF00"/>
                </a:solidFill>
              </a:rPr>
              <a:t> (</a:t>
            </a:r>
            <a:r>
              <a:rPr lang="en-US" sz="2000" i="1" dirty="0">
                <a:solidFill>
                  <a:srgbClr val="FFFF00"/>
                </a:solidFill>
              </a:rPr>
              <a:t>s</a:t>
            </a:r>
            <a:r>
              <a:rPr lang="en-US" sz="2000" dirty="0">
                <a:solidFill>
                  <a:srgbClr val="FFFF00"/>
                </a:solidFill>
              </a:rPr>
              <a:t>) + 3 H</a:t>
            </a:r>
            <a:r>
              <a:rPr lang="en-US" sz="2000" baseline="-25000" dirty="0">
                <a:solidFill>
                  <a:srgbClr val="FFFF00"/>
                </a:solidFill>
              </a:rPr>
              <a:t>2</a:t>
            </a:r>
            <a:r>
              <a:rPr lang="en-US" sz="2000" dirty="0">
                <a:solidFill>
                  <a:srgbClr val="FFFF00"/>
                </a:solidFill>
              </a:rPr>
              <a:t>SO</a:t>
            </a:r>
            <a:r>
              <a:rPr lang="en-US" sz="2000" baseline="-25000" dirty="0">
                <a:solidFill>
                  <a:srgbClr val="FFFF00"/>
                </a:solidFill>
              </a:rPr>
              <a:t>4</a:t>
            </a:r>
            <a:r>
              <a:rPr lang="en-US" sz="2000" dirty="0">
                <a:solidFill>
                  <a:srgbClr val="FFFF00"/>
                </a:solidFill>
              </a:rPr>
              <a:t> (</a:t>
            </a:r>
            <a:r>
              <a:rPr lang="en-US" sz="2000" i="1" dirty="0" err="1">
                <a:solidFill>
                  <a:srgbClr val="FFFF00"/>
                </a:solidFill>
              </a:rPr>
              <a:t>aq</a:t>
            </a:r>
            <a:r>
              <a:rPr lang="en-US" sz="2000" dirty="0">
                <a:solidFill>
                  <a:srgbClr val="FFFF00"/>
                </a:solidFill>
              </a:rPr>
              <a:t>) 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 </a:t>
            </a:r>
            <a:r>
              <a:rPr lang="en-US" sz="2000" b="1" dirty="0">
                <a:solidFill>
                  <a:srgbClr val="FFFF00"/>
                </a:solidFill>
                <a:sym typeface="Wingdings" panose="05000000000000000000" pitchFamily="2" charset="2"/>
              </a:rPr>
              <a:t>Al</a:t>
            </a:r>
            <a:r>
              <a:rPr lang="en-US" sz="2000" b="1" baseline="-25000" dirty="0">
                <a:solidFill>
                  <a:srgbClr val="FFFF00"/>
                </a:solidFill>
                <a:sym typeface="Wingdings" panose="05000000000000000000" pitchFamily="2" charset="2"/>
              </a:rPr>
              <a:t>2</a:t>
            </a:r>
            <a:r>
              <a:rPr lang="en-US" sz="2000" b="1" dirty="0">
                <a:solidFill>
                  <a:srgbClr val="FFFF00"/>
                </a:solidFill>
                <a:sym typeface="Wingdings" panose="05000000000000000000" pitchFamily="2" charset="2"/>
              </a:rPr>
              <a:t>(SO</a:t>
            </a:r>
            <a:r>
              <a:rPr lang="en-US" sz="2000" b="1" baseline="-25000" dirty="0">
                <a:solidFill>
                  <a:srgbClr val="FFFF00"/>
                </a:solidFill>
                <a:sym typeface="Wingdings" panose="05000000000000000000" pitchFamily="2" charset="2"/>
              </a:rPr>
              <a:t>4</a:t>
            </a:r>
            <a:r>
              <a:rPr lang="en-US" sz="2000" b="1" dirty="0">
                <a:solidFill>
                  <a:srgbClr val="FFFF00"/>
                </a:solidFill>
                <a:sym typeface="Wingdings" panose="05000000000000000000" pitchFamily="2" charset="2"/>
              </a:rPr>
              <a:t>)</a:t>
            </a:r>
            <a:r>
              <a:rPr lang="en-US" sz="2000" b="1" baseline="-25000" dirty="0">
                <a:solidFill>
                  <a:srgbClr val="FFFF00"/>
                </a:solidFill>
                <a:sym typeface="Wingdings" panose="05000000000000000000" pitchFamily="2" charset="2"/>
              </a:rPr>
              <a:t>3</a:t>
            </a:r>
            <a:r>
              <a:rPr lang="en-US" sz="2000" b="1" dirty="0">
                <a:solidFill>
                  <a:srgbClr val="FFFF00"/>
                </a:solidFill>
                <a:sym typeface="Wingdings" panose="05000000000000000000" pitchFamily="2" charset="2"/>
              </a:rPr>
              <a:t> 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(</a:t>
            </a:r>
            <a:r>
              <a:rPr lang="en-US" sz="2000" i="1" dirty="0" err="1">
                <a:solidFill>
                  <a:srgbClr val="FFFF00"/>
                </a:solidFill>
                <a:sym typeface="Wingdings" panose="05000000000000000000" pitchFamily="2" charset="2"/>
              </a:rPr>
              <a:t>aq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) + 6 H</a:t>
            </a:r>
            <a:r>
              <a:rPr lang="en-US" sz="2000" baseline="-25000" dirty="0">
                <a:solidFill>
                  <a:srgbClr val="FFFF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O (</a:t>
            </a:r>
            <a:r>
              <a:rPr lang="en-US" sz="2000" i="1" dirty="0">
                <a:solidFill>
                  <a:srgbClr val="FFFF00"/>
                </a:solidFill>
                <a:sym typeface="Wingdings" panose="05000000000000000000" pitchFamily="2" charset="2"/>
              </a:rPr>
              <a:t>l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)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i="1" dirty="0">
                <a:sym typeface="Wingdings" panose="05000000000000000000" pitchFamily="2" charset="2"/>
              </a:rPr>
              <a:t>This is an acid-base neutralization of an alkaline precipitate</a:t>
            </a:r>
            <a:endParaRPr lang="en-US" sz="1800" i="1" dirty="0"/>
          </a:p>
          <a:p>
            <a:pPr marL="514350" indent="174625">
              <a:spcBef>
                <a:spcPts val="1200"/>
              </a:spcBef>
              <a:buNone/>
              <a:tabLst>
                <a:tab pos="4057650" algn="l"/>
              </a:tabLst>
            </a:pPr>
            <a:r>
              <a:rPr lang="en-US" sz="2000" b="1" dirty="0">
                <a:solidFill>
                  <a:srgbClr val="FFFF00"/>
                </a:solidFill>
              </a:rPr>
              <a:t>Al</a:t>
            </a:r>
            <a:r>
              <a:rPr lang="en-US" sz="2000" b="1" baseline="-25000" dirty="0">
                <a:solidFill>
                  <a:srgbClr val="FFFF00"/>
                </a:solidFill>
              </a:rPr>
              <a:t>2</a:t>
            </a:r>
            <a:r>
              <a:rPr lang="en-US" sz="2000" b="1" dirty="0">
                <a:solidFill>
                  <a:srgbClr val="FFFF00"/>
                </a:solidFill>
              </a:rPr>
              <a:t>(SO</a:t>
            </a:r>
            <a:r>
              <a:rPr lang="en-US" sz="2000" b="1" baseline="-25000" dirty="0">
                <a:solidFill>
                  <a:srgbClr val="FFFF00"/>
                </a:solidFill>
              </a:rPr>
              <a:t>4</a:t>
            </a:r>
            <a:r>
              <a:rPr lang="en-US" sz="2000" b="1" dirty="0">
                <a:solidFill>
                  <a:srgbClr val="FFFF00"/>
                </a:solidFill>
              </a:rPr>
              <a:t>)</a:t>
            </a:r>
            <a:r>
              <a:rPr lang="en-US" sz="2000" b="1" baseline="-25000" dirty="0">
                <a:solidFill>
                  <a:srgbClr val="FFFF00"/>
                </a:solidFill>
              </a:rPr>
              <a:t>3</a:t>
            </a:r>
            <a:r>
              <a:rPr lang="en-US" sz="2000" b="1" dirty="0">
                <a:solidFill>
                  <a:srgbClr val="FFFF00"/>
                </a:solidFill>
              </a:rPr>
              <a:t> </a:t>
            </a:r>
            <a:r>
              <a:rPr lang="en-US" sz="2000" dirty="0">
                <a:solidFill>
                  <a:srgbClr val="66FFFF"/>
                </a:solidFill>
              </a:rPr>
              <a:t>(</a:t>
            </a:r>
            <a:r>
              <a:rPr lang="en-US" sz="2000" i="1" dirty="0" err="1">
                <a:solidFill>
                  <a:srgbClr val="66FFFF"/>
                </a:solidFill>
              </a:rPr>
              <a:t>aq</a:t>
            </a:r>
            <a:r>
              <a:rPr lang="en-US" sz="2000" dirty="0">
                <a:solidFill>
                  <a:srgbClr val="66FFFF"/>
                </a:solidFill>
              </a:rPr>
              <a:t>) + K</a:t>
            </a:r>
            <a:r>
              <a:rPr lang="en-US" sz="2000" baseline="-25000" dirty="0">
                <a:solidFill>
                  <a:srgbClr val="66FFFF"/>
                </a:solidFill>
              </a:rPr>
              <a:t>2</a:t>
            </a:r>
            <a:r>
              <a:rPr lang="en-US" sz="2000" dirty="0">
                <a:solidFill>
                  <a:srgbClr val="66FFFF"/>
                </a:solidFill>
              </a:rPr>
              <a:t>SO</a:t>
            </a:r>
            <a:r>
              <a:rPr lang="en-US" sz="2000" baseline="-25000" dirty="0">
                <a:solidFill>
                  <a:srgbClr val="66FFFF"/>
                </a:solidFill>
              </a:rPr>
              <a:t>4</a:t>
            </a:r>
            <a:r>
              <a:rPr lang="en-US" sz="2000" dirty="0">
                <a:solidFill>
                  <a:srgbClr val="66FFFF"/>
                </a:solidFill>
              </a:rPr>
              <a:t> (</a:t>
            </a:r>
            <a:r>
              <a:rPr lang="en-US" sz="2000" i="1" dirty="0" err="1">
                <a:solidFill>
                  <a:srgbClr val="66FFFF"/>
                </a:solidFill>
              </a:rPr>
              <a:t>aq</a:t>
            </a:r>
            <a:r>
              <a:rPr lang="en-US" sz="2000" dirty="0">
                <a:solidFill>
                  <a:srgbClr val="66FFFF"/>
                </a:solidFill>
              </a:rPr>
              <a:t>) + 24 H</a:t>
            </a:r>
            <a:r>
              <a:rPr lang="en-US" sz="2000" baseline="-25000" dirty="0">
                <a:solidFill>
                  <a:srgbClr val="66FFFF"/>
                </a:solidFill>
              </a:rPr>
              <a:t>2</a:t>
            </a:r>
            <a:r>
              <a:rPr lang="en-US" sz="2000" dirty="0">
                <a:solidFill>
                  <a:srgbClr val="66FFFF"/>
                </a:solidFill>
              </a:rPr>
              <a:t>O (</a:t>
            </a:r>
            <a:r>
              <a:rPr lang="en-US" sz="2000" i="1" dirty="0">
                <a:solidFill>
                  <a:srgbClr val="66FFFF"/>
                </a:solidFill>
              </a:rPr>
              <a:t>l</a:t>
            </a:r>
            <a:r>
              <a:rPr lang="en-US" sz="2000" dirty="0">
                <a:solidFill>
                  <a:srgbClr val="66FFFF"/>
                </a:solidFill>
              </a:rPr>
              <a:t>) </a:t>
            </a:r>
            <a:r>
              <a:rPr lang="en-US" sz="2000" dirty="0">
                <a:solidFill>
                  <a:srgbClr val="66FFFF"/>
                </a:solidFill>
                <a:sym typeface="Wingdings" panose="05000000000000000000" pitchFamily="2" charset="2"/>
              </a:rPr>
              <a:t></a:t>
            </a:r>
            <a:br>
              <a:rPr lang="en-US" sz="2000" dirty="0">
                <a:solidFill>
                  <a:srgbClr val="66FFFF"/>
                </a:solidFill>
                <a:sym typeface="Wingdings" panose="05000000000000000000" pitchFamily="2" charset="2"/>
              </a:rPr>
            </a:br>
            <a:r>
              <a:rPr lang="en-US" sz="2000" dirty="0">
                <a:solidFill>
                  <a:srgbClr val="66FFFF"/>
                </a:solidFill>
                <a:sym typeface="Wingdings" panose="05000000000000000000" pitchFamily="2" charset="2"/>
              </a:rPr>
              <a:t>	2 </a:t>
            </a:r>
            <a:r>
              <a:rPr lang="en-US" sz="2000" b="1" dirty="0" err="1">
                <a:solidFill>
                  <a:srgbClr val="66FFFF"/>
                </a:solidFill>
                <a:sym typeface="Wingdings" panose="05000000000000000000" pitchFamily="2" charset="2"/>
              </a:rPr>
              <a:t>KAl</a:t>
            </a:r>
            <a:r>
              <a:rPr lang="en-US" sz="2000" b="1" dirty="0">
                <a:solidFill>
                  <a:srgbClr val="66FFFF"/>
                </a:solidFill>
                <a:sym typeface="Wingdings" panose="05000000000000000000" pitchFamily="2" charset="2"/>
              </a:rPr>
              <a:t>(SO</a:t>
            </a:r>
            <a:r>
              <a:rPr lang="en-US" sz="2000" b="1" baseline="-25000" dirty="0">
                <a:solidFill>
                  <a:srgbClr val="66FFFF"/>
                </a:solidFill>
                <a:sym typeface="Wingdings" panose="05000000000000000000" pitchFamily="2" charset="2"/>
              </a:rPr>
              <a:t>4</a:t>
            </a:r>
            <a:r>
              <a:rPr lang="en-US" sz="2000" b="1" dirty="0">
                <a:solidFill>
                  <a:srgbClr val="66FFFF"/>
                </a:solidFill>
                <a:sym typeface="Wingdings" panose="05000000000000000000" pitchFamily="2" charset="2"/>
              </a:rPr>
              <a:t>)</a:t>
            </a:r>
            <a:r>
              <a:rPr lang="en-US" sz="2000" b="1" baseline="-25000" dirty="0">
                <a:solidFill>
                  <a:srgbClr val="66FFFF"/>
                </a:solidFill>
                <a:sym typeface="Wingdings" panose="05000000000000000000" pitchFamily="2" charset="2"/>
              </a:rPr>
              <a:t>2</a:t>
            </a:r>
            <a:r>
              <a:rPr lang="en-US" sz="2000" b="1" dirty="0">
                <a:solidFill>
                  <a:srgbClr val="66FFFF"/>
                </a:solidFill>
                <a:sym typeface="Wingdings" panose="05000000000000000000" pitchFamily="2" charset="2"/>
              </a:rPr>
              <a:t> • 12 H</a:t>
            </a:r>
            <a:r>
              <a:rPr lang="en-US" sz="2000" b="1" baseline="-25000" dirty="0">
                <a:solidFill>
                  <a:srgbClr val="66FFFF"/>
                </a:solidFill>
                <a:sym typeface="Wingdings" panose="05000000000000000000" pitchFamily="2" charset="2"/>
              </a:rPr>
              <a:t>2</a:t>
            </a:r>
            <a:r>
              <a:rPr lang="en-US" sz="2000" b="1" dirty="0">
                <a:solidFill>
                  <a:srgbClr val="66FFFF"/>
                </a:solidFill>
                <a:sym typeface="Wingdings" panose="05000000000000000000" pitchFamily="2" charset="2"/>
              </a:rPr>
              <a:t>O </a:t>
            </a:r>
            <a:r>
              <a:rPr lang="en-US" sz="2000" dirty="0">
                <a:solidFill>
                  <a:srgbClr val="66FFFF"/>
                </a:solidFill>
                <a:sym typeface="Wingdings" panose="05000000000000000000" pitchFamily="2" charset="2"/>
              </a:rPr>
              <a:t>(</a:t>
            </a:r>
            <a:r>
              <a:rPr lang="en-US" sz="2000" i="1" dirty="0">
                <a:solidFill>
                  <a:srgbClr val="66FFFF"/>
                </a:solidFill>
                <a:sym typeface="Wingdings" panose="05000000000000000000" pitchFamily="2" charset="2"/>
              </a:rPr>
              <a:t>s</a:t>
            </a:r>
            <a:r>
              <a:rPr lang="en-US" sz="2000" dirty="0">
                <a:solidFill>
                  <a:srgbClr val="66FFFF"/>
                </a:solidFill>
                <a:sym typeface="Wingdings" panose="05000000000000000000" pitchFamily="2" charset="2"/>
              </a:rPr>
              <a:t>)</a:t>
            </a:r>
            <a:endParaRPr lang="en-US" sz="2000" dirty="0">
              <a:solidFill>
                <a:srgbClr val="66FFFF"/>
              </a:solidFill>
            </a:endParaRPr>
          </a:p>
          <a:p>
            <a:pPr marL="0" indent="0" algn="ctr">
              <a:buNone/>
            </a:pPr>
            <a:r>
              <a:rPr lang="en-US" sz="1800" i="1" dirty="0">
                <a:sym typeface="Wingdings" panose="05000000000000000000" pitchFamily="2" charset="2"/>
              </a:rPr>
              <a:t>This is a crystallization of a double salt</a:t>
            </a:r>
            <a:endParaRPr lang="en-US" sz="1800" i="1" dirty="0"/>
          </a:p>
          <a:p>
            <a:pPr marL="0" indent="0">
              <a:buNone/>
              <a:tabLst>
                <a:tab pos="3432175" algn="l"/>
              </a:tabLst>
            </a:pPr>
            <a:r>
              <a:rPr lang="en-US" sz="2000" dirty="0">
                <a:solidFill>
                  <a:srgbClr val="00FF00"/>
                </a:solidFill>
              </a:rPr>
              <a:t>2 Al (</a:t>
            </a:r>
            <a:r>
              <a:rPr lang="en-US" sz="2000" i="1" dirty="0">
                <a:solidFill>
                  <a:srgbClr val="00FF00"/>
                </a:solidFill>
              </a:rPr>
              <a:t>s</a:t>
            </a:r>
            <a:r>
              <a:rPr lang="en-US" sz="2000" dirty="0">
                <a:solidFill>
                  <a:srgbClr val="00FF00"/>
                </a:solidFill>
              </a:rPr>
              <a:t>) + 2 KOH (</a:t>
            </a:r>
            <a:r>
              <a:rPr lang="en-US" sz="2000" i="1" dirty="0" err="1">
                <a:solidFill>
                  <a:srgbClr val="00FF00"/>
                </a:solidFill>
              </a:rPr>
              <a:t>aq</a:t>
            </a:r>
            <a:r>
              <a:rPr lang="en-US" sz="2000" dirty="0">
                <a:solidFill>
                  <a:srgbClr val="00FF00"/>
                </a:solidFill>
              </a:rPr>
              <a:t>) + 4 H</a:t>
            </a:r>
            <a:r>
              <a:rPr lang="en-US" sz="2000" baseline="-25000" dirty="0">
                <a:solidFill>
                  <a:srgbClr val="00FF00"/>
                </a:solidFill>
              </a:rPr>
              <a:t>2</a:t>
            </a:r>
            <a:r>
              <a:rPr lang="en-US" sz="2000" dirty="0">
                <a:solidFill>
                  <a:srgbClr val="00FF00"/>
                </a:solidFill>
              </a:rPr>
              <a:t>SO</a:t>
            </a:r>
            <a:r>
              <a:rPr lang="en-US" sz="2000" baseline="-25000" dirty="0">
                <a:solidFill>
                  <a:srgbClr val="00FF00"/>
                </a:solidFill>
              </a:rPr>
              <a:t>4</a:t>
            </a:r>
            <a:r>
              <a:rPr lang="en-US" sz="2000" dirty="0">
                <a:solidFill>
                  <a:srgbClr val="00FF00"/>
                </a:solidFill>
              </a:rPr>
              <a:t> (</a:t>
            </a:r>
            <a:r>
              <a:rPr lang="en-US" sz="2000" i="1" dirty="0" err="1">
                <a:solidFill>
                  <a:srgbClr val="00FF00"/>
                </a:solidFill>
              </a:rPr>
              <a:t>aq</a:t>
            </a:r>
            <a:r>
              <a:rPr lang="en-US" sz="2000" dirty="0">
                <a:solidFill>
                  <a:srgbClr val="00FF00"/>
                </a:solidFill>
              </a:rPr>
              <a:t>) + 22 H</a:t>
            </a:r>
            <a:r>
              <a:rPr lang="en-US" sz="2000" baseline="-25000" dirty="0">
                <a:solidFill>
                  <a:srgbClr val="00FF00"/>
                </a:solidFill>
              </a:rPr>
              <a:t>2</a:t>
            </a:r>
            <a:r>
              <a:rPr lang="en-US" sz="2000" dirty="0">
                <a:solidFill>
                  <a:srgbClr val="00FF00"/>
                </a:solidFill>
              </a:rPr>
              <a:t>O (</a:t>
            </a:r>
            <a:r>
              <a:rPr lang="en-US" sz="2000" i="1" dirty="0">
                <a:solidFill>
                  <a:srgbClr val="00FF00"/>
                </a:solidFill>
              </a:rPr>
              <a:t>l</a:t>
            </a:r>
            <a:r>
              <a:rPr lang="en-US" sz="2000" dirty="0">
                <a:solidFill>
                  <a:srgbClr val="00FF00"/>
                </a:solidFill>
              </a:rPr>
              <a:t>) 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</a:t>
            </a:r>
            <a:b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</a:b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	2 </a:t>
            </a:r>
            <a:r>
              <a:rPr lang="en-US" sz="2000" dirty="0" err="1">
                <a:solidFill>
                  <a:srgbClr val="00FF00"/>
                </a:solidFill>
                <a:sym typeface="Wingdings" panose="05000000000000000000" pitchFamily="2" charset="2"/>
              </a:rPr>
              <a:t>KAl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(SO</a:t>
            </a:r>
            <a:r>
              <a:rPr lang="en-US" sz="2000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4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)</a:t>
            </a:r>
            <a:r>
              <a:rPr lang="en-US" sz="2000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 • 12 H</a:t>
            </a:r>
            <a:r>
              <a:rPr lang="en-US" sz="2000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O (</a:t>
            </a:r>
            <a:r>
              <a:rPr lang="en-US" sz="2000" i="1" dirty="0">
                <a:solidFill>
                  <a:srgbClr val="00FF00"/>
                </a:solidFill>
                <a:sym typeface="Wingdings" panose="05000000000000000000" pitchFamily="2" charset="2"/>
              </a:rPr>
              <a:t>s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) + 3 H</a:t>
            </a:r>
            <a:r>
              <a:rPr lang="en-US" sz="2000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 (</a:t>
            </a:r>
            <a:r>
              <a:rPr lang="en-US" sz="2000" i="1" dirty="0">
                <a:solidFill>
                  <a:srgbClr val="00FF00"/>
                </a:solidFill>
                <a:sym typeface="Wingdings" panose="05000000000000000000" pitchFamily="2" charset="2"/>
              </a:rPr>
              <a:t>g</a:t>
            </a:r>
            <a:r>
              <a:rPr lang="en-US" sz="2000" dirty="0">
                <a:solidFill>
                  <a:srgbClr val="00FF00"/>
                </a:solidFill>
                <a:sym typeface="Wingdings" panose="05000000000000000000" pitchFamily="2" charset="2"/>
              </a:rPr>
              <a:t>)</a:t>
            </a:r>
          </a:p>
          <a:p>
            <a:pPr marL="0" indent="0" algn="ctr">
              <a:buNone/>
              <a:tabLst>
                <a:tab pos="3432175" algn="l"/>
              </a:tabLst>
            </a:pPr>
            <a:r>
              <a:rPr lang="en-US" sz="1800" i="1" dirty="0">
                <a:sym typeface="Wingdings" panose="05000000000000000000" pitchFamily="2" charset="2"/>
              </a:rPr>
              <a:t>This is the net reaction by combining all steps</a:t>
            </a:r>
            <a:endParaRPr lang="en-US" sz="1800" i="1" dirty="0"/>
          </a:p>
          <a:p>
            <a:pPr marL="0" indent="0">
              <a:buNone/>
              <a:tabLst>
                <a:tab pos="3432175" algn="l"/>
              </a:tabLst>
            </a:pPr>
            <a:endParaRPr lang="en-US" sz="2000" dirty="0">
              <a:solidFill>
                <a:srgbClr val="00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6380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30495-D935-FC4B-298C-778679B9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98413-3661-1176-CB1E-96C712529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87156"/>
            <a:ext cx="8421512" cy="830997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04F6C-99DD-3F76-E40F-99EAB1183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2259" y="1109610"/>
            <a:ext cx="8387645" cy="5437946"/>
          </a:xfrm>
        </p:spPr>
        <p:txBody>
          <a:bodyPr/>
          <a:lstStyle/>
          <a:p>
            <a:r>
              <a:rPr lang="en-US" dirty="0"/>
              <a:t>In these reactions, the product of one step is carried over as a reactant in the succeeding step</a:t>
            </a:r>
          </a:p>
          <a:p>
            <a:r>
              <a:rPr lang="en-US" dirty="0"/>
              <a:t>Many reaction types are involved, from a gas-evolving step to a precipitation to an acid-base neutralization and then to a crystallization of a double salt</a:t>
            </a:r>
          </a:p>
          <a:p>
            <a:r>
              <a:rPr lang="en-US" dirty="0"/>
              <a:t>A double salt is where a compound involves a combination or mixture of two metal cations, in this case potassium (K) and aluminum (Al) both countered with a sulfate anion (SO</a:t>
            </a:r>
            <a:r>
              <a:rPr lang="en-US" baseline="-25000" dirty="0"/>
              <a:t>4</a:t>
            </a:r>
            <a:r>
              <a:rPr lang="en-US" dirty="0"/>
              <a:t>)</a:t>
            </a:r>
          </a:p>
          <a:p>
            <a:r>
              <a:rPr lang="en-US" dirty="0"/>
              <a:t>There are many steps to pay careful attention to their execution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819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E249D-996C-45BB-DEB5-FC203DFE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FEC5-0BFA-0157-5F44-C47987652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87156"/>
            <a:ext cx="8421512" cy="830997"/>
          </a:xfrm>
        </p:spPr>
        <p:txBody>
          <a:bodyPr/>
          <a:lstStyle/>
          <a:p>
            <a:r>
              <a:rPr lang="en-US" dirty="0"/>
              <a:t>Reproducibility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9DFBB-4022-85EB-4492-BA54519DE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2259" y="1109610"/>
            <a:ext cx="8387645" cy="5437946"/>
          </a:xfrm>
        </p:spPr>
        <p:txBody>
          <a:bodyPr/>
          <a:lstStyle/>
          <a:p>
            <a:r>
              <a:rPr lang="en-US" dirty="0"/>
              <a:t>Instruments of all kinds do not always give a true reading just one time in use</a:t>
            </a:r>
          </a:p>
          <a:p>
            <a:r>
              <a:rPr lang="en-US" dirty="0"/>
              <a:t>Careful scientists will often want to get a mass on a balance not just once, but even THREE times to ensure reproducibility</a:t>
            </a:r>
          </a:p>
          <a:p>
            <a:r>
              <a:rPr lang="en-US" dirty="0"/>
              <a:t>I show on the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3815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3C777-AC05-5132-FF2B-F5A02DA5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9CB47-2ED6-F129-56DC-E0ADE3F3E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680A77-3A72-788B-6A53-1E27D08AE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22984"/>
            <a:ext cx="8421512" cy="830997"/>
          </a:xfrm>
        </p:spPr>
        <p:txBody>
          <a:bodyPr/>
          <a:lstStyle/>
          <a:p>
            <a:r>
              <a:rPr lang="en-US" dirty="0"/>
              <a:t>Equipment You Will Use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3D37E1F-6623-386E-390F-27A95E1D5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88" y="1073405"/>
            <a:ext cx="8805334" cy="5661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08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BA83F-7B22-8A01-2FE3-CCC1C22C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BB132-4F9B-3FA6-3604-1ACDFE9F4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B68387-E25A-7C7C-241B-25887E4E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Select a 150, 200, or 250 mL beaker and record its mass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Tear about 0.4 g aluminum foil into small pieces and place in beaker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Record the mass of beaker with foil pieces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Put name on the beaker with Sharpie</a:t>
            </a:r>
          </a:p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Reaction 1 (H</a:t>
            </a:r>
            <a:r>
              <a:rPr lang="en-US" b="1" i="1" baseline="-25000" dirty="0">
                <a:solidFill>
                  <a:srgbClr val="FFFF00"/>
                </a:solidFill>
              </a:rPr>
              <a:t>2</a:t>
            </a:r>
            <a:r>
              <a:rPr lang="en-US" b="1" i="1" dirty="0">
                <a:solidFill>
                  <a:srgbClr val="FFFF00"/>
                </a:solidFill>
              </a:rPr>
              <a:t> Gas Evolution) </a:t>
            </a:r>
            <a:r>
              <a:rPr lang="en-US" dirty="0"/>
              <a:t>(Step 5)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dirty="0"/>
              <a:t>In the fume hood, add 20 mL of 1.5 M KOH to the beaker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dirty="0"/>
              <a:t>The foil pieces should dissolve and the solution becomes black. It takes about 20 min for reaction to be complete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dirty="0"/>
              <a:t>While reaction occurs, start calculating theoretical yield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dirty="0"/>
              <a:t>If reaction slows, put beaker on a hot plate but be prepared to take beaker off the hot plate so it does not boil!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dirty="0"/>
              <a:t>Is there a gas produced? What is it?</a:t>
            </a:r>
          </a:p>
          <a:p>
            <a:pPr marL="457200" indent="-457200">
              <a:buFont typeface="+mj-lt"/>
              <a:buAutoNum type="arabicPeriod" startAt="5"/>
            </a:pPr>
            <a:endParaRPr lang="en-US" dirty="0"/>
          </a:p>
          <a:p>
            <a:pPr marL="457200" indent="-457200">
              <a:buFont typeface="+mj-lt"/>
              <a:buAutoNum type="arabicPeriod" startAt="5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654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54BB9-1B98-8D3C-0FC3-90E597E9A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9971A-9F8C-2075-2D91-36C912CCE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00831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08BB5F-3E5C-030D-C9EB-E73F2E031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822" y="777805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Reaction 2 (Precipitation)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dirty="0"/>
              <a:t>Into a 50 mL beaker, pour 7.5 mL of 6.0 M H</a:t>
            </a:r>
            <a:r>
              <a:rPr lang="en-US" baseline="-25000" dirty="0"/>
              <a:t>2</a:t>
            </a:r>
            <a:r>
              <a:rPr lang="en-US" dirty="0"/>
              <a:t>SO</a:t>
            </a:r>
            <a:r>
              <a:rPr lang="en-US" baseline="-25000" dirty="0"/>
              <a:t>4</a:t>
            </a:r>
            <a:r>
              <a:rPr lang="en-US" dirty="0"/>
              <a:t> from a 10 mL graduated cylinder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dirty="0"/>
              <a:t>While stirring the dissolved aluminum solution with a glass rod in the larger beaker, use a transfer pipet to transfer the acid solution to the aluminum solution DROPWISE. Make sure you stir well after each drop. Look for a greyish white precipitate</a:t>
            </a:r>
          </a:p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Reaction 3 (Acid-Base Neutralization)</a:t>
            </a:r>
          </a:p>
          <a:p>
            <a:pPr marL="457200" indent="-457200">
              <a:buFont typeface="+mj-lt"/>
              <a:buAutoNum type="arabicPeriod" startAt="8"/>
            </a:pPr>
            <a:r>
              <a:rPr lang="en-US" dirty="0"/>
              <a:t>Cover beaker with watch glass and warm solution on hot plate until the precipitate has dissolved. Be careful NOT to get it to hot and boil the solution!!</a:t>
            </a:r>
          </a:p>
          <a:p>
            <a:pPr marL="457200" indent="-457200">
              <a:buFont typeface="+mj-lt"/>
              <a:buAutoNum type="arabicPeriod" startAt="8"/>
            </a:pPr>
            <a:r>
              <a:rPr lang="en-US" sz="2000" dirty="0"/>
              <a:t>After full dissolution, let beaker cool for few minutes</a:t>
            </a:r>
          </a:p>
        </p:txBody>
      </p:sp>
    </p:spTree>
    <p:extLst>
      <p:ext uri="{BB962C8B-B14F-4D97-AF65-F5344CB8AC3E}">
        <p14:creationId xmlns:p14="http://schemas.microsoft.com/office/powerpoint/2010/main" val="3067616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32D0C-7402-3426-6596-0ABEFAEB7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3AF15-2468-9EFB-9A16-2872CA216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B07D76-840A-D542-614E-54E61F41D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457200" indent="-457200">
              <a:buFont typeface="+mj-lt"/>
              <a:buAutoNum type="arabicPeriod" startAt="10"/>
            </a:pPr>
            <a:r>
              <a:rPr lang="en-US" dirty="0"/>
              <a:t> Into a larger beaker set up an ice-water bath</a:t>
            </a:r>
          </a:p>
          <a:p>
            <a:pPr marL="457200" indent="-457200">
              <a:buFont typeface="+mj-lt"/>
              <a:buAutoNum type="arabicPeriod" startAt="10"/>
            </a:pPr>
            <a:r>
              <a:rPr lang="en-US" dirty="0"/>
              <a:t> Place the reaction beaker in the ice-water bath and let it sit for 15 min</a:t>
            </a:r>
          </a:p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Reaction 4 (Crystallization)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en-US" dirty="0"/>
              <a:t> Swirl beaker when crystal formation is noticed. If after 5 min crystals are not seen, scratch inside of beaker with glass rod to induce nucleation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en-US" dirty="0"/>
              <a:t> Into a separate small beaker, pour 30 mL of 50% ethanol and place in ice-water bath</a:t>
            </a:r>
          </a:p>
        </p:txBody>
      </p:sp>
    </p:spTree>
    <p:extLst>
      <p:ext uri="{BB962C8B-B14F-4D97-AF65-F5344CB8AC3E}">
        <p14:creationId xmlns:p14="http://schemas.microsoft.com/office/powerpoint/2010/main" val="3568630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8B226-1791-3B68-6C1E-4C70EFC72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5CBAA-80A1-D02A-6677-CB448DB7B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3BB77-026D-F103-0CFC-5802A72CA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457200" indent="-457200">
              <a:buFont typeface="+mj-lt"/>
              <a:buAutoNum type="arabicPeriod" startAt="14"/>
            </a:pPr>
            <a:r>
              <a:rPr lang="en-US" dirty="0"/>
              <a:t> Set up a vacuum filtration apparatus as shown</a:t>
            </a:r>
          </a:p>
          <a:p>
            <a:pPr marL="457200" indent="-457200">
              <a:buFont typeface="+mj-lt"/>
              <a:buAutoNum type="arabicPeriod" startAt="14"/>
            </a:pPr>
            <a:endParaRPr lang="en-US" dirty="0"/>
          </a:p>
          <a:p>
            <a:pPr marL="457200" indent="-457200">
              <a:buFont typeface="+mj-lt"/>
              <a:buAutoNum type="arabicPeriod" startAt="14"/>
            </a:pPr>
            <a:endParaRPr lang="en-US" dirty="0"/>
          </a:p>
          <a:p>
            <a:pPr marL="457200" indent="-457200">
              <a:buFont typeface="+mj-lt"/>
              <a:buAutoNum type="arabicPeriod" startAt="14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 startAt="15"/>
            </a:pPr>
            <a:r>
              <a:rPr lang="en-US" dirty="0"/>
              <a:t> 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dirty="0"/>
              <a:t>Apply the vacuum to the apparatus and wet the filter paper so that it adheres to funnel bottom with all the holes covered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dirty="0"/>
              <a:t>Swirl the beaker to loosen crystals and pour the crystals with solution on to the paper in the funnel</a:t>
            </a:r>
          </a:p>
          <a:p>
            <a:pPr marL="693738" lvl="1" indent="-457200">
              <a:buFont typeface="+mj-lt"/>
              <a:buAutoNum type="alphaLcPeriod"/>
            </a:pPr>
            <a:r>
              <a:rPr lang="en-US" dirty="0"/>
              <a:t>Pour ~10 mL of cold 50% EtOH into beaker and then swirl to wash out crystals into funnel while also slowly washing the crystals with the ethanol through the filter paper. Repeat ethanol washing of crystals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4DB9BB-0782-C244-D96E-1141227A3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165" y="1370599"/>
            <a:ext cx="4393894" cy="2058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603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6C51D-C39C-F648-474E-67FCB4E5D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9034F-5890-7535-73A3-637660DFF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8E1312-A97E-0F19-A378-FF87FEADA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457200" indent="-457200">
              <a:buFont typeface="+mj-lt"/>
              <a:buAutoNum type="arabicPeriod" startAt="15"/>
            </a:pPr>
            <a:r>
              <a:rPr lang="en-US" dirty="0"/>
              <a:t> </a:t>
            </a:r>
          </a:p>
          <a:p>
            <a:pPr marL="693738" lvl="1" indent="-457200">
              <a:buFont typeface="+mj-lt"/>
              <a:buAutoNum type="alphaLcPeriod" startAt="4"/>
            </a:pPr>
            <a:r>
              <a:rPr lang="en-US" dirty="0"/>
              <a:t>After washing is complete, let the crystals remain on the vacuum until they appear dried by the process. Prodding the crystals with a glass rod should prove how dry they are</a:t>
            </a:r>
          </a:p>
          <a:p>
            <a:pPr marL="457200" indent="-457200">
              <a:buFont typeface="+mj-lt"/>
              <a:buAutoNum type="arabicPeriod" startAt="15"/>
            </a:pPr>
            <a:r>
              <a:rPr lang="en-US" dirty="0"/>
              <a:t> Record the mass of a clean &amp; dry watch glass</a:t>
            </a:r>
          </a:p>
          <a:p>
            <a:pPr marL="457200" indent="-457200">
              <a:buFont typeface="+mj-lt"/>
              <a:buAutoNum type="arabicPeriod" startAt="15"/>
            </a:pPr>
            <a:r>
              <a:rPr lang="en-US" dirty="0"/>
              <a:t> Transfer the crystals to the watch glass. Now record the mass of the crystals + watch glass</a:t>
            </a:r>
          </a:p>
          <a:p>
            <a:pPr marL="457200" indent="-457200">
              <a:buFont typeface="+mj-lt"/>
              <a:buAutoNum type="arabicPeriod" startAt="15"/>
            </a:pPr>
            <a:r>
              <a:rPr lang="en-US" dirty="0"/>
              <a:t> Determine the yield of crystals and use to complete rest of report</a:t>
            </a:r>
          </a:p>
        </p:txBody>
      </p:sp>
    </p:spTree>
    <p:extLst>
      <p:ext uri="{BB962C8B-B14F-4D97-AF65-F5344CB8AC3E}">
        <p14:creationId xmlns:p14="http://schemas.microsoft.com/office/powerpoint/2010/main" val="2176094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C79B0-B384-1533-BACA-0EA95D408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2473B-F6C9-7A59-3DAB-7CBF32F68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copper sulfide product goes into solids waste container</a:t>
            </a:r>
          </a:p>
          <a:p>
            <a:r>
              <a:rPr lang="en-US" dirty="0"/>
              <a:t>WITHOUT AT ALL GETTING CRUCIBLE WET WITH ANY WATER, wipe crucible with dry paper towel</a:t>
            </a:r>
          </a:p>
          <a:p>
            <a:r>
              <a:rPr lang="en-US" dirty="0"/>
              <a:t>Use soapy water to clean the watch glass</a:t>
            </a:r>
          </a:p>
          <a:p>
            <a:r>
              <a:rPr lang="en-US" dirty="0"/>
              <a:t>Place all other items in appropriate locations</a:t>
            </a:r>
          </a:p>
        </p:txBody>
      </p:sp>
    </p:spTree>
    <p:extLst>
      <p:ext uri="{BB962C8B-B14F-4D97-AF65-F5344CB8AC3E}">
        <p14:creationId xmlns:p14="http://schemas.microsoft.com/office/powerpoint/2010/main" val="3469914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6FC53-DF32-CE64-DFB5-7C8645A52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FF693-5E30-D813-D298-9AB46F923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Example Data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4FB2EA-A75D-4ADA-B03B-899868167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Suppose A=23.7584 g, B=34.3532 g,</a:t>
            </a:r>
            <a:br>
              <a:rPr lang="en-US" dirty="0"/>
            </a:br>
            <a:r>
              <a:rPr lang="en-US" dirty="0"/>
              <a:t>C=37.5732 g. After the reaction, D=36.7841 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[B-A]=10.5948 g, [C-B]=3.2200 g,</a:t>
            </a:r>
            <a:br>
              <a:rPr lang="en-US" dirty="0"/>
            </a:br>
            <a:r>
              <a:rPr lang="en-US" dirty="0"/>
              <a:t>[D-A]=13.0257 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Copper reacted should be same as initial copper, because copper doesn’t go anywhere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Sulfur reacted should be [D-A]-[B-A]=13.0257 g - 10.5948 g= 2.4309 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Excess sulfur = [C-B]-2.4309 g = 3.2200 g – 2.4309 g =0.7891 g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Mass ratio </a:t>
            </a:r>
            <a:r>
              <a:rPr lang="en-US" sz="2000" dirty="0"/>
              <a:t>= </a:t>
            </a:r>
            <a:r>
              <a:rPr lang="en-US" sz="1800" dirty="0"/>
              <a:t>c</a:t>
            </a:r>
            <a:r>
              <a:rPr lang="en-US" sz="2000" dirty="0"/>
              <a:t>opper/sulfur reacted =</a:t>
            </a:r>
            <a:r>
              <a:rPr lang="en-US" dirty="0"/>
              <a:t> 10.5948 g/2.4309 g</a:t>
            </a:r>
            <a:br>
              <a:rPr lang="en-US" dirty="0"/>
            </a:br>
            <a:r>
              <a:rPr lang="en-US" dirty="0"/>
              <a:t>= 4.3583</a:t>
            </a:r>
          </a:p>
        </p:txBody>
      </p:sp>
    </p:spTree>
    <p:extLst>
      <p:ext uri="{BB962C8B-B14F-4D97-AF65-F5344CB8AC3E}">
        <p14:creationId xmlns:p14="http://schemas.microsoft.com/office/powerpoint/2010/main" val="20499099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05A24-FE88-1B37-6F21-A6AE688FD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3B395-B63F-4CB7-0692-A64546C69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Example Data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219B4E-9803-A35C-5535-085CE9953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740C57-66C8-9D16-1221-A0AFC18EE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97" y="1544665"/>
            <a:ext cx="6735115" cy="441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215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E76-6C83-5C3D-1993-CD9FD81DF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49933-F657-B170-F75F-3F78BE54C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Example Data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4ECB28-EDEE-E9D1-54B7-31E00F0E2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F8E285-EB06-1B1A-B544-3819458B0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351" y="952466"/>
            <a:ext cx="6398123" cy="55943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A8C20-C81E-BB9E-1959-86EF54B63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534" y="954890"/>
            <a:ext cx="6735115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227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FD685-E613-A90F-DA62-932291CF1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4EC2E-6D38-7FB1-95FD-543FEA32A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Example Data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CA847F-CA41-3B34-E4F2-252313136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477560-0A33-3764-B416-60AE20909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644" y="1096205"/>
            <a:ext cx="6465555" cy="545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68358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31907</TotalTime>
  <Words>1061</Words>
  <Application>Microsoft Office PowerPoint</Application>
  <PresentationFormat>On-screen Show (4:3)</PresentationFormat>
  <Paragraphs>87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Cambria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Introduction</vt:lpstr>
      <vt:lpstr>Background</vt:lpstr>
      <vt:lpstr>Background</vt:lpstr>
      <vt:lpstr>Reproducibility</vt:lpstr>
      <vt:lpstr>Equipment You Will Use</vt:lpstr>
      <vt:lpstr>Procedure</vt:lpstr>
      <vt:lpstr>Procedure</vt:lpstr>
      <vt:lpstr>Procedure</vt:lpstr>
      <vt:lpstr>Procedure</vt:lpstr>
      <vt:lpstr>Procedure</vt:lpstr>
      <vt:lpstr>Clean Up</vt:lpstr>
      <vt:lpstr>Example Data Analysis</vt:lpstr>
      <vt:lpstr>Example Data Analysis</vt:lpstr>
      <vt:lpstr>Example Data Analysis</vt:lpstr>
      <vt:lpstr>Example Data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1088</cp:revision>
  <cp:lastPrinted>2016-03-14T04:22:58Z</cp:lastPrinted>
  <dcterms:created xsi:type="dcterms:W3CDTF">2005-12-08T13:54:14Z</dcterms:created>
  <dcterms:modified xsi:type="dcterms:W3CDTF">2025-10-27T19:46:42Z</dcterms:modified>
</cp:coreProperties>
</file>