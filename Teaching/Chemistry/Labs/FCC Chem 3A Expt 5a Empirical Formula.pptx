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26"/>
  </p:notesMasterIdLst>
  <p:sldIdLst>
    <p:sldId id="608" r:id="rId2"/>
    <p:sldId id="609" r:id="rId3"/>
    <p:sldId id="616" r:id="rId4"/>
    <p:sldId id="624" r:id="rId5"/>
    <p:sldId id="619" r:id="rId6"/>
    <p:sldId id="613" r:id="rId7"/>
    <p:sldId id="610" r:id="rId8"/>
    <p:sldId id="625" r:id="rId9"/>
    <p:sldId id="633" r:id="rId10"/>
    <p:sldId id="617" r:id="rId11"/>
    <p:sldId id="622" r:id="rId12"/>
    <p:sldId id="626" r:id="rId13"/>
    <p:sldId id="612" r:id="rId14"/>
    <p:sldId id="627" r:id="rId15"/>
    <p:sldId id="628" r:id="rId16"/>
    <p:sldId id="629" r:id="rId17"/>
    <p:sldId id="630" r:id="rId18"/>
    <p:sldId id="631" r:id="rId19"/>
    <p:sldId id="632" r:id="rId20"/>
    <p:sldId id="634" r:id="rId21"/>
    <p:sldId id="635" r:id="rId22"/>
    <p:sldId id="636" r:id="rId23"/>
    <p:sldId id="637" r:id="rId24"/>
    <p:sldId id="638" r:id="rId2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00FF00"/>
    <a:srgbClr val="FF9933"/>
    <a:srgbClr val="FF0066"/>
    <a:srgbClr val="99FFCC"/>
    <a:srgbClr val="FFFFCC"/>
    <a:srgbClr val="339933"/>
    <a:srgbClr val="CCFFFF"/>
    <a:srgbClr val="FFFF9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63" d="100"/>
          <a:sy n="63" d="100"/>
        </p:scale>
        <p:origin x="84" y="1650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-463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503197" y="1295478"/>
            <a:ext cx="8111067" cy="769441"/>
          </a:xfrm>
        </p:spPr>
        <p:txBody>
          <a:bodyPr/>
          <a:lstStyle/>
          <a:p>
            <a:r>
              <a:rPr lang="en-US" sz="44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solidFill>
                  <a:srgbClr val="FFC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Mitch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Subtitle 2">
            <a:extLst>
              <a:ext uri="{FF2B5EF4-FFF2-40B4-BE49-F238E27FC236}">
                <a16:creationId xmlns:a16="http://schemas.microsoft.com/office/drawing/2014/main" id="{F076B50A-8DFC-B976-E589-F7B1C6233B99}"/>
              </a:ext>
            </a:extLst>
          </p:cNvPr>
          <p:cNvSpPr txBox="1">
            <a:spLocks/>
          </p:cNvSpPr>
          <p:nvPr/>
        </p:nvSpPr>
        <p:spPr bwMode="auto">
          <a:xfrm>
            <a:off x="542780" y="4096208"/>
            <a:ext cx="6793992" cy="1466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2000">
                <a:solidFill>
                  <a:schemeClr val="bg1"/>
                </a:solidFill>
                <a:latin typeface="+mn-lt"/>
              </a:defRPr>
            </a:lvl2pPr>
            <a:lvl3pPr marL="9144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1800">
                <a:solidFill>
                  <a:schemeClr val="bg1"/>
                </a:solidFill>
                <a:latin typeface="+mn-lt"/>
              </a:defRPr>
            </a:lvl3pPr>
            <a:lvl4pPr marL="137160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 typeface="Courier New" pitchFamily="49" charset="0"/>
              <a:buNone/>
              <a:defRPr sz="1600">
                <a:solidFill>
                  <a:schemeClr val="bg1"/>
                </a:solidFill>
                <a:latin typeface="+mn-lt"/>
              </a:defRPr>
            </a:lvl4pPr>
            <a:lvl5pPr marL="18288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bg1"/>
                </a:solidFill>
                <a:latin typeface="+mn-lt"/>
              </a:defRPr>
            </a:lvl5pPr>
            <a:lvl6pPr marL="22860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6pPr>
            <a:lvl7pPr marL="27432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7pPr>
            <a:lvl8pPr marL="32004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8pPr>
            <a:lvl9pPr marL="365760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9pPr>
          </a:lstStyle>
          <a:p>
            <a:endParaRPr lang="en-US" sz="4800" kern="0" dirty="0">
              <a:solidFill>
                <a:srgbClr val="CC99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D93987C-C3A6-9E17-4494-2A0E8AA68125}"/>
              </a:ext>
            </a:extLst>
          </p:cNvPr>
          <p:cNvSpPr txBox="1">
            <a:spLocks/>
          </p:cNvSpPr>
          <p:nvPr/>
        </p:nvSpPr>
        <p:spPr bwMode="auto">
          <a:xfrm>
            <a:off x="516466" y="2228750"/>
            <a:ext cx="8111067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600" i="1" kern="0" dirty="0">
                <a:solidFill>
                  <a:srgbClr val="CC99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 5a</a:t>
            </a:r>
          </a:p>
        </p:txBody>
      </p:sp>
      <p:sp>
        <p:nvSpPr>
          <p:cNvPr id="29" name="Title 3">
            <a:extLst>
              <a:ext uri="{FF2B5EF4-FFF2-40B4-BE49-F238E27FC236}">
                <a16:creationId xmlns:a16="http://schemas.microsoft.com/office/drawing/2014/main" id="{0F667B90-ADA0-D7AE-AC82-9C44B2A46AE5}"/>
              </a:ext>
            </a:extLst>
          </p:cNvPr>
          <p:cNvSpPr txBox="1">
            <a:spLocks/>
          </p:cNvSpPr>
          <p:nvPr/>
        </p:nvSpPr>
        <p:spPr bwMode="auto">
          <a:xfrm>
            <a:off x="490153" y="3730219"/>
            <a:ext cx="8111067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000" kern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Empirical Formula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0286-47AD-54C9-04A3-607B80CE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4315"/>
            <a:ext cx="8421512" cy="830997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C5B2E-5542-F5D6-CEA6-30C230FF4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65312"/>
            <a:ext cx="8387645" cy="52154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Observe reaction of solid magnesium with atmospheric oxygen to produce magnesium oxide</a:t>
            </a:r>
          </a:p>
          <a:p>
            <a:pPr marL="0" indent="0" algn="ctr">
              <a:buNone/>
            </a:pPr>
            <a:r>
              <a:rPr lang="en-US" dirty="0"/>
              <a:t>Mg (s) + O</a:t>
            </a:r>
            <a:r>
              <a:rPr lang="en-US" baseline="-25000" dirty="0"/>
              <a:t>2</a:t>
            </a:r>
            <a:r>
              <a:rPr lang="en-US" dirty="0"/>
              <a:t> (g)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Mg</a:t>
            </a:r>
            <a:r>
              <a:rPr lang="en-US" baseline="-25000" dirty="0" err="1">
                <a:sym typeface="Wingdings" panose="05000000000000000000" pitchFamily="2" charset="2"/>
              </a:rPr>
              <a:t>x</a:t>
            </a:r>
            <a:r>
              <a:rPr lang="en-US" dirty="0" err="1">
                <a:sym typeface="Wingdings" panose="05000000000000000000" pitchFamily="2" charset="2"/>
              </a:rPr>
              <a:t>O</a:t>
            </a:r>
            <a:r>
              <a:rPr lang="en-US" baseline="-25000" dirty="0" err="1">
                <a:sym typeface="Wingdings" panose="05000000000000000000" pitchFamily="2" charset="2"/>
              </a:rPr>
              <a:t>y</a:t>
            </a:r>
            <a:r>
              <a:rPr lang="en-US" dirty="0">
                <a:sym typeface="Wingdings" panose="05000000000000000000" pitchFamily="2" charset="2"/>
              </a:rPr>
              <a:t> (s)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Note the chemical reaction (equation) is not balanced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9FB390-91F4-867B-22A7-021A3DDC3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026" y="3795665"/>
            <a:ext cx="5836770" cy="2768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2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6BD6-F4FE-A7D4-2A37-C4EA7D32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8B19F-006B-7531-DD27-28B722C19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E4572-3706-EF53-95DE-248E030B0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The atom is the physical form of the element. Atoms of one type/identity will exist in very specific ratios with atoms of other elements to form compounds.</a:t>
            </a:r>
          </a:p>
          <a:p>
            <a:r>
              <a:rPr lang="en-US" sz="2000" dirty="0"/>
              <a:t>Compounds are generally of two types: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ionic</a:t>
            </a:r>
            <a:r>
              <a:rPr lang="en-US" sz="2000" dirty="0"/>
              <a:t> or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molecular</a:t>
            </a:r>
            <a:endParaRPr lang="en-US" sz="2000" dirty="0"/>
          </a:p>
          <a:p>
            <a:r>
              <a:rPr lang="en-US" dirty="0">
                <a:solidFill>
                  <a:srgbClr val="00FF00"/>
                </a:solidFill>
              </a:rPr>
              <a:t>Ionic compounds </a:t>
            </a:r>
            <a:r>
              <a:rPr lang="en-US" dirty="0"/>
              <a:t>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solid form </a:t>
            </a:r>
            <a:r>
              <a:rPr lang="en-US" dirty="0"/>
              <a:t>are characterized by a </a:t>
            </a:r>
            <a:r>
              <a:rPr lang="en-US" dirty="0">
                <a:solidFill>
                  <a:srgbClr val="00FF00"/>
                </a:solidFill>
              </a:rPr>
              <a:t>crystal lattice of ions </a:t>
            </a:r>
            <a:r>
              <a:rPr lang="en-US" dirty="0"/>
              <a:t>held by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strong electrostatic forces</a:t>
            </a:r>
            <a:r>
              <a:rPr lang="en-US" dirty="0"/>
              <a:t>, resulting in </a:t>
            </a:r>
            <a:r>
              <a:rPr lang="en-US" dirty="0">
                <a:solidFill>
                  <a:srgbClr val="FFFF00"/>
                </a:solidFill>
              </a:rPr>
              <a:t>hardness</a:t>
            </a:r>
            <a:r>
              <a:rPr lang="en-US" dirty="0"/>
              <a:t>, </a:t>
            </a:r>
            <a:r>
              <a:rPr lang="en-US" dirty="0">
                <a:solidFill>
                  <a:srgbClr val="FFFF00"/>
                </a:solidFill>
              </a:rPr>
              <a:t>high melting points</a:t>
            </a:r>
            <a:r>
              <a:rPr lang="en-US" dirty="0"/>
              <a:t>, and </a:t>
            </a:r>
            <a:r>
              <a:rPr lang="en-US" dirty="0">
                <a:solidFill>
                  <a:srgbClr val="FFFF00"/>
                </a:solidFill>
              </a:rPr>
              <a:t>brittleness</a:t>
            </a:r>
          </a:p>
          <a:p>
            <a:r>
              <a:rPr lang="en-US" dirty="0">
                <a:solidFill>
                  <a:srgbClr val="00FF00"/>
                </a:solidFill>
              </a:rPr>
              <a:t>Molecular compounds </a:t>
            </a:r>
            <a:r>
              <a:rPr lang="en-US" dirty="0"/>
              <a:t>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solid form </a:t>
            </a:r>
            <a:r>
              <a:rPr lang="en-US" dirty="0"/>
              <a:t>consist of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discrete molecules</a:t>
            </a:r>
            <a:r>
              <a:rPr lang="en-US" dirty="0"/>
              <a:t> held by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weaker intermolecular forces</a:t>
            </a:r>
            <a:r>
              <a:rPr lang="en-US" dirty="0"/>
              <a:t>, leading to </a:t>
            </a:r>
            <a:r>
              <a:rPr lang="en-US" dirty="0">
                <a:solidFill>
                  <a:srgbClr val="FFFF00"/>
                </a:solidFill>
              </a:rPr>
              <a:t>softer structures</a:t>
            </a:r>
            <a:r>
              <a:rPr lang="en-US" dirty="0"/>
              <a:t>, </a:t>
            </a:r>
            <a:r>
              <a:rPr lang="en-US" dirty="0">
                <a:solidFill>
                  <a:srgbClr val="FFFF00"/>
                </a:solidFill>
              </a:rPr>
              <a:t>lower melting points</a:t>
            </a:r>
            <a:r>
              <a:rPr lang="en-US" dirty="0"/>
              <a:t>, and </a:t>
            </a:r>
            <a:r>
              <a:rPr lang="en-US" dirty="0">
                <a:solidFill>
                  <a:srgbClr val="FFFF00"/>
                </a:solidFill>
              </a:rPr>
              <a:t>diverse physical states</a:t>
            </a:r>
            <a:endParaRPr lang="en-US" sz="2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638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185EA-87F0-3B6D-99DD-396296AF4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CD681-A798-F167-1596-B2E4C7BAF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E4565-89C3-5464-3997-F83512000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Ionic compounds </a:t>
            </a:r>
            <a:r>
              <a:rPr lang="en-US" dirty="0"/>
              <a:t>that are crystal solids consist of a large network of </a:t>
            </a:r>
            <a:r>
              <a:rPr lang="en-US" dirty="0">
                <a:solidFill>
                  <a:srgbClr val="FFFF00"/>
                </a:solidFill>
              </a:rPr>
              <a:t>cations</a:t>
            </a:r>
            <a:r>
              <a:rPr lang="en-US" dirty="0"/>
              <a:t> and </a:t>
            </a:r>
            <a:r>
              <a:rPr lang="en-US" dirty="0">
                <a:solidFill>
                  <a:srgbClr val="FFFF00"/>
                </a:solidFill>
              </a:rPr>
              <a:t>anions</a:t>
            </a:r>
            <a:r>
              <a:rPr lang="en-US" dirty="0"/>
              <a:t> in a </a:t>
            </a:r>
            <a:r>
              <a:rPr lang="en-US" dirty="0">
                <a:solidFill>
                  <a:srgbClr val="FFFF00"/>
                </a:solidFill>
              </a:rPr>
              <a:t>formula unit</a:t>
            </a:r>
            <a:r>
              <a:rPr lang="en-US" dirty="0"/>
              <a:t>, with the ratio of elements being 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empirical formula</a:t>
            </a:r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Molecular formula</a:t>
            </a:r>
            <a:r>
              <a:rPr lang="en-US" dirty="0"/>
              <a:t> of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molecular compound </a:t>
            </a:r>
            <a:r>
              <a:rPr lang="en-US" dirty="0"/>
              <a:t>will be a multiple of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empirical formula</a:t>
            </a:r>
          </a:p>
          <a:p>
            <a:r>
              <a:rPr lang="en-US" dirty="0"/>
              <a:t>For this experiment, the goal is to determine empirical formula of an oxide of magnesium (</a:t>
            </a:r>
            <a:r>
              <a:rPr lang="en-US" dirty="0" err="1"/>
              <a:t>Mg</a:t>
            </a:r>
            <a:r>
              <a:rPr lang="en-US" baseline="-25000" dirty="0" err="1"/>
              <a:t>x</a:t>
            </a:r>
            <a:r>
              <a:rPr lang="en-US" dirty="0" err="1"/>
              <a:t>O</a:t>
            </a:r>
            <a:r>
              <a:rPr lang="en-US" baseline="-25000" dirty="0" err="1"/>
              <a:t>y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2067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2FE4-97AA-B2E9-42B8-03DB93752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0DC03-7F7A-43A0-5F01-C7DF8C70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Variation/Error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A638F-692D-18DA-EAD0-6DAF5A230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every experiment before the data is collected and the reaction done, it is useful to anticipate what might influence your results different from the ideal. For this experiment: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Incomplete combustion: perhaps only magnesium on surface of metal solid reacts with oxygen</a:t>
            </a:r>
          </a:p>
          <a:p>
            <a:pPr marL="236538" lvl="1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Break up ash to expose unreacted metal, reheat to avoid this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 atmosphere is 78% N</a:t>
            </a:r>
            <a:r>
              <a:rPr lang="en-US" baseline="-25000" dirty="0"/>
              <a:t>2</a:t>
            </a:r>
            <a:r>
              <a:rPr lang="en-US" dirty="0"/>
              <a:t> and 21% O</a:t>
            </a:r>
            <a:r>
              <a:rPr lang="en-US" baseline="-25000" dirty="0"/>
              <a:t>2</a:t>
            </a:r>
            <a:r>
              <a:rPr lang="en-US" dirty="0"/>
              <a:t>, and at very high temperatures (2000°C), some Mg can react with N</a:t>
            </a:r>
            <a:r>
              <a:rPr lang="en-US" baseline="-25000" dirty="0"/>
              <a:t>2: </a:t>
            </a:r>
            <a:r>
              <a:rPr lang="en-US" dirty="0">
                <a:solidFill>
                  <a:srgbClr val="FFFF00"/>
                </a:solidFill>
              </a:rPr>
              <a:t>3 Mg (</a:t>
            </a:r>
            <a:r>
              <a:rPr lang="en-US" i="1" dirty="0">
                <a:solidFill>
                  <a:srgbClr val="FFFF00"/>
                </a:solidFill>
              </a:rPr>
              <a:t>s</a:t>
            </a:r>
            <a:r>
              <a:rPr lang="en-US" dirty="0">
                <a:solidFill>
                  <a:srgbClr val="FFFF00"/>
                </a:solidFill>
              </a:rPr>
              <a:t>) + N</a:t>
            </a:r>
            <a:r>
              <a:rPr lang="en-US" baseline="-25000" dirty="0">
                <a:solidFill>
                  <a:srgbClr val="FFFF00"/>
                </a:solidFill>
              </a:rPr>
              <a:t>2</a:t>
            </a:r>
            <a:r>
              <a:rPr lang="en-US" dirty="0">
                <a:solidFill>
                  <a:srgbClr val="FFFF00"/>
                </a:solidFill>
              </a:rPr>
              <a:t> (</a:t>
            </a:r>
            <a:r>
              <a:rPr lang="en-US" i="1" dirty="0">
                <a:solidFill>
                  <a:srgbClr val="FFFF00"/>
                </a:solidFill>
              </a:rPr>
              <a:t>g</a:t>
            </a:r>
            <a:r>
              <a:rPr lang="en-US" dirty="0">
                <a:solidFill>
                  <a:srgbClr val="FFFF00"/>
                </a:solidFill>
              </a:rPr>
              <a:t>)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 Mg</a:t>
            </a:r>
            <a:r>
              <a:rPr lang="en-US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N</a:t>
            </a:r>
            <a:r>
              <a:rPr lang="en-US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FF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)</a:t>
            </a:r>
            <a:endParaRPr lang="en-US" dirty="0">
              <a:solidFill>
                <a:srgbClr val="FFFF00"/>
              </a:solidFill>
            </a:endParaRPr>
          </a:p>
          <a:p>
            <a:pPr marL="236538" lvl="1" indent="0">
              <a:buNone/>
            </a:pPr>
            <a:r>
              <a:rPr lang="en-US" dirty="0"/>
              <a:t>Adding water to magnesium nitride would produce ammonia gas, but it is probably not enough to detect its odor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	Mg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dirty="0">
                <a:solidFill>
                  <a:srgbClr val="FFC000"/>
                </a:solidFill>
              </a:rPr>
              <a:t>N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 (s) + 6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(l)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3 Mg(OH)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NH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endParaRPr lang="en-US" dirty="0">
              <a:solidFill>
                <a:srgbClr val="FFC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309167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C777-AC05-5132-FF2B-F5A02DA5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9CB47-2ED6-F129-56DC-E0ADE3F3E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80A77-3A72-788B-6A53-1E27D08AE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22984"/>
            <a:ext cx="8421512" cy="830997"/>
          </a:xfrm>
        </p:spPr>
        <p:txBody>
          <a:bodyPr/>
          <a:lstStyle/>
          <a:p>
            <a:r>
              <a:rPr lang="en-US" dirty="0"/>
              <a:t>Equipment You Will Use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3D37E1F-6623-386E-390F-27A95E1D5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88" y="1073405"/>
            <a:ext cx="8805334" cy="566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08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A83F-7B22-8A01-2FE3-CCC1C22C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B132-4F9B-3FA6-3604-1ACDFE9F4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b="1" dirty="0"/>
              <a:t>Lab Safety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68387-E25A-7C7C-241B-25887E4E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r>
              <a:rPr lang="en-US" sz="2800" b="1" dirty="0"/>
              <a:t>Goggles</a:t>
            </a:r>
          </a:p>
          <a:p>
            <a:r>
              <a:rPr lang="en-US" sz="2800" b="1" dirty="0"/>
              <a:t>Correct Laboratory Coat</a:t>
            </a:r>
          </a:p>
          <a:p>
            <a:r>
              <a:rPr lang="en-US" sz="2800" b="1" dirty="0"/>
              <a:t>Gloves (nitrile of proper size)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dirty="0"/>
              <a:t>Magnesium turnings/shavings can burn hot and can possibly burn through gloves, so you will keep your gloved hands a very respectable distance from crucible and use tongs to hold any crucible that has a burning reaction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Magnesium can burn BRIGHTLY so do not look directly at burning Mg for any long time</a:t>
            </a:r>
          </a:p>
        </p:txBody>
      </p:sp>
    </p:spTree>
    <p:extLst>
      <p:ext uri="{BB962C8B-B14F-4D97-AF65-F5344CB8AC3E}">
        <p14:creationId xmlns:p14="http://schemas.microsoft.com/office/powerpoint/2010/main" val="3952654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EC385-EB8D-F3F7-6818-A8FFA5746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8B60B-C857-C153-59FF-D5F9F535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D4F347-FEE9-0FFD-4ACD-CE77BE850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Cleaning the Crucible  </a:t>
            </a:r>
            <a:r>
              <a:rPr lang="en-US" sz="28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(Yes, we’ve done this before)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FFC000"/>
                </a:solidFill>
              </a:rPr>
              <a:t>NO WATER—crucible not to be cleaned with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If crucible dirty, use small steel wool piece to scrape out solids. Wipe with dry paper towel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Put crucible on stand and heat with blue-coned flame until slightly red hot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 tongs to set crucible on wire mesh and let cool to room temperature (~5 minutes</a:t>
            </a:r>
            <a:r>
              <a:rPr lang="en-US" sz="2800" dirty="0"/>
              <a:t>)</a:t>
            </a:r>
          </a:p>
          <a:p>
            <a:pPr marL="0" indent="0">
              <a:buNone/>
            </a:pPr>
            <a:r>
              <a:rPr lang="en-US" sz="2800" dirty="0"/>
              <a:t>DO NOT SET ANY </a:t>
            </a:r>
            <a:r>
              <a:rPr lang="en-US" sz="3200" b="1" dirty="0">
                <a:solidFill>
                  <a:srgbClr val="FF0066"/>
                </a:solidFill>
              </a:rPr>
              <a:t>HOT</a:t>
            </a:r>
            <a:r>
              <a:rPr lang="en-US" sz="2800" dirty="0"/>
              <a:t> CRUCIBLE ON COUNTERTOP OR ON PAPER OR THEY CAN BURN!</a:t>
            </a:r>
          </a:p>
        </p:txBody>
      </p:sp>
    </p:spTree>
    <p:extLst>
      <p:ext uri="{BB962C8B-B14F-4D97-AF65-F5344CB8AC3E}">
        <p14:creationId xmlns:p14="http://schemas.microsoft.com/office/powerpoint/2010/main" val="3915822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9645C-003B-44C0-7AB9-F37C2AD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72A66-3E27-6409-5410-71BDA518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3BD49-DCCD-55F6-C579-61651B2E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3412483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Setup for crucible heating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Just as in a previous experiment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FEEB6-1DD2-0A83-0084-773BE396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016" y="468402"/>
            <a:ext cx="5297531" cy="620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22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46B47-6540-F52F-1F64-854396E70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2263F-7C9A-1678-6FE0-453CEF240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3BDB66-1E78-B72D-677D-D6B5050E2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Before Reaction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Determine mass of empty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crucible</a:t>
            </a:r>
            <a:r>
              <a:rPr lang="en-US" dirty="0"/>
              <a:t> </a:t>
            </a:r>
            <a:r>
              <a:rPr lang="en-US" b="1" dirty="0">
                <a:solidFill>
                  <a:srgbClr val="FF9933"/>
                </a:solidFill>
              </a:rPr>
              <a:t>AND NOT THE LID!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b="1" dirty="0"/>
              <a:t>All digits of the balance</a:t>
            </a:r>
            <a:endParaRPr lang="en-US" b="1" dirty="0">
              <a:solidFill>
                <a:srgbClr val="FF9933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On glassine paper, use a scoopula to obtain</a:t>
            </a:r>
            <a:br>
              <a:rPr lang="en-US" dirty="0"/>
            </a:b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0.10</a:t>
            </a:r>
            <a:r>
              <a:rPr lang="en-US" dirty="0"/>
              <a:t> to 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0.15</a:t>
            </a:r>
            <a:r>
              <a:rPr lang="en-US" dirty="0"/>
              <a:t> 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</a:t>
            </a:r>
            <a:r>
              <a:rPr lang="en-US" dirty="0"/>
              <a:t> </a:t>
            </a:r>
            <a:r>
              <a:rPr lang="en-US" dirty="0">
                <a:solidFill>
                  <a:srgbClr val="FFFF00"/>
                </a:solidFill>
              </a:rPr>
              <a:t>Mg turnings </a:t>
            </a:r>
            <a:r>
              <a:rPr lang="en-US" dirty="0"/>
              <a:t>and transfer to crucible</a:t>
            </a:r>
            <a:endParaRPr lang="en-US" dirty="0">
              <a:solidFill>
                <a:srgbClr val="FFFF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Record mass of Mg on tared balance (NO LID)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 the fume hood as for previous experiment, set up the stand with iron right, clay triangle, Bunsen burner with gas hose connected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Strike the gas to a flame &amp; adjust the burner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Have the wire mesh ready to set the crucible on it for cooling</a:t>
            </a:r>
          </a:p>
        </p:txBody>
      </p:sp>
    </p:spTree>
    <p:extLst>
      <p:ext uri="{BB962C8B-B14F-4D97-AF65-F5344CB8AC3E}">
        <p14:creationId xmlns:p14="http://schemas.microsoft.com/office/powerpoint/2010/main" val="37892767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32430-C568-9444-018A-4A293518D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52173-3E63-7A53-DF9E-053FCE100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45A565-8AD4-F37F-9436-FAD0B19DA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Reaction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Place lid on crucible </a:t>
            </a:r>
            <a:r>
              <a:rPr lang="en-US" b="1" dirty="0">
                <a:solidFill>
                  <a:srgbClr val="FFFF00"/>
                </a:solidFill>
              </a:rPr>
              <a:t>slightly ajar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Carefully hold or set the Bunsen burner to burn the magnesium. Do this for about 5 minutes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Take the lid off, which lets more air (oxygen) 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Continue to heat for another 15 min, but be prepared to put lid back on ajar temporarily if more “flaring” occurs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Let crucible cool on wire mesh about 5 minutes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MAKING SURE crucible has cooled, record mass of the reaction on balance </a:t>
            </a:r>
            <a:r>
              <a:rPr lang="en-US" dirty="0"/>
              <a:t>(Post-reaction reading #1)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Reheat crucible (NO LID) for 10 min more and let cool. Record mass (Post-reaction reading #2)</a:t>
            </a:r>
          </a:p>
          <a:p>
            <a:pPr marL="457200" indent="-457200">
              <a:buFont typeface="+mj-lt"/>
              <a:buAutoNum type="arabicPeriod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43315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3C94-C17D-CD23-D51C-DB6481B6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1ED07-F2F6-06C7-E52F-D44D3D4FA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80F9EF-0A83-034E-1470-04DE50094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sz="2800" i="1" dirty="0">
                <a:solidFill>
                  <a:srgbClr val="00FF00"/>
                </a:solidFill>
              </a:rPr>
              <a:t>Post-Reaction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en-US" dirty="0"/>
              <a:t>If the difference between Reading #1 and #2 are within ±0.001 g, proceed with the results. Use the GREATER value of the two mass readings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en-US" sz="2000" dirty="0"/>
              <a:t>If the two readings have differences larger than 0.001 g, repeat the heating step to get the difference down. Magnesium oxide is a white powder, but could be light gray because of impurities</a:t>
            </a:r>
          </a:p>
          <a:p>
            <a:pPr marL="457200" indent="-457200">
              <a:buFont typeface="+mj-lt"/>
              <a:buAutoNum type="arabicPeriod" startAt="8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31736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C79B0-B384-1533-BACA-0EA95D40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473B-F6C9-7A59-3DAB-7CBF32F68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magnesium oxide product goes in the Solid Waste container</a:t>
            </a:r>
          </a:p>
          <a:p>
            <a:r>
              <a:rPr lang="en-US" dirty="0"/>
              <a:t>WITHOUT AT ALL GETTING CRUCIBLE WET WITH ANY WATER, wipe crucible with dry paper towel or use steel wool to clean</a:t>
            </a:r>
          </a:p>
        </p:txBody>
      </p:sp>
    </p:spTree>
    <p:extLst>
      <p:ext uri="{BB962C8B-B14F-4D97-AF65-F5344CB8AC3E}">
        <p14:creationId xmlns:p14="http://schemas.microsoft.com/office/powerpoint/2010/main" val="3469914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053F-55EE-98BB-F6F0-23BD124A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E920-1ACB-0ABB-F5DD-8722E73A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32B22C-47ED-F1EB-2CEE-BF9B01CA3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r>
              <a:rPr lang="en-US" dirty="0"/>
              <a:t>All mass readings in Data should be ALL the digits of the balance. All quantities should be numbers with units (g)</a:t>
            </a:r>
          </a:p>
          <a:p>
            <a:r>
              <a:rPr lang="en-US" dirty="0"/>
              <a:t>If your “2</a:t>
            </a:r>
            <a:r>
              <a:rPr lang="en-US" baseline="30000" dirty="0"/>
              <a:t>nd</a:t>
            </a:r>
            <a:r>
              <a:rPr lang="en-US" dirty="0"/>
              <a:t> weighing”</a:t>
            </a:r>
            <a:br>
              <a:rPr lang="en-US" dirty="0"/>
            </a:br>
            <a:r>
              <a:rPr lang="en-US" dirty="0"/>
              <a:t>required reheating to get a</a:t>
            </a:r>
            <a:br>
              <a:rPr lang="en-US" dirty="0"/>
            </a:br>
            <a:r>
              <a:rPr lang="en-US" dirty="0"/>
              <a:t>“3</a:t>
            </a:r>
            <a:r>
              <a:rPr lang="en-US" baseline="30000" dirty="0"/>
              <a:t>rd</a:t>
            </a:r>
            <a:r>
              <a:rPr lang="en-US" dirty="0"/>
              <a:t> weighing” and even more</a:t>
            </a:r>
            <a:br>
              <a:rPr lang="en-US" dirty="0"/>
            </a:br>
            <a:r>
              <a:rPr lang="en-US" dirty="0"/>
              <a:t>then you should have a </a:t>
            </a:r>
            <a:br>
              <a:rPr lang="en-US" dirty="0"/>
            </a:br>
            <a:r>
              <a:rPr lang="en-US" dirty="0"/>
              <a:t>“first weighing” and</a:t>
            </a:r>
            <a:br>
              <a:rPr lang="en-US" dirty="0"/>
            </a:br>
            <a:r>
              <a:rPr lang="en-US" dirty="0"/>
              <a:t>“last weighing”</a:t>
            </a:r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374BCB-DD22-0109-D88D-58C4CF70D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241" y="2540833"/>
            <a:ext cx="3466341" cy="400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60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9CC3-4843-6CAB-B657-D3A449E9E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49881-BF84-A838-244A-C9A5FB80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My Open Math Form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280E5C-EEA7-E43E-019A-F46B07C4D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r>
              <a:rPr lang="en-US" dirty="0"/>
              <a:t>The Canvas app contains an Assignment (check Modules too) for Experiment 5a</a:t>
            </a:r>
          </a:p>
          <a:p>
            <a:r>
              <a:rPr lang="en-US" dirty="0"/>
              <a:t>This contains a form you can use to assist</a:t>
            </a:r>
            <a:br>
              <a:rPr lang="en-US" dirty="0"/>
            </a:br>
            <a:r>
              <a:rPr lang="en-US" dirty="0"/>
              <a:t>in your data analysis</a:t>
            </a:r>
          </a:p>
          <a:p>
            <a:pPr marL="231775" lvl="1" indent="0">
              <a:buNone/>
            </a:pPr>
            <a:r>
              <a:rPr lang="en-US" dirty="0"/>
              <a:t>The form should not be connected to the Gradebook</a:t>
            </a:r>
          </a:p>
          <a:p>
            <a:pPr marL="338137" indent="-342900"/>
            <a:r>
              <a:rPr lang="en-US" dirty="0"/>
              <a:t>The form will not be able to help you answer the thought questions (#5 and #6 on the online form, Post-Lab questions #2 and #3 in the printed Chem 3A Lab manual)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answer those questions, consider what you have learned in lecture and reading the book</a:t>
            </a:r>
          </a:p>
          <a:p>
            <a:pPr marL="231775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166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F4205-B483-D8AB-EBD2-19A103F49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2071-77D6-9D61-A045-8C4C37455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Results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2DDD6-E250-ED51-F50B-0D11C285E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r>
              <a:rPr lang="en-US" dirty="0"/>
              <a:t>All calculations should show number values with proper significant digits (for multiplication/division operations) and decimal places (for addition/subtraction operations)</a:t>
            </a:r>
          </a:p>
          <a:p>
            <a:r>
              <a:rPr lang="en-US" dirty="0"/>
              <a:t>Remember to use the GREATEST / HIGHEST value of any multiple mass readings you took in the post-reaction material</a:t>
            </a:r>
          </a:p>
        </p:txBody>
      </p:sp>
    </p:spTree>
    <p:extLst>
      <p:ext uri="{BB962C8B-B14F-4D97-AF65-F5344CB8AC3E}">
        <p14:creationId xmlns:p14="http://schemas.microsoft.com/office/powerpoint/2010/main" val="2091874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B4A0A-2AC5-CE03-A78D-3EDB79DC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1693555-573F-4A6A-48D4-44D226801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200" y="170930"/>
            <a:ext cx="5651839" cy="654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2856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B5AE7-021B-953A-12DC-E02B6B6E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8E3177-DF36-8CF3-B369-2E2AAB94E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0"/>
            <a:ext cx="4514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170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7FB0B-5084-270A-9012-F979A0C1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7FA81ED-BF63-8EDD-4E85-CF226BF22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739105"/>
            <a:ext cx="4474564" cy="5119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B4D01A8-35BC-8276-E625-5D436BF45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0" y="1311564"/>
            <a:ext cx="4241369" cy="268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73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0DFA4-86C6-0848-9571-ABF5DC929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00E29-E7B0-3E04-7241-A862BBA8F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7686A8-68C4-1245-D510-2499CD5A2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55" y="1819422"/>
            <a:ext cx="8183880" cy="364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2274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A7923-A521-F12A-C976-7A18C059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AEE33-1A2E-DAAB-C026-C62E4038E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8D2DC-B159-B3DC-ABB4-328DF2C47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142" y="1370031"/>
            <a:ext cx="7329596" cy="5297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0975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7EF21-4623-0267-5ECA-8170D88EA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09296-5523-3988-47D3-D47182825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68579"/>
            <a:ext cx="8421512" cy="830997"/>
          </a:xfrm>
        </p:spPr>
        <p:txBody>
          <a:bodyPr/>
          <a:lstStyle/>
          <a:p>
            <a:r>
              <a:rPr lang="en-US" dirty="0"/>
              <a:t>Example Data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FCD700-3546-97DC-9D8C-40364DD21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1830" y="1110539"/>
            <a:ext cx="4227956" cy="5747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109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187BC-6144-48C4-45E6-3542607F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A8320-7725-7804-C0B8-9BC34494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68579"/>
            <a:ext cx="8421512" cy="830997"/>
          </a:xfrm>
        </p:spPr>
        <p:txBody>
          <a:bodyPr/>
          <a:lstStyle/>
          <a:p>
            <a:r>
              <a:rPr lang="en-US" dirty="0"/>
              <a:t>Example Data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58DA2F-69C5-B170-F33C-1C2BF5D17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543" y="1425314"/>
            <a:ext cx="6256334" cy="526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884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B0DB5-A238-1A31-21F3-EF940E13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E53C1-7B3A-2DDD-38C6-25EB4F3D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68579"/>
            <a:ext cx="8421512" cy="830997"/>
          </a:xfrm>
        </p:spPr>
        <p:txBody>
          <a:bodyPr/>
          <a:lstStyle/>
          <a:p>
            <a:r>
              <a:rPr lang="en-US" dirty="0"/>
              <a:t>Example Data Analysis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3E004-403C-CC33-72C5-69DD38F63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40" y="999576"/>
            <a:ext cx="5641362" cy="45173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BB1A70-B491-2187-4DDF-302DC50E3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911" y="1830573"/>
            <a:ext cx="5022449" cy="277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69244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30976</TotalTime>
  <Words>1070</Words>
  <Application>Microsoft Office PowerPoint</Application>
  <PresentationFormat>On-screen Show (4:3)</PresentationFormat>
  <Paragraphs>85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Introduction</vt:lpstr>
      <vt:lpstr>Background</vt:lpstr>
      <vt:lpstr>Background</vt:lpstr>
      <vt:lpstr>Experimental Variation/Error</vt:lpstr>
      <vt:lpstr>Equipment You Will Use</vt:lpstr>
      <vt:lpstr>Lab Safety</vt:lpstr>
      <vt:lpstr>Procedure</vt:lpstr>
      <vt:lpstr>Procedure</vt:lpstr>
      <vt:lpstr>Procedure</vt:lpstr>
      <vt:lpstr>Procedure</vt:lpstr>
      <vt:lpstr>Procedure</vt:lpstr>
      <vt:lpstr>Clean Up</vt:lpstr>
      <vt:lpstr>Data</vt:lpstr>
      <vt:lpstr>My Open Math Form</vt:lpstr>
      <vt:lpstr>Results</vt:lpstr>
      <vt:lpstr>PowerPoint Presentation</vt:lpstr>
      <vt:lpstr>PowerPoint Presentation</vt:lpstr>
      <vt:lpstr>PowerPoint Presentation</vt:lpstr>
      <vt:lpstr>Example Data Analysis</vt:lpstr>
      <vt:lpstr>Example Data Analysis</vt:lpstr>
      <vt:lpstr>Example Data Analysis</vt:lpstr>
      <vt:lpstr>Example Data Analysis</vt:lpstr>
      <vt:lpstr>Example Data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1060</cp:revision>
  <cp:lastPrinted>2016-03-14T04:22:58Z</cp:lastPrinted>
  <dcterms:created xsi:type="dcterms:W3CDTF">2005-12-08T13:54:14Z</dcterms:created>
  <dcterms:modified xsi:type="dcterms:W3CDTF">2025-10-27T20:45:20Z</dcterms:modified>
</cp:coreProperties>
</file>