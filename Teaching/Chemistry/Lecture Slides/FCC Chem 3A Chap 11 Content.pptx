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6"/>
  </p:notesMasterIdLst>
  <p:sldIdLst>
    <p:sldId id="608" r:id="rId2"/>
    <p:sldId id="830" r:id="rId3"/>
    <p:sldId id="831" r:id="rId4"/>
    <p:sldId id="832" r:id="rId5"/>
    <p:sldId id="833" r:id="rId6"/>
    <p:sldId id="834" r:id="rId7"/>
    <p:sldId id="840" r:id="rId8"/>
    <p:sldId id="841" r:id="rId9"/>
    <p:sldId id="835" r:id="rId10"/>
    <p:sldId id="842" r:id="rId11"/>
    <p:sldId id="836" r:id="rId12"/>
    <p:sldId id="837" r:id="rId13"/>
    <p:sldId id="838" r:id="rId14"/>
    <p:sldId id="839" r:id="rId1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99FF"/>
    <a:srgbClr val="FFFFCC"/>
    <a:srgbClr val="339933"/>
    <a:srgbClr val="CCFFFF"/>
    <a:srgbClr val="FFFF99"/>
    <a:srgbClr val="99FFCC"/>
    <a:srgbClr val="99FF66"/>
    <a:srgbClr val="FF9933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102" d="100"/>
          <a:sy n="102" d="100"/>
        </p:scale>
        <p:origin x="132" y="816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32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436" y="2274838"/>
            <a:ext cx="8111067" cy="2308324"/>
          </a:xfrm>
        </p:spPr>
        <p:txBody>
          <a:bodyPr/>
          <a:lstStyle/>
          <a:p>
            <a:r>
              <a:rPr lang="en-US" sz="72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S. M.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8178-09A5-760C-4B2B-FE5DCFDC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4B865D-5DA3-6C23-2A19-B874111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6073"/>
            <a:ext cx="8421512" cy="707886"/>
          </a:xfrm>
        </p:spPr>
        <p:txBody>
          <a:bodyPr/>
          <a:lstStyle/>
          <a:p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1649CD-26F3-FDAC-6641-475A24C1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Stoichiometry: mass, solution, gas, acid-base titration</a:t>
            </a:r>
          </a:p>
          <a:p>
            <a:r>
              <a:rPr lang="en-US" sz="2800" dirty="0"/>
              <a:t>Limiting Reagent/Reactant</a:t>
            </a:r>
          </a:p>
          <a:p>
            <a:r>
              <a:rPr lang="en-US" sz="2800" dirty="0"/>
              <a:t>Theoretical and Percent Yield</a:t>
            </a:r>
          </a:p>
          <a:p>
            <a:r>
              <a:rPr lang="en-US" sz="2800" dirty="0"/>
              <a:t>Changes </a:t>
            </a:r>
            <a:r>
              <a:rPr lang="en-US" sz="2800"/>
              <a:t>in Enthalpy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939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6C6-71F8-C827-D325-EF690146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Stoichiometry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C8125-3D70-BA62-139F-B8A026CC3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Stoichiometry: study of quantities in chemical reactions</a:t>
                </a: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C000"/>
                    </a:solidFill>
                  </a:rPr>
                  <a:t>2 H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+ O</a:t>
                </a:r>
                <a:r>
                  <a:rPr lang="en-US" baseline="-25000" dirty="0">
                    <a:solidFill>
                      <a:srgbClr val="FFC000"/>
                    </a:solidFill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</a:rPr>
                  <a:t> 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 2 H</a:t>
                </a:r>
                <a:r>
                  <a:rPr lang="en-US" baseline="-25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O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“two moles hydrogen react with one mole oxygen to produce two moles of water”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Ratios we can deduce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den>
                    </m:f>
                  </m:oMath>
                </a14:m>
                <a:r>
                  <a:rPr lang="en-US" dirty="0"/>
                  <a:t>,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O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mol</m:t>
                        </m:r>
                        <m: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  <m:r>
                          <a:rPr lang="en-US" baseline="-250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>
                    <a:sym typeface="Wingdings" panose="05000000000000000000" pitchFamily="2" charset="2"/>
                  </a:rPr>
                  <a:t>These will be part of calculations that have been already done in this course and to estimate yields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C8125-3D70-BA62-139F-B8A026CC3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0" t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548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F596-7F14-C14B-3D5D-F6C4A81C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7577-4113-4AFB-E8AC-0E47C9F6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39657-B6C4-3261-2C99-B8A68B24E1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many moles of oxygen (O</a:t>
                </a:r>
                <a:r>
                  <a:rPr lang="en-US" baseline="-25000" dirty="0"/>
                  <a:t>2</a:t>
                </a:r>
                <a:r>
                  <a:rPr lang="en-US" dirty="0"/>
                  <a:t>) will react with hydrogen (H</a:t>
                </a:r>
                <a:r>
                  <a:rPr lang="en-US" baseline="-25000" dirty="0"/>
                  <a:t>2</a:t>
                </a:r>
                <a:r>
                  <a:rPr lang="en-US" dirty="0"/>
                  <a:t>) to produce 27.6 mol H</a:t>
                </a:r>
                <a:r>
                  <a:rPr lang="en-US" baseline="-25000" dirty="0"/>
                  <a:t>2</a:t>
                </a:r>
                <a:r>
                  <a:rPr lang="en-US" dirty="0"/>
                  <a:t>O?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moles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needed quantities: 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27.6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product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1 mol 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/ 2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27.6 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8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8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8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8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=13.8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mol</m:t>
                    </m:r>
                    <m: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8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800" baseline="-25000" dirty="0">
                  <a:solidFill>
                    <a:srgbClr val="FFFF0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39657-B6C4-3261-2C99-B8A68B24E1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0" t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02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F749-6EDA-B0A6-6476-D6A360F3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B04-F81B-74B4-ED0B-19848B37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07121"/>
            <a:ext cx="8421512" cy="769441"/>
          </a:xfrm>
        </p:spPr>
        <p:txBody>
          <a:bodyPr/>
          <a:lstStyle/>
          <a:p>
            <a:r>
              <a:rPr lang="en-US" sz="4400" dirty="0"/>
              <a:t>Stoichiometry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F5D5B-4743-17BD-C598-D52B2D00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To reinforce understanding of how certain conversions are done in quantitative chemistry, this visual “map” is found useful to some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993BD-F041-8874-9B07-3FBA21681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17" y="2612588"/>
            <a:ext cx="7276966" cy="385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4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2AB1-5FA5-2F4E-CB86-E8BE2219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C0C5-60DC-2109-9799-E356F715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The Mass-to-Mass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5965-E047-C1FC-DB4D-F29BFAD88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150935"/>
            <a:ext cx="8387645" cy="5215465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mass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grams</a:t>
            </a:r>
            <a:r>
              <a:rPr lang="en-US" dirty="0">
                <a:sym typeface="Wingdings" panose="05000000000000000000" pitchFamily="2" charset="2"/>
              </a:rPr>
              <a:t>) of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compound A</a:t>
            </a:r>
            <a:r>
              <a:rPr lang="en-US" dirty="0">
                <a:sym typeface="Wingdings" panose="05000000000000000000" pitchFamily="2" charset="2"/>
              </a:rPr>
              <a:t>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mass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>
                <a:solidFill>
                  <a:srgbClr val="FFC000"/>
                </a:solidFill>
                <a:sym typeface="Wingdings" panose="05000000000000000000" pitchFamily="2" charset="2"/>
              </a:rPr>
              <a:t>grams</a:t>
            </a:r>
            <a:r>
              <a:rPr lang="en-US" dirty="0">
                <a:sym typeface="Wingdings" panose="05000000000000000000" pitchFamily="2" charset="2"/>
              </a:rPr>
              <a:t>) of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compound B </a:t>
            </a:r>
            <a:r>
              <a:rPr lang="en-US" dirty="0">
                <a:sym typeface="Wingdings" panose="05000000000000000000" pitchFamily="2" charset="2"/>
              </a:rPr>
              <a:t>shows that it is first necessary to convert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moles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in order to relate atom-for-atom reaction in a chemical reaction equation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6ABDBBF-B7F5-2762-4437-DFA95717E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040" y="2930789"/>
            <a:ext cx="6773919" cy="333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8279-7E27-95C4-A725-42E48F48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AA8D-8B6C-2505-951C-2585C8CD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Example: Mass-to-Mass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0E85DD-B190-FBE5-3797-D169CDEAF2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Ammonium nitrate </a:t>
                </a:r>
                <a:r>
                  <a:rPr lang="en-US" sz="2000" dirty="0">
                    <a:sym typeface="Wingdings" panose="05000000000000000000" pitchFamily="2" charset="2"/>
                  </a:rPr>
                  <a:t>decomposes to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dinitrogen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monoxide</a:t>
                </a:r>
                <a:r>
                  <a:rPr lang="en-US" sz="2000" dirty="0">
                    <a:sym typeface="Wingdings" panose="05000000000000000000" pitchFamily="2" charset="2"/>
                  </a:rPr>
                  <a:t> and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water</a:t>
                </a:r>
                <a:r>
                  <a:rPr lang="en-US" sz="2000" dirty="0">
                    <a:sym typeface="Wingdings" panose="05000000000000000000" pitchFamily="2" charset="2"/>
                  </a:rPr>
                  <a:t>.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45.7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NO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 is decomposed: find mass of each product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mass, i.e. grams, of products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and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from given data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+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l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 = 45.7 g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3,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80.06 g/mol, molar mass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44.02 g/mol, molar mass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18.02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1 mol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44.02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25.1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br>
                  <a:rPr lang="en-US" sz="1800" dirty="0">
                    <a:solidFill>
                      <a:srgbClr val="FFFF00"/>
                    </a:solidFill>
                  </a:rPr>
                </a:br>
                <a:br>
                  <a:rPr lang="en-US" sz="1800" dirty="0">
                    <a:solidFill>
                      <a:srgbClr val="FFFF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.02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20.6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endParaRPr lang="en-US" sz="1800" dirty="0">
                  <a:solidFill>
                    <a:srgbClr val="FFFF00"/>
                  </a:solidFill>
                </a:endParaRPr>
              </a:p>
              <a:p>
                <a:pPr marL="0" indent="0">
                  <a:buClr>
                    <a:srgbClr val="FFFF00"/>
                  </a:buClr>
                  <a:buNone/>
                </a:pPr>
                <a:r>
                  <a:rPr lang="en-US" sz="1800" dirty="0">
                    <a:solidFill>
                      <a:srgbClr val="FF99FF"/>
                    </a:solidFill>
                  </a:rPr>
                  <a:t>mass conservation note: 25.1 g + 20.6 g = 45.7 g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0E85DD-B190-FBE5-3797-D169CDEAF2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  <a:blipFill>
                <a:blip r:embed="rId2"/>
                <a:stretch>
                  <a:fillRect l="-799" t="-780" b="-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43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3E67-3C06-3B52-3464-A163ABAA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AB47-A7F3-2E10-47F9-7EDE646C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Practice: Mass-to-Mass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AFC79F-1D03-F8FE-7824-7F048C3209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8347" y="1168187"/>
                <a:ext cx="8387645" cy="5474152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Methane</a:t>
                </a:r>
                <a:r>
                  <a:rPr lang="en-US" sz="2000" dirty="0">
                    <a:sym typeface="Wingdings" panose="05000000000000000000" pitchFamily="2" charset="2"/>
                  </a:rPr>
                  <a:t> reacts with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elemental chlorine </a:t>
                </a:r>
                <a:r>
                  <a:rPr lang="en-US" sz="2000" dirty="0">
                    <a:sym typeface="Wingdings" panose="05000000000000000000" pitchFamily="2" charset="2"/>
                  </a:rPr>
                  <a:t>to make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carbon tetrachloride</a:t>
                </a:r>
                <a:r>
                  <a:rPr lang="en-US" sz="2000" dirty="0">
                    <a:sym typeface="Wingdings" panose="05000000000000000000" pitchFamily="2" charset="2"/>
                  </a:rPr>
                  <a:t>. How many </a:t>
                </a:r>
                <a:r>
                  <a:rPr lang="en-US" sz="2000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grams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HCl</a:t>
                </a:r>
                <a:r>
                  <a:rPr lang="en-US" sz="2000" dirty="0">
                    <a:sym typeface="Wingdings" panose="05000000000000000000" pitchFamily="2" charset="2"/>
                  </a:rPr>
                  <a:t> are produced</a:t>
                </a:r>
                <a:br>
                  <a:rPr lang="en-US" sz="2000" dirty="0">
                    <a:sym typeface="Wingdings" panose="05000000000000000000" pitchFamily="2" charset="2"/>
                  </a:rPr>
                </a:br>
                <a:r>
                  <a:rPr lang="en-US" sz="2000" dirty="0">
                    <a:sym typeface="Wingdings" panose="05000000000000000000" pitchFamily="2" charset="2"/>
                  </a:rPr>
                  <a:t>with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100.0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methane</a:t>
                </a:r>
                <a:r>
                  <a:rPr lang="en-US" sz="2000" dirty="0">
                    <a:sym typeface="Wingdings" panose="05000000000000000000" pitchFamily="2" charset="2"/>
                  </a:rPr>
                  <a:t>?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mass, i.e. grams, of product HCl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CCl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+ HCl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+ 4 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 CCl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l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+ 4 HCl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provided=100.0 g 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4,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CH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=80.06 g/mol, molar mass HCl = 44.02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 mol HCl / 1 mol CH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100.0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CH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16.04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36.46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HCl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909.2 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HCl</m:t>
                    </m:r>
                  </m:oMath>
                </a14:m>
                <a:br>
                  <a:rPr lang="en-US" sz="1800" dirty="0">
                    <a:solidFill>
                      <a:srgbClr val="FFFF00"/>
                    </a:solidFill>
                  </a:rPr>
                </a:b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AFC79F-1D03-F8FE-7824-7F048C3209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347" y="1168187"/>
                <a:ext cx="8387645" cy="5474152"/>
              </a:xfrm>
              <a:blipFill>
                <a:blip r:embed="rId2"/>
                <a:stretch>
                  <a:fillRect l="-800" t="-780" r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345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5FA6-7309-8CFC-0D74-B68EDE7E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18C8-D1A4-B0AD-BD83-7B24B4EC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830997"/>
          </a:xfrm>
        </p:spPr>
        <p:txBody>
          <a:bodyPr/>
          <a:lstStyle/>
          <a:p>
            <a:r>
              <a:rPr lang="en-US" sz="4400" dirty="0"/>
              <a:t>Solution Stoichiometry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EDF83-A3E4-0E1F-0825-430348892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1442"/>
            <a:ext cx="8387645" cy="5406113"/>
          </a:xfrm>
        </p:spPr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This conversion pathway uses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volume</a:t>
            </a:r>
            <a:r>
              <a:rPr lang="en-US" dirty="0">
                <a:sym typeface="Wingdings" panose="05000000000000000000" pitchFamily="2" charset="2"/>
              </a:rPr>
              <a:t> to get the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amount</a:t>
            </a:r>
            <a:r>
              <a:rPr lang="en-US" dirty="0">
                <a:sym typeface="Wingdings" panose="05000000000000000000" pitchFamily="2" charset="2"/>
              </a:rPr>
              <a:t>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moles</a:t>
            </a:r>
            <a:r>
              <a:rPr lang="en-US" dirty="0">
                <a:sym typeface="Wingdings" panose="05000000000000000000" pitchFamily="2" charset="2"/>
              </a:rPr>
              <a:t> of a substance. It requires knowing a </a:t>
            </a:r>
            <a:r>
              <a:rPr lang="en-US" dirty="0">
                <a:solidFill>
                  <a:srgbClr val="00FF00"/>
                </a:solidFill>
                <a:sym typeface="Wingdings" panose="05000000000000000000" pitchFamily="2" charset="2"/>
              </a:rPr>
              <a:t>concentration</a:t>
            </a:r>
            <a:r>
              <a:rPr lang="en-US" dirty="0">
                <a:sym typeface="Wingdings" panose="05000000000000000000" pitchFamily="2" charset="2"/>
              </a:rPr>
              <a:t>—</a:t>
            </a:r>
            <a:r>
              <a:rPr lang="en-US" dirty="0">
                <a:solidFill>
                  <a:srgbClr val="00FF00"/>
                </a:solidFill>
                <a:sym typeface="Wingdings" panose="05000000000000000000" pitchFamily="2" charset="2"/>
              </a:rPr>
              <a:t>molarity</a:t>
            </a:r>
            <a:r>
              <a:rPr lang="en-US" dirty="0">
                <a:sym typeface="Wingdings" panose="05000000000000000000" pitchFamily="2" charset="2"/>
              </a:rPr>
              <a:t>—for the solution where the problem is to be solved</a:t>
            </a: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155CDAB-8A7D-D11B-269D-552E2972C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81" y="2949570"/>
            <a:ext cx="7136281" cy="328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598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464C-DF07-62B8-8E9E-6670C8C5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C398-64ED-B9F5-7CB3-78F6D15E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310445"/>
            <a:ext cx="8421512" cy="769441"/>
          </a:xfrm>
        </p:spPr>
        <p:txBody>
          <a:bodyPr/>
          <a:lstStyle/>
          <a:p>
            <a:r>
              <a:rPr lang="en-US" sz="4400" dirty="0"/>
              <a:t>Example: Volume Calculations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D09F7-6DDE-0DCE-E2B7-E82B77C29A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How many liters of 0.500 M sodium sulfate in necessary to precipitate all the barium in a </a:t>
                </a:r>
                <a:r>
                  <a:rPr lang="en-US" sz="20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275 mL Ammonium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nitrate </a:t>
                </a:r>
                <a:r>
                  <a:rPr lang="en-US" sz="2000" dirty="0">
                    <a:sym typeface="Wingdings" panose="05000000000000000000" pitchFamily="2" charset="2"/>
                  </a:rPr>
                  <a:t>decomposes to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dinitrogen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monoxide</a:t>
                </a:r>
                <a:r>
                  <a:rPr lang="en-US" sz="2000" dirty="0">
                    <a:sym typeface="Wingdings" panose="05000000000000000000" pitchFamily="2" charset="2"/>
                  </a:rPr>
                  <a:t> and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water</a:t>
                </a:r>
                <a:r>
                  <a:rPr lang="en-US" sz="2000" dirty="0">
                    <a:sym typeface="Wingdings" panose="05000000000000000000" pitchFamily="2" charset="2"/>
                  </a:rPr>
                  <a:t>. </a:t>
                </a:r>
                <a:r>
                  <a:rPr lang="en-US" sz="2000" b="1" dirty="0">
                    <a:solidFill>
                      <a:srgbClr val="FFC000"/>
                    </a:solidFill>
                    <a:sym typeface="Wingdings" panose="05000000000000000000" pitchFamily="2" charset="2"/>
                  </a:rPr>
                  <a:t>45.7 g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NH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4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NO</a:t>
                </a:r>
                <a:r>
                  <a:rPr lang="en-US" sz="2000" baseline="-25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3</a:t>
                </a:r>
                <a:r>
                  <a:rPr lang="en-US" sz="2000" dirty="0">
                    <a:sym typeface="Wingdings" panose="05000000000000000000" pitchFamily="2" charset="2"/>
                  </a:rPr>
                  <a:t> is decomposed: find mass of each product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To solve: 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mass, i.e. grams, of products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and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from given data</a:t>
                </a:r>
                <a:endParaRPr lang="en-US" sz="1800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Determine the BALANCED reaction: 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Skeletal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+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Balanced reaction: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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g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 + 2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(</a:t>
                </a:r>
                <a:r>
                  <a:rPr lang="en-US" sz="1600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l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Identify given data and needed quantities:</a:t>
                </a:r>
              </a:p>
              <a:p>
                <a:pPr lvl="1">
                  <a:buClr>
                    <a:srgbClr val="FFFF00"/>
                  </a:buClr>
                </a:pP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provided = 45.7 g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3,  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molar mass NH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= 80.06 g/mol, molar mass N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44.02 g/mol, molar mass H</a:t>
                </a:r>
                <a:r>
                  <a:rPr lang="en-US" sz="16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= 18.02 g/mol</a:t>
                </a: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Conversion factor: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 mol 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,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1 mol N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2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O / 1 mol NH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4</a:t>
                </a:r>
                <a:r>
                  <a:rPr lang="en-US" sz="18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NO</a:t>
                </a:r>
                <a:r>
                  <a:rPr lang="en-US" sz="1800" baseline="-25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3</a:t>
                </a:r>
                <a:endParaRPr lang="en-US" sz="1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 panose="05000000000000000000" pitchFamily="2" charset="2"/>
                </a:endParaRPr>
              </a:p>
              <a:p>
                <a:pPr>
                  <a:buClr>
                    <a:srgbClr val="FFFF00"/>
                  </a:buClr>
                </a:pPr>
                <a:r>
                  <a:rPr lang="en-US" sz="1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Wingdings" panose="05000000000000000000" pitchFamily="2" charset="2"/>
                  </a:rPr>
                  <a:t>Substitute values &amp; solve:</a:t>
                </a:r>
                <a:br>
                  <a:rPr lang="en-US" dirty="0">
                    <a:solidFill>
                      <a:srgbClr val="FFFF00"/>
                    </a:solidFill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44.02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0" baseline="-250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25.1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 i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00" b="0" i="0" baseline="-250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br>
                  <a:rPr lang="en-US" sz="1800" dirty="0">
                    <a:solidFill>
                      <a:srgbClr val="FFFF00"/>
                    </a:solidFill>
                  </a:rPr>
                </a:br>
                <a:br>
                  <a:rPr lang="en-US" sz="1800" dirty="0">
                    <a:solidFill>
                      <a:srgbClr val="FFFF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45.7 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NO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80.06 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NO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6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.02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num>
                      <m:den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baseline="-250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den>
                    </m:f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20.6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baseline="-250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endParaRPr lang="en-US" sz="1800" dirty="0">
                  <a:solidFill>
                    <a:srgbClr val="FFFF00"/>
                  </a:solidFill>
                </a:endParaRPr>
              </a:p>
              <a:p>
                <a:pPr marL="0" indent="0">
                  <a:buClr>
                    <a:srgbClr val="FFFF00"/>
                  </a:buClr>
                  <a:buNone/>
                </a:pPr>
                <a:r>
                  <a:rPr lang="en-US" sz="1800" dirty="0">
                    <a:solidFill>
                      <a:srgbClr val="FF99FF"/>
                    </a:solidFill>
                  </a:rPr>
                  <a:t>mass conservation note: 25.1 g + 20.6 g = 45.7 g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D09F7-6DDE-0DCE-E2B7-E82B77C29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599" y="1150935"/>
                <a:ext cx="8387645" cy="5474152"/>
              </a:xfrm>
              <a:blipFill>
                <a:blip r:embed="rId2"/>
                <a:stretch>
                  <a:fillRect l="-799" t="-780" b="-5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58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F109-45B6-75E7-692D-6201C642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254C-FB80-EC53-F85D-F9ED07AB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00C7-32A7-3AA1-450A-B0ECA6D3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22BE927-7D2D-2EB6-EF77-4B95767FF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6500"/>
            <a:ext cx="9144000" cy="444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52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9427-7F08-2208-BCCA-00727CA0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A4DA-C0D6-2AFE-EB3B-583C23DF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DA0F6-8280-9774-077B-7206954F7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23D5AE2-C79F-B7BC-36FA-EEC2DB040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000250"/>
            <a:ext cx="67151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38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9EC2-6E11-7F8D-62F9-9390083C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8B18-9230-F64C-9266-6994FA8B9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08493-E4B6-DAF4-D8B2-8E4A92886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F138D-680B-7B73-2B41-9FD9CE33E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58" y="1491121"/>
            <a:ext cx="6211484" cy="497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79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1720-733F-FA39-C9BA-469D553F4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9D2D-6EA6-49EF-F24D-898B8D60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55" y="394566"/>
            <a:ext cx="8421512" cy="769441"/>
          </a:xfrm>
        </p:spPr>
        <p:txBody>
          <a:bodyPr/>
          <a:lstStyle/>
          <a:p>
            <a:r>
              <a:rPr lang="en-US" sz="4400" dirty="0"/>
              <a:t>Moles Reactant / Moles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9F42C-EBEF-2B97-05A0-B537B24AB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3A8A7D-6726-9ECF-7C3F-DF5D68345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206" y="1380839"/>
            <a:ext cx="5639587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19695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29893</TotalTime>
  <Words>814</Words>
  <Application>Microsoft Office PowerPoint</Application>
  <PresentationFormat>On-screen Show (4:3)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Cambria</vt:lpstr>
      <vt:lpstr>Cambria Math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PowerPoint Presentation</vt:lpstr>
      <vt:lpstr>General Stoichiometry</vt:lpstr>
      <vt:lpstr>Moles Reactant / Moles Product</vt:lpstr>
      <vt:lpstr>Stoichiometry Map</vt:lpstr>
      <vt:lpstr>The Mass-to-Mass Pathway</vt:lpstr>
      <vt:lpstr>Example: Mass-to-Mass </vt:lpstr>
      <vt:lpstr>Practice: Mass-to-Mass </vt:lpstr>
      <vt:lpstr>Solution Stoichiometry</vt:lpstr>
      <vt:lpstr>Example: Volume Calculations</vt:lpstr>
      <vt:lpstr>Moles Reactant / Moles Product</vt:lpstr>
      <vt:lpstr>Moles Reactant / Moles Product</vt:lpstr>
      <vt:lpstr>Moles Reactant / Moles Product</vt:lpstr>
      <vt:lpstr>Moles Reactant / Moles Product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sm h</cp:lastModifiedBy>
  <cp:revision>1015</cp:revision>
  <cp:lastPrinted>2016-03-14T04:22:58Z</cp:lastPrinted>
  <dcterms:created xsi:type="dcterms:W3CDTF">2005-12-08T13:54:14Z</dcterms:created>
  <dcterms:modified xsi:type="dcterms:W3CDTF">2025-10-23T16:15:32Z</dcterms:modified>
</cp:coreProperties>
</file>