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45"/>
  </p:notesMasterIdLst>
  <p:sldIdLst>
    <p:sldId id="608" r:id="rId2"/>
    <p:sldId id="875" r:id="rId3"/>
    <p:sldId id="831" r:id="rId4"/>
    <p:sldId id="864" r:id="rId5"/>
    <p:sldId id="836" r:id="rId6"/>
    <p:sldId id="835" r:id="rId7"/>
    <p:sldId id="837" r:id="rId8"/>
    <p:sldId id="838" r:id="rId9"/>
    <p:sldId id="840" r:id="rId10"/>
    <p:sldId id="841" r:id="rId11"/>
    <p:sldId id="834" r:id="rId12"/>
    <p:sldId id="842" r:id="rId13"/>
    <p:sldId id="843" r:id="rId14"/>
    <p:sldId id="844" r:id="rId15"/>
    <p:sldId id="845" r:id="rId16"/>
    <p:sldId id="846" r:id="rId17"/>
    <p:sldId id="847" r:id="rId18"/>
    <p:sldId id="848" r:id="rId19"/>
    <p:sldId id="849" r:id="rId20"/>
    <p:sldId id="850" r:id="rId21"/>
    <p:sldId id="851" r:id="rId22"/>
    <p:sldId id="852" r:id="rId23"/>
    <p:sldId id="853" r:id="rId24"/>
    <p:sldId id="865" r:id="rId25"/>
    <p:sldId id="866" r:id="rId26"/>
    <p:sldId id="854" r:id="rId27"/>
    <p:sldId id="868" r:id="rId28"/>
    <p:sldId id="867" r:id="rId29"/>
    <p:sldId id="855" r:id="rId30"/>
    <p:sldId id="856" r:id="rId31"/>
    <p:sldId id="857" r:id="rId32"/>
    <p:sldId id="869" r:id="rId33"/>
    <p:sldId id="870" r:id="rId34"/>
    <p:sldId id="871" r:id="rId35"/>
    <p:sldId id="858" r:id="rId36"/>
    <p:sldId id="872" r:id="rId37"/>
    <p:sldId id="873" r:id="rId38"/>
    <p:sldId id="874" r:id="rId39"/>
    <p:sldId id="859" r:id="rId40"/>
    <p:sldId id="860" r:id="rId41"/>
    <p:sldId id="861" r:id="rId42"/>
    <p:sldId id="862" r:id="rId43"/>
    <p:sldId id="863" r:id="rId44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9FF"/>
    <a:srgbClr val="FF99CC"/>
    <a:srgbClr val="99CCFF"/>
    <a:srgbClr val="00FF00"/>
    <a:srgbClr val="FFFFCC"/>
    <a:srgbClr val="339933"/>
    <a:srgbClr val="CCFFFF"/>
    <a:srgbClr val="FFFF99"/>
    <a:srgbClr val="99FFCC"/>
    <a:srgbClr val="99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22" autoAdjust="0"/>
    <p:restoredTop sz="94620" autoAdjust="0"/>
  </p:normalViewPr>
  <p:slideViewPr>
    <p:cSldViewPr snapToGrid="0">
      <p:cViewPr varScale="1">
        <p:scale>
          <a:sx n="122" d="100"/>
          <a:sy n="122" d="100"/>
        </p:scale>
        <p:origin x="120" y="366"/>
      </p:cViewPr>
      <p:guideLst>
        <p:guide orient="horz"/>
        <p:guide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329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587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520" y="4560570"/>
            <a:ext cx="5852160" cy="432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587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F80B39F9-9779-49E4-9061-3C452DBF8DE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6710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0B39F9-9779-49E4-9061-3C452DBF8DE4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8000" y="1355676"/>
            <a:ext cx="8111067" cy="2308324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1208" y="4297679"/>
            <a:ext cx="6793992" cy="1157901"/>
          </a:xfrm>
        </p:spPr>
        <p:txBody>
          <a:bodyPr/>
          <a:lstStyle>
            <a:lvl1pPr marL="0" indent="0" algn="l">
              <a:buNone/>
              <a:defRPr sz="3200" i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14629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F3C9FD-BB70-7A66-1D77-1340C35A2E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‹#›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42633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ubtitle+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246" y="307480"/>
            <a:ext cx="8421512" cy="76944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927" y="1611086"/>
            <a:ext cx="8464730" cy="49364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331016" y="1114697"/>
            <a:ext cx="8439150" cy="435428"/>
          </a:xfrm>
        </p:spPr>
        <p:txBody>
          <a:bodyPr/>
          <a:lstStyle>
            <a:lvl1pPr>
              <a:buNone/>
              <a:defRPr sz="2200" i="1">
                <a:solidFill>
                  <a:srgbClr val="CCFFFF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06351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0066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246" y="1512554"/>
            <a:ext cx="8167688" cy="1754326"/>
          </a:xfrm>
        </p:spPr>
        <p:txBody>
          <a:bodyPr anchor="ctr" anchorCtr="0"/>
          <a:lstStyle>
            <a:lvl1pPr algn="l">
              <a:defRPr sz="5400" b="0" i="0" cap="none" baseline="0">
                <a:solidFill>
                  <a:srgbClr val="FFFF99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600" y="4075113"/>
            <a:ext cx="816186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7805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8500" y="1617663"/>
            <a:ext cx="3810000" cy="4732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0900" y="1617663"/>
            <a:ext cx="3810000" cy="4732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27344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003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67905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8690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48594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81713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62476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27800" y="612775"/>
            <a:ext cx="1943100" cy="57372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8500" y="612775"/>
            <a:ext cx="5676900" cy="57372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186436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98500" y="612775"/>
            <a:ext cx="7772400" cy="5737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801593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612775"/>
            <a:ext cx="7772400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98500" y="1617663"/>
            <a:ext cx="7772400" cy="2289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8500" y="4059238"/>
            <a:ext cx="7772400" cy="22907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110213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612775"/>
            <a:ext cx="7772400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8500" y="1617663"/>
            <a:ext cx="3810000" cy="4732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60900" y="1617663"/>
            <a:ext cx="3810000" cy="2289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60900" y="4059238"/>
            <a:ext cx="3810000" cy="22907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610624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+Subtitle+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246" y="307480"/>
            <a:ext cx="8421512" cy="76944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927" y="1611086"/>
            <a:ext cx="8464730" cy="49364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331016" y="1114697"/>
            <a:ext cx="8439150" cy="435428"/>
          </a:xfrm>
        </p:spPr>
        <p:txBody>
          <a:bodyPr/>
          <a:lstStyle>
            <a:lvl1pPr>
              <a:buNone/>
              <a:defRPr sz="2200" i="1">
                <a:solidFill>
                  <a:srgbClr val="CCFFFF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chemeClr val="tx1"/>
            </a:gs>
            <a:gs pos="100000">
              <a:srgbClr val="333399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49955" y="363788"/>
            <a:ext cx="842151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/>
              <a:t>This is the Master </a:t>
            </a:r>
            <a:r>
              <a:rPr lang="en-US" dirty="0" err="1"/>
              <a:t>supraTitle</a:t>
            </a:r>
            <a:endParaRPr lang="en-US" dirty="0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72533" y="1332090"/>
            <a:ext cx="8387645" cy="5215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27B3E2-E413-4BBF-87A8-148331BF0D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35321" y="636499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/>
                </a:solidFill>
              </a:defRPr>
            </a:lvl1pPr>
          </a:lstStyle>
          <a:p>
            <a:fld id="{803D5D98-E6AF-418F-A1B9-21EEB670A939}" type="slidenum">
              <a:rPr lang="en-US" smtClean="0"/>
              <a:pPr/>
              <a:t>‹#›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52443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  <p:sldLayoutId id="2147483815" r:id="rId12"/>
    <p:sldLayoutId id="2147483816" r:id="rId13"/>
    <p:sldLayoutId id="2147483817" r:id="rId14"/>
    <p:sldLayoutId id="2147483818" r:id="rId15"/>
    <p:sldLayoutId id="2147483802" r:id="rId16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800">
          <a:solidFill>
            <a:srgbClr val="FFFF99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9pPr>
    </p:titleStyle>
    <p:bodyStyle>
      <a:lvl1pPr marL="282575" indent="-282575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+mn-lt"/>
          <a:ea typeface="+mn-ea"/>
          <a:cs typeface="+mn-cs"/>
        </a:defRPr>
      </a:lvl1pPr>
      <a:lvl2pPr marL="519113" indent="-287338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§"/>
        <a:defRPr sz="2000">
          <a:solidFill>
            <a:schemeClr val="bg1"/>
          </a:solidFill>
          <a:latin typeface="+mn-lt"/>
        </a:defRPr>
      </a:lvl2pPr>
      <a:lvl3pPr marL="801688" indent="-225425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1800">
          <a:solidFill>
            <a:schemeClr val="bg1"/>
          </a:solidFill>
          <a:latin typeface="+mn-lt"/>
        </a:defRPr>
      </a:lvl3pPr>
      <a:lvl4pPr marL="1084263" indent="-288925" algn="l" rtl="0" eaLnBrk="1" fontAlgn="base" hangingPunct="1">
        <a:spcBef>
          <a:spcPct val="20000"/>
        </a:spcBef>
        <a:spcAft>
          <a:spcPct val="0"/>
        </a:spcAft>
        <a:buFont typeface="Courier New" pitchFamily="49" charset="0"/>
        <a:buChar char="o"/>
        <a:defRPr sz="1600">
          <a:solidFill>
            <a:schemeClr val="bg1"/>
          </a:solidFill>
          <a:latin typeface="+mn-lt"/>
        </a:defRPr>
      </a:lvl4pPr>
      <a:lvl5pPr marL="1377950" indent="-293688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bg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452436" y="2274838"/>
            <a:ext cx="8111067" cy="2308324"/>
          </a:xfrm>
        </p:spPr>
        <p:txBody>
          <a:bodyPr/>
          <a:lstStyle/>
          <a:p>
            <a:r>
              <a:rPr lang="en-US" sz="7200" dirty="0"/>
              <a:t>Introductory General Chemistry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4933" y="335982"/>
            <a:ext cx="6793992" cy="1466314"/>
          </a:xfrm>
        </p:spPr>
        <p:txBody>
          <a:bodyPr/>
          <a:lstStyle/>
          <a:p>
            <a:r>
              <a:rPr lang="en-US" sz="4800" dirty="0">
                <a:latin typeface="Cambria" panose="02040503050406030204" pitchFamily="18" charset="0"/>
                <a:ea typeface="Cambria" panose="02040503050406030204" pitchFamily="18" charset="0"/>
              </a:rPr>
              <a:t>Chemistry 3A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52436" y="6183465"/>
            <a:ext cx="821259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99FFCC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S. M. Halloran</a:t>
            </a:r>
          </a:p>
        </p:txBody>
      </p:sp>
      <p:grpSp>
        <p:nvGrpSpPr>
          <p:cNvPr id="7" name="Graphic 5">
            <a:extLst>
              <a:ext uri="{FF2B5EF4-FFF2-40B4-BE49-F238E27FC236}">
                <a16:creationId xmlns:a16="http://schemas.microsoft.com/office/drawing/2014/main" id="{5B52E0F6-8842-2F84-F5D5-89B62A99B5B8}"/>
              </a:ext>
            </a:extLst>
          </p:cNvPr>
          <p:cNvGrpSpPr/>
          <p:nvPr/>
        </p:nvGrpSpPr>
        <p:grpSpPr>
          <a:xfrm>
            <a:off x="6173698" y="6065033"/>
            <a:ext cx="2491329" cy="325030"/>
            <a:chOff x="3790393" y="2022509"/>
            <a:chExt cx="3776519" cy="492702"/>
          </a:xfrm>
          <a:solidFill>
            <a:schemeClr val="bg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445359E-6CDB-90C0-FF05-8856FBB015CC}"/>
                </a:ext>
              </a:extLst>
            </p:cNvPr>
            <p:cNvSpPr/>
            <p:nvPr/>
          </p:nvSpPr>
          <p:spPr>
            <a:xfrm>
              <a:off x="3790393" y="2022509"/>
              <a:ext cx="492702" cy="492702"/>
            </a:xfrm>
            <a:custGeom>
              <a:avLst/>
              <a:gdLst>
                <a:gd name="connsiteX0" fmla="*/ 21214 w 492702"/>
                <a:gd name="connsiteY0" fmla="*/ 0 h 492702"/>
                <a:gd name="connsiteX1" fmla="*/ 471489 w 492702"/>
                <a:gd name="connsiteY1" fmla="*/ 0 h 492702"/>
                <a:gd name="connsiteX2" fmla="*/ 492703 w 492702"/>
                <a:gd name="connsiteY2" fmla="*/ 21122 h 492702"/>
                <a:gd name="connsiteX3" fmla="*/ 492703 w 492702"/>
                <a:gd name="connsiteY3" fmla="*/ 471580 h 492702"/>
                <a:gd name="connsiteX4" fmla="*/ 471489 w 492702"/>
                <a:gd name="connsiteY4" fmla="*/ 492703 h 492702"/>
                <a:gd name="connsiteX5" fmla="*/ 21214 w 492702"/>
                <a:gd name="connsiteY5" fmla="*/ 492703 h 492702"/>
                <a:gd name="connsiteX6" fmla="*/ 0 w 492702"/>
                <a:gd name="connsiteY6" fmla="*/ 471580 h 492702"/>
                <a:gd name="connsiteX7" fmla="*/ 0 w 492702"/>
                <a:gd name="connsiteY7" fmla="*/ 21122 h 492702"/>
                <a:gd name="connsiteX8" fmla="*/ 21214 w 492702"/>
                <a:gd name="connsiteY8" fmla="*/ 0 h 49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2702" h="492702">
                  <a:moveTo>
                    <a:pt x="21214" y="0"/>
                  </a:moveTo>
                  <a:lnTo>
                    <a:pt x="471489" y="0"/>
                  </a:lnTo>
                  <a:cubicBezTo>
                    <a:pt x="483182" y="-27"/>
                    <a:pt x="492675" y="9430"/>
                    <a:pt x="492703" y="21122"/>
                  </a:cubicBezTo>
                  <a:lnTo>
                    <a:pt x="492703" y="471580"/>
                  </a:lnTo>
                  <a:cubicBezTo>
                    <a:pt x="492675" y="483273"/>
                    <a:pt x="483182" y="492725"/>
                    <a:pt x="471489" y="492703"/>
                  </a:cubicBezTo>
                  <a:lnTo>
                    <a:pt x="21214" y="492703"/>
                  </a:lnTo>
                  <a:cubicBezTo>
                    <a:pt x="9523" y="492730"/>
                    <a:pt x="25" y="483273"/>
                    <a:pt x="0" y="471580"/>
                  </a:cubicBezTo>
                  <a:lnTo>
                    <a:pt x="0" y="21122"/>
                  </a:lnTo>
                  <a:cubicBezTo>
                    <a:pt x="25" y="9430"/>
                    <a:pt x="9523" y="-27"/>
                    <a:pt x="21214" y="0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909A04D-0D5D-01FD-7DB9-AC8C8BC673AF}"/>
                </a:ext>
              </a:extLst>
            </p:cNvPr>
            <p:cNvSpPr/>
            <p:nvPr/>
          </p:nvSpPr>
          <p:spPr>
            <a:xfrm>
              <a:off x="3790393" y="2022509"/>
              <a:ext cx="492702" cy="492702"/>
            </a:xfrm>
            <a:custGeom>
              <a:avLst/>
              <a:gdLst>
                <a:gd name="connsiteX0" fmla="*/ 21214 w 492702"/>
                <a:gd name="connsiteY0" fmla="*/ 0 h 492702"/>
                <a:gd name="connsiteX1" fmla="*/ 471489 w 492702"/>
                <a:gd name="connsiteY1" fmla="*/ 0 h 492702"/>
                <a:gd name="connsiteX2" fmla="*/ 492703 w 492702"/>
                <a:gd name="connsiteY2" fmla="*/ 21122 h 492702"/>
                <a:gd name="connsiteX3" fmla="*/ 492703 w 492702"/>
                <a:gd name="connsiteY3" fmla="*/ 471580 h 492702"/>
                <a:gd name="connsiteX4" fmla="*/ 471489 w 492702"/>
                <a:gd name="connsiteY4" fmla="*/ 492703 h 492702"/>
                <a:gd name="connsiteX5" fmla="*/ 21214 w 492702"/>
                <a:gd name="connsiteY5" fmla="*/ 492703 h 492702"/>
                <a:gd name="connsiteX6" fmla="*/ 0 w 492702"/>
                <a:gd name="connsiteY6" fmla="*/ 471580 h 492702"/>
                <a:gd name="connsiteX7" fmla="*/ 0 w 492702"/>
                <a:gd name="connsiteY7" fmla="*/ 21122 h 492702"/>
                <a:gd name="connsiteX8" fmla="*/ 21214 w 492702"/>
                <a:gd name="connsiteY8" fmla="*/ 0 h 49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2702" h="492702">
                  <a:moveTo>
                    <a:pt x="21214" y="0"/>
                  </a:moveTo>
                  <a:lnTo>
                    <a:pt x="471489" y="0"/>
                  </a:lnTo>
                  <a:cubicBezTo>
                    <a:pt x="483182" y="-27"/>
                    <a:pt x="492675" y="9430"/>
                    <a:pt x="492703" y="21122"/>
                  </a:cubicBezTo>
                  <a:lnTo>
                    <a:pt x="492703" y="471580"/>
                  </a:lnTo>
                  <a:cubicBezTo>
                    <a:pt x="492675" y="483273"/>
                    <a:pt x="483182" y="492725"/>
                    <a:pt x="471489" y="492703"/>
                  </a:cubicBezTo>
                  <a:lnTo>
                    <a:pt x="21214" y="492703"/>
                  </a:lnTo>
                  <a:cubicBezTo>
                    <a:pt x="9523" y="492730"/>
                    <a:pt x="25" y="483273"/>
                    <a:pt x="0" y="471580"/>
                  </a:cubicBezTo>
                  <a:lnTo>
                    <a:pt x="0" y="21122"/>
                  </a:lnTo>
                  <a:cubicBezTo>
                    <a:pt x="25" y="9430"/>
                    <a:pt x="9523" y="-27"/>
                    <a:pt x="21214" y="0"/>
                  </a:cubicBezTo>
                  <a:close/>
                </a:path>
              </a:pathLst>
            </a:custGeom>
            <a:grpFill/>
            <a:ln w="7968" cap="flat">
              <a:solidFill>
                <a:srgbClr val="2320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6EE4331-1540-5318-0722-CE5188B33B81}"/>
                </a:ext>
              </a:extLst>
            </p:cNvPr>
            <p:cNvSpPr/>
            <p:nvPr/>
          </p:nvSpPr>
          <p:spPr>
            <a:xfrm>
              <a:off x="3825932" y="2058504"/>
              <a:ext cx="421762" cy="419709"/>
            </a:xfrm>
            <a:custGeom>
              <a:avLst/>
              <a:gdLst>
                <a:gd name="connsiteX0" fmla="*/ 59717 w 421762"/>
                <a:gd name="connsiteY0" fmla="*/ 0 h 419709"/>
                <a:gd name="connsiteX1" fmla="*/ 421489 w 421762"/>
                <a:gd name="connsiteY1" fmla="*/ 0 h 419709"/>
                <a:gd name="connsiteX2" fmla="*/ 421489 w 421762"/>
                <a:gd name="connsiteY2" fmla="*/ 57117 h 419709"/>
                <a:gd name="connsiteX3" fmla="*/ 57391 w 421762"/>
                <a:gd name="connsiteY3" fmla="*/ 57117 h 419709"/>
                <a:gd name="connsiteX4" fmla="*/ 57391 w 421762"/>
                <a:gd name="connsiteY4" fmla="*/ 167656 h 419709"/>
                <a:gd name="connsiteX5" fmla="*/ 91059 w 421762"/>
                <a:gd name="connsiteY5" fmla="*/ 167656 h 419709"/>
                <a:gd name="connsiteX6" fmla="*/ 91059 w 421762"/>
                <a:gd name="connsiteY6" fmla="*/ 144024 h 419709"/>
                <a:gd name="connsiteX7" fmla="*/ 150913 w 421762"/>
                <a:gd name="connsiteY7" fmla="*/ 90648 h 419709"/>
                <a:gd name="connsiteX8" fmla="*/ 421626 w 421762"/>
                <a:gd name="connsiteY8" fmla="*/ 90648 h 419709"/>
                <a:gd name="connsiteX9" fmla="*/ 421626 w 421762"/>
                <a:gd name="connsiteY9" fmla="*/ 147902 h 419709"/>
                <a:gd name="connsiteX10" fmla="*/ 149681 w 421762"/>
                <a:gd name="connsiteY10" fmla="*/ 147902 h 419709"/>
                <a:gd name="connsiteX11" fmla="*/ 149681 w 421762"/>
                <a:gd name="connsiteY11" fmla="*/ 167793 h 419709"/>
                <a:gd name="connsiteX12" fmla="*/ 421626 w 421762"/>
                <a:gd name="connsiteY12" fmla="*/ 167793 h 419709"/>
                <a:gd name="connsiteX13" fmla="*/ 421626 w 421762"/>
                <a:gd name="connsiteY13" fmla="*/ 224910 h 419709"/>
                <a:gd name="connsiteX14" fmla="*/ 225776 w 421762"/>
                <a:gd name="connsiteY14" fmla="*/ 224910 h 419709"/>
                <a:gd name="connsiteX15" fmla="*/ 225776 w 421762"/>
                <a:gd name="connsiteY15" fmla="*/ 284490 h 419709"/>
                <a:gd name="connsiteX16" fmla="*/ 421626 w 421762"/>
                <a:gd name="connsiteY16" fmla="*/ 284490 h 419709"/>
                <a:gd name="connsiteX17" fmla="*/ 421626 w 421762"/>
                <a:gd name="connsiteY17" fmla="*/ 342702 h 419709"/>
                <a:gd name="connsiteX18" fmla="*/ 220895 w 421762"/>
                <a:gd name="connsiteY18" fmla="*/ 342702 h 419709"/>
                <a:gd name="connsiteX19" fmla="*/ 168523 w 421762"/>
                <a:gd name="connsiteY19" fmla="*/ 284353 h 419709"/>
                <a:gd name="connsiteX20" fmla="*/ 168523 w 421762"/>
                <a:gd name="connsiteY20" fmla="*/ 224773 h 419709"/>
                <a:gd name="connsiteX21" fmla="*/ 149818 w 421762"/>
                <a:gd name="connsiteY21" fmla="*/ 224773 h 419709"/>
                <a:gd name="connsiteX22" fmla="*/ 149818 w 421762"/>
                <a:gd name="connsiteY22" fmla="*/ 362593 h 419709"/>
                <a:gd name="connsiteX23" fmla="*/ 421763 w 421762"/>
                <a:gd name="connsiteY23" fmla="*/ 362593 h 419709"/>
                <a:gd name="connsiteX24" fmla="*/ 421763 w 421762"/>
                <a:gd name="connsiteY24" fmla="*/ 419710 h 419709"/>
                <a:gd name="connsiteX25" fmla="*/ 144845 w 421762"/>
                <a:gd name="connsiteY25" fmla="*/ 419710 h 419709"/>
                <a:gd name="connsiteX26" fmla="*/ 91196 w 421762"/>
                <a:gd name="connsiteY26" fmla="*/ 364969 h 419709"/>
                <a:gd name="connsiteX27" fmla="*/ 91196 w 421762"/>
                <a:gd name="connsiteY27" fmla="*/ 364965 h 419709"/>
                <a:gd name="connsiteX28" fmla="*/ 91196 w 421762"/>
                <a:gd name="connsiteY28" fmla="*/ 224773 h 419709"/>
                <a:gd name="connsiteX29" fmla="*/ 57528 w 421762"/>
                <a:gd name="connsiteY29" fmla="*/ 224773 h 419709"/>
                <a:gd name="connsiteX30" fmla="*/ 57528 w 421762"/>
                <a:gd name="connsiteY30" fmla="*/ 419710 h 419709"/>
                <a:gd name="connsiteX31" fmla="*/ 0 w 421762"/>
                <a:gd name="connsiteY31" fmla="*/ 419710 h 419709"/>
                <a:gd name="connsiteX32" fmla="*/ 0 w 421762"/>
                <a:gd name="connsiteY32" fmla="*/ 53422 h 419709"/>
                <a:gd name="connsiteX33" fmla="*/ 59854 w 421762"/>
                <a:gd name="connsiteY33" fmla="*/ 0 h 419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1762" h="419709">
                  <a:moveTo>
                    <a:pt x="59717" y="0"/>
                  </a:moveTo>
                  <a:lnTo>
                    <a:pt x="421489" y="0"/>
                  </a:lnTo>
                  <a:lnTo>
                    <a:pt x="421489" y="57117"/>
                  </a:lnTo>
                  <a:lnTo>
                    <a:pt x="57391" y="57117"/>
                  </a:lnTo>
                  <a:lnTo>
                    <a:pt x="57391" y="167656"/>
                  </a:lnTo>
                  <a:lnTo>
                    <a:pt x="91059" y="167656"/>
                  </a:lnTo>
                  <a:lnTo>
                    <a:pt x="91059" y="144024"/>
                  </a:lnTo>
                  <a:cubicBezTo>
                    <a:pt x="91059" y="112865"/>
                    <a:pt x="119572" y="90648"/>
                    <a:pt x="150913" y="90648"/>
                  </a:cubicBezTo>
                  <a:lnTo>
                    <a:pt x="421626" y="90648"/>
                  </a:lnTo>
                  <a:lnTo>
                    <a:pt x="421626" y="147902"/>
                  </a:lnTo>
                  <a:lnTo>
                    <a:pt x="149681" y="147902"/>
                  </a:lnTo>
                  <a:lnTo>
                    <a:pt x="149681" y="167793"/>
                  </a:lnTo>
                  <a:lnTo>
                    <a:pt x="421626" y="167793"/>
                  </a:lnTo>
                  <a:lnTo>
                    <a:pt x="421626" y="224910"/>
                  </a:lnTo>
                  <a:lnTo>
                    <a:pt x="225776" y="224910"/>
                  </a:lnTo>
                  <a:lnTo>
                    <a:pt x="225776" y="284490"/>
                  </a:lnTo>
                  <a:lnTo>
                    <a:pt x="421626" y="284490"/>
                  </a:lnTo>
                  <a:lnTo>
                    <a:pt x="421626" y="342702"/>
                  </a:lnTo>
                  <a:lnTo>
                    <a:pt x="220895" y="342702"/>
                  </a:lnTo>
                  <a:cubicBezTo>
                    <a:pt x="190192" y="342702"/>
                    <a:pt x="168523" y="314919"/>
                    <a:pt x="168523" y="284353"/>
                  </a:cubicBezTo>
                  <a:lnTo>
                    <a:pt x="168523" y="224773"/>
                  </a:lnTo>
                  <a:lnTo>
                    <a:pt x="149818" y="224773"/>
                  </a:lnTo>
                  <a:lnTo>
                    <a:pt x="149818" y="362593"/>
                  </a:lnTo>
                  <a:lnTo>
                    <a:pt x="421763" y="362593"/>
                  </a:lnTo>
                  <a:lnTo>
                    <a:pt x="421763" y="419710"/>
                  </a:lnTo>
                  <a:lnTo>
                    <a:pt x="144845" y="419710"/>
                  </a:lnTo>
                  <a:cubicBezTo>
                    <a:pt x="114914" y="419408"/>
                    <a:pt x="90894" y="394901"/>
                    <a:pt x="91196" y="364969"/>
                  </a:cubicBezTo>
                  <a:cubicBezTo>
                    <a:pt x="91196" y="364969"/>
                    <a:pt x="91196" y="364965"/>
                    <a:pt x="91196" y="364965"/>
                  </a:cubicBezTo>
                  <a:lnTo>
                    <a:pt x="91196" y="224773"/>
                  </a:lnTo>
                  <a:lnTo>
                    <a:pt x="57528" y="224773"/>
                  </a:lnTo>
                  <a:lnTo>
                    <a:pt x="57528" y="419710"/>
                  </a:lnTo>
                  <a:lnTo>
                    <a:pt x="0" y="419710"/>
                  </a:lnTo>
                  <a:lnTo>
                    <a:pt x="0" y="53422"/>
                  </a:lnTo>
                  <a:cubicBezTo>
                    <a:pt x="0" y="22217"/>
                    <a:pt x="28513" y="0"/>
                    <a:pt x="59854" y="0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72C943D-29C0-01D5-C496-31B31C02ECE3}"/>
                </a:ext>
              </a:extLst>
            </p:cNvPr>
            <p:cNvSpPr/>
            <p:nvPr/>
          </p:nvSpPr>
          <p:spPr>
            <a:xfrm>
              <a:off x="3825932" y="2058504"/>
              <a:ext cx="421762" cy="419709"/>
            </a:xfrm>
            <a:custGeom>
              <a:avLst/>
              <a:gdLst>
                <a:gd name="connsiteX0" fmla="*/ 59717 w 421762"/>
                <a:gd name="connsiteY0" fmla="*/ 0 h 419709"/>
                <a:gd name="connsiteX1" fmla="*/ 421489 w 421762"/>
                <a:gd name="connsiteY1" fmla="*/ 0 h 419709"/>
                <a:gd name="connsiteX2" fmla="*/ 421489 w 421762"/>
                <a:gd name="connsiteY2" fmla="*/ 57117 h 419709"/>
                <a:gd name="connsiteX3" fmla="*/ 57391 w 421762"/>
                <a:gd name="connsiteY3" fmla="*/ 57117 h 419709"/>
                <a:gd name="connsiteX4" fmla="*/ 57391 w 421762"/>
                <a:gd name="connsiteY4" fmla="*/ 167656 h 419709"/>
                <a:gd name="connsiteX5" fmla="*/ 91059 w 421762"/>
                <a:gd name="connsiteY5" fmla="*/ 167656 h 419709"/>
                <a:gd name="connsiteX6" fmla="*/ 91059 w 421762"/>
                <a:gd name="connsiteY6" fmla="*/ 144024 h 419709"/>
                <a:gd name="connsiteX7" fmla="*/ 150913 w 421762"/>
                <a:gd name="connsiteY7" fmla="*/ 90648 h 419709"/>
                <a:gd name="connsiteX8" fmla="*/ 421626 w 421762"/>
                <a:gd name="connsiteY8" fmla="*/ 90648 h 419709"/>
                <a:gd name="connsiteX9" fmla="*/ 421626 w 421762"/>
                <a:gd name="connsiteY9" fmla="*/ 147902 h 419709"/>
                <a:gd name="connsiteX10" fmla="*/ 149681 w 421762"/>
                <a:gd name="connsiteY10" fmla="*/ 147902 h 419709"/>
                <a:gd name="connsiteX11" fmla="*/ 149681 w 421762"/>
                <a:gd name="connsiteY11" fmla="*/ 167793 h 419709"/>
                <a:gd name="connsiteX12" fmla="*/ 421626 w 421762"/>
                <a:gd name="connsiteY12" fmla="*/ 167793 h 419709"/>
                <a:gd name="connsiteX13" fmla="*/ 421626 w 421762"/>
                <a:gd name="connsiteY13" fmla="*/ 224910 h 419709"/>
                <a:gd name="connsiteX14" fmla="*/ 225776 w 421762"/>
                <a:gd name="connsiteY14" fmla="*/ 224910 h 419709"/>
                <a:gd name="connsiteX15" fmla="*/ 225776 w 421762"/>
                <a:gd name="connsiteY15" fmla="*/ 284490 h 419709"/>
                <a:gd name="connsiteX16" fmla="*/ 421626 w 421762"/>
                <a:gd name="connsiteY16" fmla="*/ 284490 h 419709"/>
                <a:gd name="connsiteX17" fmla="*/ 421626 w 421762"/>
                <a:gd name="connsiteY17" fmla="*/ 342702 h 419709"/>
                <a:gd name="connsiteX18" fmla="*/ 220895 w 421762"/>
                <a:gd name="connsiteY18" fmla="*/ 342702 h 419709"/>
                <a:gd name="connsiteX19" fmla="*/ 168523 w 421762"/>
                <a:gd name="connsiteY19" fmla="*/ 284353 h 419709"/>
                <a:gd name="connsiteX20" fmla="*/ 168523 w 421762"/>
                <a:gd name="connsiteY20" fmla="*/ 224773 h 419709"/>
                <a:gd name="connsiteX21" fmla="*/ 149818 w 421762"/>
                <a:gd name="connsiteY21" fmla="*/ 224773 h 419709"/>
                <a:gd name="connsiteX22" fmla="*/ 149818 w 421762"/>
                <a:gd name="connsiteY22" fmla="*/ 362593 h 419709"/>
                <a:gd name="connsiteX23" fmla="*/ 421763 w 421762"/>
                <a:gd name="connsiteY23" fmla="*/ 362593 h 419709"/>
                <a:gd name="connsiteX24" fmla="*/ 421763 w 421762"/>
                <a:gd name="connsiteY24" fmla="*/ 419710 h 419709"/>
                <a:gd name="connsiteX25" fmla="*/ 144845 w 421762"/>
                <a:gd name="connsiteY25" fmla="*/ 419710 h 419709"/>
                <a:gd name="connsiteX26" fmla="*/ 91196 w 421762"/>
                <a:gd name="connsiteY26" fmla="*/ 364969 h 419709"/>
                <a:gd name="connsiteX27" fmla="*/ 91196 w 421762"/>
                <a:gd name="connsiteY27" fmla="*/ 364965 h 419709"/>
                <a:gd name="connsiteX28" fmla="*/ 91196 w 421762"/>
                <a:gd name="connsiteY28" fmla="*/ 224773 h 419709"/>
                <a:gd name="connsiteX29" fmla="*/ 57528 w 421762"/>
                <a:gd name="connsiteY29" fmla="*/ 224773 h 419709"/>
                <a:gd name="connsiteX30" fmla="*/ 57528 w 421762"/>
                <a:gd name="connsiteY30" fmla="*/ 419710 h 419709"/>
                <a:gd name="connsiteX31" fmla="*/ 0 w 421762"/>
                <a:gd name="connsiteY31" fmla="*/ 419710 h 419709"/>
                <a:gd name="connsiteX32" fmla="*/ 0 w 421762"/>
                <a:gd name="connsiteY32" fmla="*/ 53422 h 419709"/>
                <a:gd name="connsiteX33" fmla="*/ 59717 w 421762"/>
                <a:gd name="connsiteY33" fmla="*/ 0 h 419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1762" h="419709">
                  <a:moveTo>
                    <a:pt x="59717" y="0"/>
                  </a:moveTo>
                  <a:lnTo>
                    <a:pt x="421489" y="0"/>
                  </a:lnTo>
                  <a:lnTo>
                    <a:pt x="421489" y="57117"/>
                  </a:lnTo>
                  <a:lnTo>
                    <a:pt x="57391" y="57117"/>
                  </a:lnTo>
                  <a:lnTo>
                    <a:pt x="57391" y="167656"/>
                  </a:lnTo>
                  <a:lnTo>
                    <a:pt x="91059" y="167656"/>
                  </a:lnTo>
                  <a:lnTo>
                    <a:pt x="91059" y="144024"/>
                  </a:lnTo>
                  <a:cubicBezTo>
                    <a:pt x="91059" y="112865"/>
                    <a:pt x="119572" y="90648"/>
                    <a:pt x="150913" y="90648"/>
                  </a:cubicBezTo>
                  <a:lnTo>
                    <a:pt x="421626" y="90648"/>
                  </a:lnTo>
                  <a:lnTo>
                    <a:pt x="421626" y="147902"/>
                  </a:lnTo>
                  <a:lnTo>
                    <a:pt x="149681" y="147902"/>
                  </a:lnTo>
                  <a:lnTo>
                    <a:pt x="149681" y="167793"/>
                  </a:lnTo>
                  <a:lnTo>
                    <a:pt x="421626" y="167793"/>
                  </a:lnTo>
                  <a:lnTo>
                    <a:pt x="421626" y="224910"/>
                  </a:lnTo>
                  <a:lnTo>
                    <a:pt x="225776" y="224910"/>
                  </a:lnTo>
                  <a:lnTo>
                    <a:pt x="225776" y="284490"/>
                  </a:lnTo>
                  <a:lnTo>
                    <a:pt x="421626" y="284490"/>
                  </a:lnTo>
                  <a:lnTo>
                    <a:pt x="421626" y="342702"/>
                  </a:lnTo>
                  <a:lnTo>
                    <a:pt x="220895" y="342702"/>
                  </a:lnTo>
                  <a:cubicBezTo>
                    <a:pt x="190192" y="342702"/>
                    <a:pt x="168523" y="314919"/>
                    <a:pt x="168523" y="284353"/>
                  </a:cubicBezTo>
                  <a:lnTo>
                    <a:pt x="168523" y="224773"/>
                  </a:lnTo>
                  <a:lnTo>
                    <a:pt x="149818" y="224773"/>
                  </a:lnTo>
                  <a:lnTo>
                    <a:pt x="149818" y="362593"/>
                  </a:lnTo>
                  <a:lnTo>
                    <a:pt x="421763" y="362593"/>
                  </a:lnTo>
                  <a:lnTo>
                    <a:pt x="421763" y="419710"/>
                  </a:lnTo>
                  <a:lnTo>
                    <a:pt x="144845" y="419710"/>
                  </a:lnTo>
                  <a:cubicBezTo>
                    <a:pt x="114914" y="419408"/>
                    <a:pt x="90894" y="394901"/>
                    <a:pt x="91196" y="364969"/>
                  </a:cubicBezTo>
                  <a:cubicBezTo>
                    <a:pt x="91196" y="364969"/>
                    <a:pt x="91196" y="364965"/>
                    <a:pt x="91196" y="364965"/>
                  </a:cubicBezTo>
                  <a:lnTo>
                    <a:pt x="91196" y="224773"/>
                  </a:lnTo>
                  <a:lnTo>
                    <a:pt x="57528" y="224773"/>
                  </a:lnTo>
                  <a:lnTo>
                    <a:pt x="57528" y="419710"/>
                  </a:lnTo>
                  <a:lnTo>
                    <a:pt x="0" y="419710"/>
                  </a:lnTo>
                  <a:lnTo>
                    <a:pt x="0" y="53422"/>
                  </a:lnTo>
                  <a:cubicBezTo>
                    <a:pt x="0" y="22217"/>
                    <a:pt x="28513" y="0"/>
                    <a:pt x="59717" y="0"/>
                  </a:cubicBezTo>
                  <a:close/>
                </a:path>
              </a:pathLst>
            </a:custGeom>
            <a:solidFill>
              <a:srgbClr val="C00000"/>
            </a:solidFill>
            <a:ln w="820" cap="flat">
              <a:solidFill>
                <a:srgbClr val="DB003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0741ADA-80E5-F192-86C1-F7E0C41F5B41}"/>
                </a:ext>
              </a:extLst>
            </p:cNvPr>
            <p:cNvSpPr/>
            <p:nvPr/>
          </p:nvSpPr>
          <p:spPr>
            <a:xfrm>
              <a:off x="4352622" y="2133413"/>
              <a:ext cx="200183" cy="271807"/>
            </a:xfrm>
            <a:custGeom>
              <a:avLst/>
              <a:gdLst>
                <a:gd name="connsiteX0" fmla="*/ 75913 w 200183"/>
                <a:gd name="connsiteY0" fmla="*/ 14736 h 271807"/>
                <a:gd name="connsiteX1" fmla="*/ 75913 w 200183"/>
                <a:gd name="connsiteY1" fmla="*/ 121670 h 271807"/>
                <a:gd name="connsiteX2" fmla="*/ 124179 w 200183"/>
                <a:gd name="connsiteY2" fmla="*/ 121670 h 271807"/>
                <a:gd name="connsiteX3" fmla="*/ 148586 w 200183"/>
                <a:gd name="connsiteY3" fmla="*/ 114143 h 271807"/>
                <a:gd name="connsiteX4" fmla="*/ 158851 w 200183"/>
                <a:gd name="connsiteY4" fmla="*/ 84444 h 271807"/>
                <a:gd name="connsiteX5" fmla="*/ 166196 w 200183"/>
                <a:gd name="connsiteY5" fmla="*/ 84444 h 271807"/>
                <a:gd name="connsiteX6" fmla="*/ 166196 w 200183"/>
                <a:gd name="connsiteY6" fmla="*/ 176415 h 271807"/>
                <a:gd name="connsiteX7" fmla="*/ 158851 w 200183"/>
                <a:gd name="connsiteY7" fmla="*/ 176415 h 271807"/>
                <a:gd name="connsiteX8" fmla="*/ 154836 w 200183"/>
                <a:gd name="connsiteY8" fmla="*/ 153148 h 271807"/>
                <a:gd name="connsiteX9" fmla="*/ 144298 w 200183"/>
                <a:gd name="connsiteY9" fmla="*/ 142063 h 271807"/>
                <a:gd name="connsiteX10" fmla="*/ 124179 w 200183"/>
                <a:gd name="connsiteY10" fmla="*/ 138367 h 271807"/>
                <a:gd name="connsiteX11" fmla="*/ 75913 w 200183"/>
                <a:gd name="connsiteY11" fmla="*/ 138367 h 271807"/>
                <a:gd name="connsiteX12" fmla="*/ 75913 w 200183"/>
                <a:gd name="connsiteY12" fmla="*/ 223541 h 271807"/>
                <a:gd name="connsiteX13" fmla="*/ 78467 w 200183"/>
                <a:gd name="connsiteY13" fmla="*/ 250913 h 271807"/>
                <a:gd name="connsiteX14" fmla="*/ 86725 w 200183"/>
                <a:gd name="connsiteY14" fmla="*/ 259490 h 271807"/>
                <a:gd name="connsiteX15" fmla="*/ 104745 w 200183"/>
                <a:gd name="connsiteY15" fmla="*/ 264326 h 271807"/>
                <a:gd name="connsiteX16" fmla="*/ 114371 w 200183"/>
                <a:gd name="connsiteY16" fmla="*/ 264326 h 271807"/>
                <a:gd name="connsiteX17" fmla="*/ 114371 w 200183"/>
                <a:gd name="connsiteY17" fmla="*/ 271808 h 271807"/>
                <a:gd name="connsiteX18" fmla="*/ 319 w 200183"/>
                <a:gd name="connsiteY18" fmla="*/ 271808 h 271807"/>
                <a:gd name="connsiteX19" fmla="*/ 319 w 200183"/>
                <a:gd name="connsiteY19" fmla="*/ 264326 h 271807"/>
                <a:gd name="connsiteX20" fmla="*/ 9717 w 200183"/>
                <a:gd name="connsiteY20" fmla="*/ 264326 h 271807"/>
                <a:gd name="connsiteX21" fmla="*/ 33668 w 200183"/>
                <a:gd name="connsiteY21" fmla="*/ 254517 h 271807"/>
                <a:gd name="connsiteX22" fmla="*/ 38230 w 200183"/>
                <a:gd name="connsiteY22" fmla="*/ 223678 h 271807"/>
                <a:gd name="connsiteX23" fmla="*/ 38230 w 200183"/>
                <a:gd name="connsiteY23" fmla="*/ 48084 h 271807"/>
                <a:gd name="connsiteX24" fmla="*/ 35675 w 200183"/>
                <a:gd name="connsiteY24" fmla="*/ 20712 h 271807"/>
                <a:gd name="connsiteX25" fmla="*/ 27646 w 200183"/>
                <a:gd name="connsiteY25" fmla="*/ 12089 h 271807"/>
                <a:gd name="connsiteX26" fmla="*/ 9398 w 200183"/>
                <a:gd name="connsiteY26" fmla="*/ 7299 h 271807"/>
                <a:gd name="connsiteX27" fmla="*/ 0 w 200183"/>
                <a:gd name="connsiteY27" fmla="*/ 7299 h 271807"/>
                <a:gd name="connsiteX28" fmla="*/ 0 w 200183"/>
                <a:gd name="connsiteY28" fmla="*/ 0 h 271807"/>
                <a:gd name="connsiteX29" fmla="*/ 197446 w 200183"/>
                <a:gd name="connsiteY29" fmla="*/ 0 h 271807"/>
                <a:gd name="connsiteX30" fmla="*/ 200183 w 200183"/>
                <a:gd name="connsiteY30" fmla="*/ 59672 h 271807"/>
                <a:gd name="connsiteX31" fmla="*/ 193295 w 200183"/>
                <a:gd name="connsiteY31" fmla="*/ 59672 h 271807"/>
                <a:gd name="connsiteX32" fmla="*/ 181479 w 200183"/>
                <a:gd name="connsiteY32" fmla="*/ 31706 h 271807"/>
                <a:gd name="connsiteX33" fmla="*/ 164827 w 200183"/>
                <a:gd name="connsiteY33" fmla="*/ 18750 h 271807"/>
                <a:gd name="connsiteX34" fmla="*/ 134170 w 200183"/>
                <a:gd name="connsiteY34" fmla="*/ 14736 h 271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00183" h="271807">
                  <a:moveTo>
                    <a:pt x="75913" y="14736"/>
                  </a:moveTo>
                  <a:lnTo>
                    <a:pt x="75913" y="121670"/>
                  </a:lnTo>
                  <a:lnTo>
                    <a:pt x="124179" y="121670"/>
                  </a:lnTo>
                  <a:cubicBezTo>
                    <a:pt x="135311" y="121670"/>
                    <a:pt x="143445" y="119161"/>
                    <a:pt x="148586" y="114143"/>
                  </a:cubicBezTo>
                  <a:cubicBezTo>
                    <a:pt x="153728" y="109125"/>
                    <a:pt x="157149" y="99225"/>
                    <a:pt x="158851" y="84444"/>
                  </a:cubicBezTo>
                  <a:lnTo>
                    <a:pt x="166196" y="84444"/>
                  </a:lnTo>
                  <a:lnTo>
                    <a:pt x="166196" y="176415"/>
                  </a:lnTo>
                  <a:lnTo>
                    <a:pt x="158851" y="176415"/>
                  </a:lnTo>
                  <a:cubicBezTo>
                    <a:pt x="159234" y="168459"/>
                    <a:pt x="157866" y="160516"/>
                    <a:pt x="154836" y="153148"/>
                  </a:cubicBezTo>
                  <a:cubicBezTo>
                    <a:pt x="152523" y="148472"/>
                    <a:pt x="148851" y="144608"/>
                    <a:pt x="144298" y="142063"/>
                  </a:cubicBezTo>
                  <a:cubicBezTo>
                    <a:pt x="137984" y="139239"/>
                    <a:pt x="131086" y="137970"/>
                    <a:pt x="124179" y="138367"/>
                  </a:cubicBezTo>
                  <a:lnTo>
                    <a:pt x="75913" y="138367"/>
                  </a:lnTo>
                  <a:lnTo>
                    <a:pt x="75913" y="223541"/>
                  </a:lnTo>
                  <a:cubicBezTo>
                    <a:pt x="75393" y="232743"/>
                    <a:pt x="76255" y="241967"/>
                    <a:pt x="78467" y="250913"/>
                  </a:cubicBezTo>
                  <a:cubicBezTo>
                    <a:pt x="80146" y="254641"/>
                    <a:pt x="83066" y="257670"/>
                    <a:pt x="86725" y="259490"/>
                  </a:cubicBezTo>
                  <a:cubicBezTo>
                    <a:pt x="92213" y="262638"/>
                    <a:pt x="98422" y="264303"/>
                    <a:pt x="104745" y="264326"/>
                  </a:cubicBezTo>
                  <a:lnTo>
                    <a:pt x="114371" y="264326"/>
                  </a:lnTo>
                  <a:lnTo>
                    <a:pt x="114371" y="271808"/>
                  </a:lnTo>
                  <a:lnTo>
                    <a:pt x="319" y="271808"/>
                  </a:lnTo>
                  <a:lnTo>
                    <a:pt x="319" y="264326"/>
                  </a:lnTo>
                  <a:lnTo>
                    <a:pt x="9717" y="264326"/>
                  </a:lnTo>
                  <a:cubicBezTo>
                    <a:pt x="20698" y="264326"/>
                    <a:pt x="28682" y="261055"/>
                    <a:pt x="33668" y="254517"/>
                  </a:cubicBezTo>
                  <a:cubicBezTo>
                    <a:pt x="36770" y="250229"/>
                    <a:pt x="38230" y="239964"/>
                    <a:pt x="38230" y="223678"/>
                  </a:cubicBezTo>
                  <a:lnTo>
                    <a:pt x="38230" y="48084"/>
                  </a:lnTo>
                  <a:cubicBezTo>
                    <a:pt x="38759" y="38882"/>
                    <a:pt x="37897" y="29658"/>
                    <a:pt x="35675" y="20712"/>
                  </a:cubicBezTo>
                  <a:cubicBezTo>
                    <a:pt x="34024" y="17030"/>
                    <a:pt x="31204" y="13996"/>
                    <a:pt x="27646" y="12089"/>
                  </a:cubicBezTo>
                  <a:cubicBezTo>
                    <a:pt x="22099" y="8901"/>
                    <a:pt x="15798" y="7249"/>
                    <a:pt x="9398" y="7299"/>
                  </a:cubicBezTo>
                  <a:lnTo>
                    <a:pt x="0" y="7299"/>
                  </a:lnTo>
                  <a:lnTo>
                    <a:pt x="0" y="0"/>
                  </a:lnTo>
                  <a:lnTo>
                    <a:pt x="197446" y="0"/>
                  </a:lnTo>
                  <a:lnTo>
                    <a:pt x="200183" y="59672"/>
                  </a:lnTo>
                  <a:lnTo>
                    <a:pt x="193295" y="59672"/>
                  </a:lnTo>
                  <a:cubicBezTo>
                    <a:pt x="191109" y="49704"/>
                    <a:pt x="187104" y="40224"/>
                    <a:pt x="181479" y="31706"/>
                  </a:cubicBezTo>
                  <a:cubicBezTo>
                    <a:pt x="177227" y="25940"/>
                    <a:pt x="171465" y="21455"/>
                    <a:pt x="164827" y="18750"/>
                  </a:cubicBezTo>
                  <a:cubicBezTo>
                    <a:pt x="154928" y="15602"/>
                    <a:pt x="144544" y="14243"/>
                    <a:pt x="134170" y="14736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C2904AC-BC83-A3A1-4615-D3F6C57D071B}"/>
                </a:ext>
              </a:extLst>
            </p:cNvPr>
            <p:cNvSpPr/>
            <p:nvPr/>
          </p:nvSpPr>
          <p:spPr>
            <a:xfrm>
              <a:off x="4572239" y="2216155"/>
              <a:ext cx="133308" cy="189156"/>
            </a:xfrm>
            <a:custGeom>
              <a:avLst/>
              <a:gdLst>
                <a:gd name="connsiteX0" fmla="*/ 62683 w 133308"/>
                <a:gd name="connsiteY0" fmla="*/ 14 h 189156"/>
                <a:gd name="connsiteX1" fmla="*/ 62683 w 133308"/>
                <a:gd name="connsiteY1" fmla="*/ 41072 h 189156"/>
                <a:gd name="connsiteX2" fmla="*/ 108577 w 133308"/>
                <a:gd name="connsiteY2" fmla="*/ 14 h 189156"/>
                <a:gd name="connsiteX3" fmla="*/ 126278 w 133308"/>
                <a:gd name="connsiteY3" fmla="*/ 6720 h 189156"/>
                <a:gd name="connsiteX4" fmla="*/ 133303 w 133308"/>
                <a:gd name="connsiteY4" fmla="*/ 22231 h 189156"/>
                <a:gd name="connsiteX5" fmla="*/ 128239 w 133308"/>
                <a:gd name="connsiteY5" fmla="*/ 35461 h 189156"/>
                <a:gd name="connsiteX6" fmla="*/ 116196 w 133308"/>
                <a:gd name="connsiteY6" fmla="*/ 40844 h 189156"/>
                <a:gd name="connsiteX7" fmla="*/ 100913 w 133308"/>
                <a:gd name="connsiteY7" fmla="*/ 34001 h 189156"/>
                <a:gd name="connsiteX8" fmla="*/ 88367 w 133308"/>
                <a:gd name="connsiteY8" fmla="*/ 27158 h 189156"/>
                <a:gd name="connsiteX9" fmla="*/ 80749 w 133308"/>
                <a:gd name="connsiteY9" fmla="*/ 31173 h 189156"/>
                <a:gd name="connsiteX10" fmla="*/ 62500 w 133308"/>
                <a:gd name="connsiteY10" fmla="*/ 58089 h 189156"/>
                <a:gd name="connsiteX11" fmla="*/ 62500 w 133308"/>
                <a:gd name="connsiteY11" fmla="*/ 146045 h 189156"/>
                <a:gd name="connsiteX12" fmla="*/ 66196 w 133308"/>
                <a:gd name="connsiteY12" fmla="*/ 169175 h 189156"/>
                <a:gd name="connsiteX13" fmla="*/ 75320 w 133308"/>
                <a:gd name="connsiteY13" fmla="*/ 178299 h 189156"/>
                <a:gd name="connsiteX14" fmla="*/ 93933 w 133308"/>
                <a:gd name="connsiteY14" fmla="*/ 181857 h 189156"/>
                <a:gd name="connsiteX15" fmla="*/ 93933 w 133308"/>
                <a:gd name="connsiteY15" fmla="*/ 189157 h 189156"/>
                <a:gd name="connsiteX16" fmla="*/ 1779 w 133308"/>
                <a:gd name="connsiteY16" fmla="*/ 189157 h 189156"/>
                <a:gd name="connsiteX17" fmla="*/ 1779 w 133308"/>
                <a:gd name="connsiteY17" fmla="*/ 181857 h 189156"/>
                <a:gd name="connsiteX18" fmla="*/ 22126 w 133308"/>
                <a:gd name="connsiteY18" fmla="*/ 177295 h 189156"/>
                <a:gd name="connsiteX19" fmla="*/ 29015 w 133308"/>
                <a:gd name="connsiteY19" fmla="*/ 167031 h 189156"/>
                <a:gd name="connsiteX20" fmla="*/ 29973 w 133308"/>
                <a:gd name="connsiteY20" fmla="*/ 147505 h 189156"/>
                <a:gd name="connsiteX21" fmla="*/ 29973 w 133308"/>
                <a:gd name="connsiteY21" fmla="*/ 76565 h 189156"/>
                <a:gd name="connsiteX22" fmla="*/ 28695 w 133308"/>
                <a:gd name="connsiteY22" fmla="*/ 38426 h 189156"/>
                <a:gd name="connsiteX23" fmla="*/ 24133 w 133308"/>
                <a:gd name="connsiteY23" fmla="*/ 29530 h 189156"/>
                <a:gd name="connsiteX24" fmla="*/ 15648 w 133308"/>
                <a:gd name="connsiteY24" fmla="*/ 26702 h 189156"/>
                <a:gd name="connsiteX25" fmla="*/ 1962 w 133308"/>
                <a:gd name="connsiteY25" fmla="*/ 29713 h 189156"/>
                <a:gd name="connsiteX26" fmla="*/ 0 w 133308"/>
                <a:gd name="connsiteY26" fmla="*/ 22459 h 189156"/>
                <a:gd name="connsiteX27" fmla="*/ 54471 w 133308"/>
                <a:gd name="connsiteY27" fmla="*/ 14 h 189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3308" h="189156">
                  <a:moveTo>
                    <a:pt x="62683" y="14"/>
                  </a:moveTo>
                  <a:lnTo>
                    <a:pt x="62683" y="41072"/>
                  </a:lnTo>
                  <a:cubicBezTo>
                    <a:pt x="77555" y="13700"/>
                    <a:pt x="92852" y="14"/>
                    <a:pt x="108577" y="14"/>
                  </a:cubicBezTo>
                  <a:cubicBezTo>
                    <a:pt x="115137" y="-205"/>
                    <a:pt x="121511" y="2208"/>
                    <a:pt x="126278" y="6720"/>
                  </a:cubicBezTo>
                  <a:cubicBezTo>
                    <a:pt x="130712" y="10661"/>
                    <a:pt x="133262" y="16300"/>
                    <a:pt x="133303" y="22231"/>
                  </a:cubicBezTo>
                  <a:cubicBezTo>
                    <a:pt x="133422" y="27135"/>
                    <a:pt x="131602" y="31889"/>
                    <a:pt x="128239" y="35461"/>
                  </a:cubicBezTo>
                  <a:cubicBezTo>
                    <a:pt x="125192" y="38914"/>
                    <a:pt x="120799" y="40876"/>
                    <a:pt x="116196" y="40844"/>
                  </a:cubicBezTo>
                  <a:cubicBezTo>
                    <a:pt x="110475" y="40351"/>
                    <a:pt x="105092" y="37938"/>
                    <a:pt x="100913" y="34001"/>
                  </a:cubicBezTo>
                  <a:cubicBezTo>
                    <a:pt x="97482" y="30552"/>
                    <a:pt x="93125" y="28171"/>
                    <a:pt x="88367" y="27158"/>
                  </a:cubicBezTo>
                  <a:cubicBezTo>
                    <a:pt x="85402" y="27450"/>
                    <a:pt x="82665" y="28891"/>
                    <a:pt x="80749" y="31173"/>
                  </a:cubicBezTo>
                  <a:cubicBezTo>
                    <a:pt x="73166" y="39028"/>
                    <a:pt x="66994" y="48134"/>
                    <a:pt x="62500" y="58089"/>
                  </a:cubicBezTo>
                  <a:lnTo>
                    <a:pt x="62500" y="146045"/>
                  </a:lnTo>
                  <a:cubicBezTo>
                    <a:pt x="62090" y="153928"/>
                    <a:pt x="63349" y="161812"/>
                    <a:pt x="66196" y="169175"/>
                  </a:cubicBezTo>
                  <a:cubicBezTo>
                    <a:pt x="68162" y="173126"/>
                    <a:pt x="71369" y="176333"/>
                    <a:pt x="75320" y="178299"/>
                  </a:cubicBezTo>
                  <a:cubicBezTo>
                    <a:pt x="81141" y="180991"/>
                    <a:pt x="87532" y="182213"/>
                    <a:pt x="93933" y="181857"/>
                  </a:cubicBezTo>
                  <a:lnTo>
                    <a:pt x="93933" y="189157"/>
                  </a:lnTo>
                  <a:lnTo>
                    <a:pt x="1779" y="189157"/>
                  </a:lnTo>
                  <a:lnTo>
                    <a:pt x="1779" y="181857"/>
                  </a:lnTo>
                  <a:cubicBezTo>
                    <a:pt x="8859" y="182313"/>
                    <a:pt x="15922" y="180731"/>
                    <a:pt x="22126" y="177295"/>
                  </a:cubicBezTo>
                  <a:cubicBezTo>
                    <a:pt x="25616" y="174846"/>
                    <a:pt x="28070" y="171187"/>
                    <a:pt x="29015" y="167031"/>
                  </a:cubicBezTo>
                  <a:cubicBezTo>
                    <a:pt x="29923" y="160566"/>
                    <a:pt x="30242" y="154029"/>
                    <a:pt x="29973" y="147505"/>
                  </a:cubicBezTo>
                  <a:lnTo>
                    <a:pt x="29973" y="76565"/>
                  </a:lnTo>
                  <a:cubicBezTo>
                    <a:pt x="30361" y="63837"/>
                    <a:pt x="29936" y="51100"/>
                    <a:pt x="28695" y="38426"/>
                  </a:cubicBezTo>
                  <a:cubicBezTo>
                    <a:pt x="28244" y="35023"/>
                    <a:pt x="26633" y="31884"/>
                    <a:pt x="24133" y="29530"/>
                  </a:cubicBezTo>
                  <a:cubicBezTo>
                    <a:pt x="21729" y="27610"/>
                    <a:pt x="18723" y="26606"/>
                    <a:pt x="15648" y="26702"/>
                  </a:cubicBezTo>
                  <a:cubicBezTo>
                    <a:pt x="10940" y="26871"/>
                    <a:pt x="6305" y="27892"/>
                    <a:pt x="1962" y="29713"/>
                  </a:cubicBezTo>
                  <a:lnTo>
                    <a:pt x="0" y="22459"/>
                  </a:lnTo>
                  <a:lnTo>
                    <a:pt x="54471" y="14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5C475EE-EFC4-76F2-B18E-BD376DF85512}"/>
                </a:ext>
              </a:extLst>
            </p:cNvPr>
            <p:cNvSpPr/>
            <p:nvPr/>
          </p:nvSpPr>
          <p:spPr>
            <a:xfrm>
              <a:off x="4717951" y="2216088"/>
              <a:ext cx="151916" cy="194663"/>
            </a:xfrm>
            <a:custGeom>
              <a:avLst/>
              <a:gdLst>
                <a:gd name="connsiteX0" fmla="*/ 27783 w 151916"/>
                <a:gd name="connsiteY0" fmla="*/ 74716 h 194663"/>
                <a:gd name="connsiteX1" fmla="*/ 47217 w 151916"/>
                <a:gd name="connsiteY1" fmla="*/ 138585 h 194663"/>
                <a:gd name="connsiteX2" fmla="*/ 93294 w 151916"/>
                <a:gd name="connsiteY2" fmla="*/ 161760 h 194663"/>
                <a:gd name="connsiteX3" fmla="*/ 123951 w 151916"/>
                <a:gd name="connsiteY3" fmla="*/ 151906 h 194663"/>
                <a:gd name="connsiteX4" fmla="*/ 145849 w 151916"/>
                <a:gd name="connsiteY4" fmla="*/ 117919 h 194663"/>
                <a:gd name="connsiteX5" fmla="*/ 151917 w 151916"/>
                <a:gd name="connsiteY5" fmla="*/ 121933 h 194663"/>
                <a:gd name="connsiteX6" fmla="*/ 127966 w 151916"/>
                <a:gd name="connsiteY6" fmla="*/ 172116 h 194663"/>
                <a:gd name="connsiteX7" fmla="*/ 78376 w 151916"/>
                <a:gd name="connsiteY7" fmla="*/ 194653 h 194663"/>
                <a:gd name="connsiteX8" fmla="*/ 23038 w 151916"/>
                <a:gd name="connsiteY8" fmla="*/ 168923 h 194663"/>
                <a:gd name="connsiteX9" fmla="*/ 0 w 151916"/>
                <a:gd name="connsiteY9" fmla="*/ 99716 h 194663"/>
                <a:gd name="connsiteX10" fmla="*/ 23586 w 151916"/>
                <a:gd name="connsiteY10" fmla="*/ 26358 h 194663"/>
                <a:gd name="connsiteX11" fmla="*/ 82893 w 151916"/>
                <a:gd name="connsiteY11" fmla="*/ 35 h 194663"/>
                <a:gd name="connsiteX12" fmla="*/ 132482 w 151916"/>
                <a:gd name="connsiteY12" fmla="*/ 20336 h 194663"/>
                <a:gd name="connsiteX13" fmla="*/ 151917 w 151916"/>
                <a:gd name="connsiteY13" fmla="*/ 74670 h 194663"/>
                <a:gd name="connsiteX14" fmla="*/ 27783 w 151916"/>
                <a:gd name="connsiteY14" fmla="*/ 63174 h 194663"/>
                <a:gd name="connsiteX15" fmla="*/ 111132 w 151916"/>
                <a:gd name="connsiteY15" fmla="*/ 63174 h 194663"/>
                <a:gd name="connsiteX16" fmla="*/ 107026 w 151916"/>
                <a:gd name="connsiteY16" fmla="*/ 38402 h 194663"/>
                <a:gd name="connsiteX17" fmla="*/ 92382 w 151916"/>
                <a:gd name="connsiteY17" fmla="*/ 20792 h 194663"/>
                <a:gd name="connsiteX18" fmla="*/ 72035 w 151916"/>
                <a:gd name="connsiteY18" fmla="*/ 14406 h 194663"/>
                <a:gd name="connsiteX19" fmla="*/ 42838 w 151916"/>
                <a:gd name="connsiteY19" fmla="*/ 27316 h 194663"/>
                <a:gd name="connsiteX20" fmla="*/ 27783 w 151916"/>
                <a:gd name="connsiteY20" fmla="*/ 63174 h 194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1916" h="194663">
                  <a:moveTo>
                    <a:pt x="27783" y="74716"/>
                  </a:moveTo>
                  <a:cubicBezTo>
                    <a:pt x="27783" y="101906"/>
                    <a:pt x="34261" y="123197"/>
                    <a:pt x="47217" y="138585"/>
                  </a:cubicBezTo>
                  <a:cubicBezTo>
                    <a:pt x="60174" y="153973"/>
                    <a:pt x="75534" y="161701"/>
                    <a:pt x="93294" y="161760"/>
                  </a:cubicBezTo>
                  <a:cubicBezTo>
                    <a:pt x="104325" y="161993"/>
                    <a:pt x="115119" y="158521"/>
                    <a:pt x="123951" y="151906"/>
                  </a:cubicBezTo>
                  <a:cubicBezTo>
                    <a:pt x="132651" y="145337"/>
                    <a:pt x="139950" y="134009"/>
                    <a:pt x="145849" y="117919"/>
                  </a:cubicBezTo>
                  <a:lnTo>
                    <a:pt x="151917" y="121933"/>
                  </a:lnTo>
                  <a:cubicBezTo>
                    <a:pt x="149029" y="140647"/>
                    <a:pt x="140699" y="158101"/>
                    <a:pt x="127966" y="172116"/>
                  </a:cubicBezTo>
                  <a:cubicBezTo>
                    <a:pt x="115685" y="186728"/>
                    <a:pt x="97459" y="195008"/>
                    <a:pt x="78376" y="194653"/>
                  </a:cubicBezTo>
                  <a:cubicBezTo>
                    <a:pt x="57021" y="194744"/>
                    <a:pt x="36734" y="185310"/>
                    <a:pt x="23038" y="168923"/>
                  </a:cubicBezTo>
                  <a:cubicBezTo>
                    <a:pt x="7651" y="151769"/>
                    <a:pt x="-32" y="128699"/>
                    <a:pt x="0" y="99716"/>
                  </a:cubicBezTo>
                  <a:cubicBezTo>
                    <a:pt x="0" y="68361"/>
                    <a:pt x="7860" y="43909"/>
                    <a:pt x="23586" y="26358"/>
                  </a:cubicBezTo>
                  <a:cubicBezTo>
                    <a:pt x="38449" y="9196"/>
                    <a:pt x="60192" y="-458"/>
                    <a:pt x="82893" y="35"/>
                  </a:cubicBezTo>
                  <a:cubicBezTo>
                    <a:pt x="101561" y="-576"/>
                    <a:pt x="119604" y="6810"/>
                    <a:pt x="132482" y="20336"/>
                  </a:cubicBezTo>
                  <a:cubicBezTo>
                    <a:pt x="145439" y="33899"/>
                    <a:pt x="151917" y="52011"/>
                    <a:pt x="151917" y="74670"/>
                  </a:cubicBezTo>
                  <a:close/>
                  <a:moveTo>
                    <a:pt x="27783" y="63174"/>
                  </a:moveTo>
                  <a:lnTo>
                    <a:pt x="111132" y="63174"/>
                  </a:lnTo>
                  <a:cubicBezTo>
                    <a:pt x="111091" y="54752"/>
                    <a:pt x="109709" y="46386"/>
                    <a:pt x="107026" y="38402"/>
                  </a:cubicBezTo>
                  <a:cubicBezTo>
                    <a:pt x="103979" y="31221"/>
                    <a:pt x="98887" y="25099"/>
                    <a:pt x="92382" y="20792"/>
                  </a:cubicBezTo>
                  <a:cubicBezTo>
                    <a:pt x="86378" y="16700"/>
                    <a:pt x="79298" y="14479"/>
                    <a:pt x="72035" y="14406"/>
                  </a:cubicBezTo>
                  <a:cubicBezTo>
                    <a:pt x="60936" y="14483"/>
                    <a:pt x="50365" y="19159"/>
                    <a:pt x="42838" y="27316"/>
                  </a:cubicBezTo>
                  <a:cubicBezTo>
                    <a:pt x="33695" y="37084"/>
                    <a:pt x="28353" y="49807"/>
                    <a:pt x="27783" y="63174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42E6D0B-515E-6869-B7D3-2582328136FD}"/>
                </a:ext>
              </a:extLst>
            </p:cNvPr>
            <p:cNvSpPr/>
            <p:nvPr/>
          </p:nvSpPr>
          <p:spPr>
            <a:xfrm>
              <a:off x="4900760" y="2216169"/>
              <a:ext cx="122511" cy="194800"/>
            </a:xfrm>
            <a:custGeom>
              <a:avLst/>
              <a:gdLst>
                <a:gd name="connsiteX0" fmla="*/ 108890 w 122511"/>
                <a:gd name="connsiteY0" fmla="*/ 0 h 194800"/>
                <a:gd name="connsiteX1" fmla="*/ 108890 w 122511"/>
                <a:gd name="connsiteY1" fmla="*/ 62637 h 194800"/>
                <a:gd name="connsiteX2" fmla="*/ 102594 w 122511"/>
                <a:gd name="connsiteY2" fmla="*/ 62637 h 194800"/>
                <a:gd name="connsiteX3" fmla="*/ 83570 w 122511"/>
                <a:gd name="connsiteY3" fmla="*/ 22400 h 194800"/>
                <a:gd name="connsiteX4" fmla="*/ 53917 w 122511"/>
                <a:gd name="connsiteY4" fmla="*/ 11770 h 194800"/>
                <a:gd name="connsiteX5" fmla="*/ 31837 w 122511"/>
                <a:gd name="connsiteY5" fmla="*/ 19161 h 194800"/>
                <a:gd name="connsiteX6" fmla="*/ 23214 w 122511"/>
                <a:gd name="connsiteY6" fmla="*/ 35858 h 194800"/>
                <a:gd name="connsiteX7" fmla="*/ 29464 w 122511"/>
                <a:gd name="connsiteY7" fmla="*/ 55110 h 194800"/>
                <a:gd name="connsiteX8" fmla="*/ 54100 w 122511"/>
                <a:gd name="connsiteY8" fmla="*/ 72537 h 194800"/>
                <a:gd name="connsiteX9" fmla="*/ 82749 w 122511"/>
                <a:gd name="connsiteY9" fmla="*/ 86770 h 194800"/>
                <a:gd name="connsiteX10" fmla="*/ 122485 w 122511"/>
                <a:gd name="connsiteY10" fmla="*/ 139097 h 194800"/>
                <a:gd name="connsiteX11" fmla="*/ 103963 w 122511"/>
                <a:gd name="connsiteY11" fmla="*/ 179471 h 194800"/>
                <a:gd name="connsiteX12" fmla="*/ 62585 w 122511"/>
                <a:gd name="connsiteY12" fmla="*/ 194800 h 194800"/>
                <a:gd name="connsiteX13" fmla="*/ 24994 w 122511"/>
                <a:gd name="connsiteY13" fmla="*/ 188732 h 194800"/>
                <a:gd name="connsiteX14" fmla="*/ 14410 w 122511"/>
                <a:gd name="connsiteY14" fmla="*/ 186679 h 194800"/>
                <a:gd name="connsiteX15" fmla="*/ 7338 w 122511"/>
                <a:gd name="connsiteY15" fmla="*/ 192063 h 194800"/>
                <a:gd name="connsiteX16" fmla="*/ 860 w 122511"/>
                <a:gd name="connsiteY16" fmla="*/ 192063 h 194800"/>
                <a:gd name="connsiteX17" fmla="*/ 860 w 122511"/>
                <a:gd name="connsiteY17" fmla="*/ 126369 h 194800"/>
                <a:gd name="connsiteX18" fmla="*/ 7338 w 122511"/>
                <a:gd name="connsiteY18" fmla="*/ 126369 h 194800"/>
                <a:gd name="connsiteX19" fmla="*/ 28278 w 122511"/>
                <a:gd name="connsiteY19" fmla="*/ 168796 h 194800"/>
                <a:gd name="connsiteX20" fmla="*/ 62904 w 122511"/>
                <a:gd name="connsiteY20" fmla="*/ 183076 h 194800"/>
                <a:gd name="connsiteX21" fmla="*/ 84939 w 122511"/>
                <a:gd name="connsiteY21" fmla="*/ 174955 h 194800"/>
                <a:gd name="connsiteX22" fmla="*/ 93425 w 122511"/>
                <a:gd name="connsiteY22" fmla="*/ 155384 h 194800"/>
                <a:gd name="connsiteX23" fmla="*/ 83981 w 122511"/>
                <a:gd name="connsiteY23" fmla="*/ 132117 h 194800"/>
                <a:gd name="connsiteX24" fmla="*/ 46070 w 122511"/>
                <a:gd name="connsiteY24" fmla="*/ 108303 h 194800"/>
                <a:gd name="connsiteX25" fmla="*/ 8844 w 122511"/>
                <a:gd name="connsiteY25" fmla="*/ 82299 h 194800"/>
                <a:gd name="connsiteX26" fmla="*/ 39 w 122511"/>
                <a:gd name="connsiteY26" fmla="*/ 53422 h 194800"/>
                <a:gd name="connsiteX27" fmla="*/ 15231 w 122511"/>
                <a:gd name="connsiteY27" fmla="*/ 15465 h 194800"/>
                <a:gd name="connsiteX28" fmla="*/ 54465 w 122511"/>
                <a:gd name="connsiteY28" fmla="*/ 228 h 194800"/>
                <a:gd name="connsiteX29" fmla="*/ 80103 w 122511"/>
                <a:gd name="connsiteY29" fmla="*/ 4790 h 194800"/>
                <a:gd name="connsiteX30" fmla="*/ 93425 w 122511"/>
                <a:gd name="connsiteY30" fmla="*/ 7847 h 194800"/>
                <a:gd name="connsiteX31" fmla="*/ 98306 w 122511"/>
                <a:gd name="connsiteY31" fmla="*/ 6432 h 194800"/>
                <a:gd name="connsiteX32" fmla="*/ 102412 w 122511"/>
                <a:gd name="connsiteY32" fmla="*/ 137 h 19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22511" h="194800">
                  <a:moveTo>
                    <a:pt x="108890" y="0"/>
                  </a:moveTo>
                  <a:lnTo>
                    <a:pt x="108890" y="62637"/>
                  </a:lnTo>
                  <a:lnTo>
                    <a:pt x="102594" y="62637"/>
                  </a:lnTo>
                  <a:cubicBezTo>
                    <a:pt x="97667" y="42929"/>
                    <a:pt x="91326" y="29516"/>
                    <a:pt x="83570" y="22400"/>
                  </a:cubicBezTo>
                  <a:cubicBezTo>
                    <a:pt x="75418" y="15182"/>
                    <a:pt x="64798" y="11378"/>
                    <a:pt x="53917" y="11770"/>
                  </a:cubicBezTo>
                  <a:cubicBezTo>
                    <a:pt x="45893" y="11396"/>
                    <a:pt x="38018" y="14028"/>
                    <a:pt x="31837" y="19161"/>
                  </a:cubicBezTo>
                  <a:cubicBezTo>
                    <a:pt x="26590" y="23139"/>
                    <a:pt x="23420" y="29275"/>
                    <a:pt x="23214" y="35858"/>
                  </a:cubicBezTo>
                  <a:cubicBezTo>
                    <a:pt x="23041" y="42801"/>
                    <a:pt x="25249" y="49590"/>
                    <a:pt x="29464" y="55110"/>
                  </a:cubicBezTo>
                  <a:cubicBezTo>
                    <a:pt x="33479" y="60584"/>
                    <a:pt x="41691" y="66424"/>
                    <a:pt x="54100" y="72537"/>
                  </a:cubicBezTo>
                  <a:lnTo>
                    <a:pt x="82749" y="86770"/>
                  </a:lnTo>
                  <a:cubicBezTo>
                    <a:pt x="109269" y="100000"/>
                    <a:pt x="122517" y="117441"/>
                    <a:pt x="122485" y="139097"/>
                  </a:cubicBezTo>
                  <a:cubicBezTo>
                    <a:pt x="122991" y="154718"/>
                    <a:pt x="116134" y="169668"/>
                    <a:pt x="103963" y="179471"/>
                  </a:cubicBezTo>
                  <a:cubicBezTo>
                    <a:pt x="92462" y="189389"/>
                    <a:pt x="77772" y="194832"/>
                    <a:pt x="62585" y="194800"/>
                  </a:cubicBezTo>
                  <a:cubicBezTo>
                    <a:pt x="49834" y="194526"/>
                    <a:pt x="37183" y="192487"/>
                    <a:pt x="24994" y="188732"/>
                  </a:cubicBezTo>
                  <a:cubicBezTo>
                    <a:pt x="21586" y="187533"/>
                    <a:pt x="18018" y="186839"/>
                    <a:pt x="14410" y="186679"/>
                  </a:cubicBezTo>
                  <a:cubicBezTo>
                    <a:pt x="11175" y="186862"/>
                    <a:pt x="8374" y="188993"/>
                    <a:pt x="7338" y="192063"/>
                  </a:cubicBezTo>
                  <a:lnTo>
                    <a:pt x="860" y="192063"/>
                  </a:lnTo>
                  <a:lnTo>
                    <a:pt x="860" y="126369"/>
                  </a:lnTo>
                  <a:lnTo>
                    <a:pt x="7338" y="126369"/>
                  </a:lnTo>
                  <a:cubicBezTo>
                    <a:pt x="10988" y="145165"/>
                    <a:pt x="17968" y="159261"/>
                    <a:pt x="28278" y="168796"/>
                  </a:cubicBezTo>
                  <a:cubicBezTo>
                    <a:pt x="37544" y="177847"/>
                    <a:pt x="49953" y="182961"/>
                    <a:pt x="62904" y="183076"/>
                  </a:cubicBezTo>
                  <a:cubicBezTo>
                    <a:pt x="71034" y="183399"/>
                    <a:pt x="78963" y="180480"/>
                    <a:pt x="84939" y="174955"/>
                  </a:cubicBezTo>
                  <a:cubicBezTo>
                    <a:pt x="90423" y="169937"/>
                    <a:pt x="93507" y="162815"/>
                    <a:pt x="93425" y="155384"/>
                  </a:cubicBezTo>
                  <a:cubicBezTo>
                    <a:pt x="93625" y="146656"/>
                    <a:pt x="90204" y="138235"/>
                    <a:pt x="83981" y="132117"/>
                  </a:cubicBezTo>
                  <a:cubicBezTo>
                    <a:pt x="77626" y="125821"/>
                    <a:pt x="64989" y="117884"/>
                    <a:pt x="46070" y="108303"/>
                  </a:cubicBezTo>
                  <a:cubicBezTo>
                    <a:pt x="27152" y="98723"/>
                    <a:pt x="14743" y="90055"/>
                    <a:pt x="8844" y="82299"/>
                  </a:cubicBezTo>
                  <a:cubicBezTo>
                    <a:pt x="2717" y="73951"/>
                    <a:pt x="-390" y="63768"/>
                    <a:pt x="39" y="53422"/>
                  </a:cubicBezTo>
                  <a:cubicBezTo>
                    <a:pt x="-335" y="39220"/>
                    <a:pt x="5162" y="25488"/>
                    <a:pt x="15231" y="15465"/>
                  </a:cubicBezTo>
                  <a:cubicBezTo>
                    <a:pt x="25632" y="5169"/>
                    <a:pt x="39839" y="-347"/>
                    <a:pt x="54465" y="228"/>
                  </a:cubicBezTo>
                  <a:cubicBezTo>
                    <a:pt x="63187" y="488"/>
                    <a:pt x="71828" y="2026"/>
                    <a:pt x="80103" y="4790"/>
                  </a:cubicBezTo>
                  <a:cubicBezTo>
                    <a:pt x="84415" y="6309"/>
                    <a:pt x="88881" y="7336"/>
                    <a:pt x="93425" y="7847"/>
                  </a:cubicBezTo>
                  <a:cubicBezTo>
                    <a:pt x="95163" y="7938"/>
                    <a:pt x="96883" y="7441"/>
                    <a:pt x="98306" y="6432"/>
                  </a:cubicBezTo>
                  <a:cubicBezTo>
                    <a:pt x="100071" y="4621"/>
                    <a:pt x="101467" y="2482"/>
                    <a:pt x="102412" y="137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9BDD159-DC9A-CECF-B4BD-755C737B9356}"/>
                </a:ext>
              </a:extLst>
            </p:cNvPr>
            <p:cNvSpPr/>
            <p:nvPr/>
          </p:nvSpPr>
          <p:spPr>
            <a:xfrm>
              <a:off x="5039531" y="2216032"/>
              <a:ext cx="196488" cy="189279"/>
            </a:xfrm>
            <a:custGeom>
              <a:avLst/>
              <a:gdLst>
                <a:gd name="connsiteX0" fmla="*/ 62957 w 196488"/>
                <a:gd name="connsiteY0" fmla="*/ 38960 h 189279"/>
                <a:gd name="connsiteX1" fmla="*/ 122993 w 196488"/>
                <a:gd name="connsiteY1" fmla="*/ 137 h 189279"/>
                <a:gd name="connsiteX2" fmla="*/ 148176 w 196488"/>
                <a:gd name="connsiteY2" fmla="*/ 7664 h 189279"/>
                <a:gd name="connsiteX3" fmla="*/ 165010 w 196488"/>
                <a:gd name="connsiteY3" fmla="*/ 32391 h 189279"/>
                <a:gd name="connsiteX4" fmla="*/ 169298 w 196488"/>
                <a:gd name="connsiteY4" fmla="*/ 69298 h 189279"/>
                <a:gd name="connsiteX5" fmla="*/ 169298 w 196488"/>
                <a:gd name="connsiteY5" fmla="*/ 147674 h 189279"/>
                <a:gd name="connsiteX6" fmla="*/ 172035 w 196488"/>
                <a:gd name="connsiteY6" fmla="*/ 171305 h 189279"/>
                <a:gd name="connsiteX7" fmla="*/ 178970 w 196488"/>
                <a:gd name="connsiteY7" fmla="*/ 179107 h 189279"/>
                <a:gd name="connsiteX8" fmla="*/ 196488 w 196488"/>
                <a:gd name="connsiteY8" fmla="*/ 181981 h 189279"/>
                <a:gd name="connsiteX9" fmla="*/ 196488 w 196488"/>
                <a:gd name="connsiteY9" fmla="*/ 189280 h 189279"/>
                <a:gd name="connsiteX10" fmla="*/ 107665 w 196488"/>
                <a:gd name="connsiteY10" fmla="*/ 189280 h 189279"/>
                <a:gd name="connsiteX11" fmla="*/ 107665 w 196488"/>
                <a:gd name="connsiteY11" fmla="*/ 181981 h 189279"/>
                <a:gd name="connsiteX12" fmla="*/ 111406 w 196488"/>
                <a:gd name="connsiteY12" fmla="*/ 181981 h 189279"/>
                <a:gd name="connsiteX13" fmla="*/ 128970 w 196488"/>
                <a:gd name="connsiteY13" fmla="*/ 178103 h 189279"/>
                <a:gd name="connsiteX14" fmla="*/ 135950 w 196488"/>
                <a:gd name="connsiteY14" fmla="*/ 166607 h 189279"/>
                <a:gd name="connsiteX15" fmla="*/ 136725 w 196488"/>
                <a:gd name="connsiteY15" fmla="*/ 147765 h 189279"/>
                <a:gd name="connsiteX16" fmla="*/ 136725 w 196488"/>
                <a:gd name="connsiteY16" fmla="*/ 72491 h 189279"/>
                <a:gd name="connsiteX17" fmla="*/ 130384 w 196488"/>
                <a:gd name="connsiteY17" fmla="*/ 35995 h 189279"/>
                <a:gd name="connsiteX18" fmla="*/ 109079 w 196488"/>
                <a:gd name="connsiteY18" fmla="*/ 24681 h 189279"/>
                <a:gd name="connsiteX19" fmla="*/ 62957 w 196488"/>
                <a:gd name="connsiteY19" fmla="*/ 50730 h 189279"/>
                <a:gd name="connsiteX20" fmla="*/ 62957 w 196488"/>
                <a:gd name="connsiteY20" fmla="*/ 147628 h 189279"/>
                <a:gd name="connsiteX21" fmla="*/ 65101 w 196488"/>
                <a:gd name="connsiteY21" fmla="*/ 170439 h 189279"/>
                <a:gd name="connsiteX22" fmla="*/ 72674 w 196488"/>
                <a:gd name="connsiteY22" fmla="*/ 178924 h 189279"/>
                <a:gd name="connsiteX23" fmla="*/ 92199 w 196488"/>
                <a:gd name="connsiteY23" fmla="*/ 181616 h 189279"/>
                <a:gd name="connsiteX24" fmla="*/ 92199 w 196488"/>
                <a:gd name="connsiteY24" fmla="*/ 188915 h 189279"/>
                <a:gd name="connsiteX25" fmla="*/ 3193 w 196488"/>
                <a:gd name="connsiteY25" fmla="*/ 188915 h 189279"/>
                <a:gd name="connsiteX26" fmla="*/ 3193 w 196488"/>
                <a:gd name="connsiteY26" fmla="*/ 181981 h 189279"/>
                <a:gd name="connsiteX27" fmla="*/ 7117 w 196488"/>
                <a:gd name="connsiteY27" fmla="*/ 181981 h 189279"/>
                <a:gd name="connsiteX28" fmla="*/ 25365 w 196488"/>
                <a:gd name="connsiteY28" fmla="*/ 174910 h 189279"/>
                <a:gd name="connsiteX29" fmla="*/ 30155 w 196488"/>
                <a:gd name="connsiteY29" fmla="*/ 147765 h 189279"/>
                <a:gd name="connsiteX30" fmla="*/ 30155 w 196488"/>
                <a:gd name="connsiteY30" fmla="*/ 79334 h 189279"/>
                <a:gd name="connsiteX31" fmla="*/ 28695 w 196488"/>
                <a:gd name="connsiteY31" fmla="*/ 39097 h 189279"/>
                <a:gd name="connsiteX32" fmla="*/ 24133 w 196488"/>
                <a:gd name="connsiteY32" fmla="*/ 29334 h 189279"/>
                <a:gd name="connsiteX33" fmla="*/ 16013 w 196488"/>
                <a:gd name="connsiteY33" fmla="*/ 26734 h 189279"/>
                <a:gd name="connsiteX34" fmla="*/ 2920 w 196488"/>
                <a:gd name="connsiteY34" fmla="*/ 29699 h 189279"/>
                <a:gd name="connsiteX35" fmla="*/ 0 w 196488"/>
                <a:gd name="connsiteY35" fmla="*/ 22445 h 189279"/>
                <a:gd name="connsiteX36" fmla="*/ 54243 w 196488"/>
                <a:gd name="connsiteY36" fmla="*/ 0 h 189279"/>
                <a:gd name="connsiteX37" fmla="*/ 62683 w 196488"/>
                <a:gd name="connsiteY37" fmla="*/ 0 h 189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96488" h="189279">
                  <a:moveTo>
                    <a:pt x="62957" y="38960"/>
                  </a:moveTo>
                  <a:cubicBezTo>
                    <a:pt x="83942" y="13107"/>
                    <a:pt x="103956" y="169"/>
                    <a:pt x="122993" y="137"/>
                  </a:cubicBezTo>
                  <a:cubicBezTo>
                    <a:pt x="131976" y="-100"/>
                    <a:pt x="140799" y="2537"/>
                    <a:pt x="148176" y="7664"/>
                  </a:cubicBezTo>
                  <a:cubicBezTo>
                    <a:pt x="156168" y="14006"/>
                    <a:pt x="162045" y="22628"/>
                    <a:pt x="165010" y="32391"/>
                  </a:cubicBezTo>
                  <a:cubicBezTo>
                    <a:pt x="168390" y="44389"/>
                    <a:pt x="169836" y="56848"/>
                    <a:pt x="169298" y="69298"/>
                  </a:cubicBezTo>
                  <a:lnTo>
                    <a:pt x="169298" y="147674"/>
                  </a:lnTo>
                  <a:cubicBezTo>
                    <a:pt x="168805" y="155653"/>
                    <a:pt x="169732" y="163650"/>
                    <a:pt x="172035" y="171305"/>
                  </a:cubicBezTo>
                  <a:cubicBezTo>
                    <a:pt x="173440" y="174590"/>
                    <a:pt x="175872" y="177327"/>
                    <a:pt x="178970" y="179107"/>
                  </a:cubicBezTo>
                  <a:cubicBezTo>
                    <a:pt x="184508" y="181410"/>
                    <a:pt x="190503" y="182396"/>
                    <a:pt x="196488" y="181981"/>
                  </a:cubicBezTo>
                  <a:lnTo>
                    <a:pt x="196488" y="189280"/>
                  </a:lnTo>
                  <a:lnTo>
                    <a:pt x="107665" y="189280"/>
                  </a:lnTo>
                  <a:lnTo>
                    <a:pt x="107665" y="181981"/>
                  </a:lnTo>
                  <a:lnTo>
                    <a:pt x="111406" y="181981"/>
                  </a:lnTo>
                  <a:cubicBezTo>
                    <a:pt x="117523" y="182546"/>
                    <a:pt x="123659" y="181192"/>
                    <a:pt x="128970" y="178103"/>
                  </a:cubicBezTo>
                  <a:cubicBezTo>
                    <a:pt x="132514" y="175160"/>
                    <a:pt x="134973" y="171109"/>
                    <a:pt x="135950" y="166607"/>
                  </a:cubicBezTo>
                  <a:cubicBezTo>
                    <a:pt x="136689" y="160357"/>
                    <a:pt x="136949" y="154056"/>
                    <a:pt x="136725" y="147765"/>
                  </a:cubicBezTo>
                  <a:lnTo>
                    <a:pt x="136725" y="72491"/>
                  </a:lnTo>
                  <a:cubicBezTo>
                    <a:pt x="136725" y="55794"/>
                    <a:pt x="134613" y="43627"/>
                    <a:pt x="130384" y="35995"/>
                  </a:cubicBezTo>
                  <a:cubicBezTo>
                    <a:pt x="126086" y="28403"/>
                    <a:pt x="117774" y="23992"/>
                    <a:pt x="109079" y="24681"/>
                  </a:cubicBezTo>
                  <a:cubicBezTo>
                    <a:pt x="93659" y="24681"/>
                    <a:pt x="78239" y="33349"/>
                    <a:pt x="62957" y="50730"/>
                  </a:cubicBezTo>
                  <a:lnTo>
                    <a:pt x="62957" y="147628"/>
                  </a:lnTo>
                  <a:cubicBezTo>
                    <a:pt x="62957" y="160037"/>
                    <a:pt x="63686" y="167701"/>
                    <a:pt x="65101" y="170439"/>
                  </a:cubicBezTo>
                  <a:cubicBezTo>
                    <a:pt x="66656" y="174002"/>
                    <a:pt x="69311" y="176976"/>
                    <a:pt x="72674" y="178924"/>
                  </a:cubicBezTo>
                  <a:cubicBezTo>
                    <a:pt x="78910" y="181233"/>
                    <a:pt x="85571" y="182154"/>
                    <a:pt x="92199" y="181616"/>
                  </a:cubicBezTo>
                  <a:lnTo>
                    <a:pt x="92199" y="188915"/>
                  </a:lnTo>
                  <a:lnTo>
                    <a:pt x="3193" y="188915"/>
                  </a:lnTo>
                  <a:lnTo>
                    <a:pt x="3193" y="181981"/>
                  </a:lnTo>
                  <a:lnTo>
                    <a:pt x="7117" y="181981"/>
                  </a:lnTo>
                  <a:cubicBezTo>
                    <a:pt x="16241" y="181981"/>
                    <a:pt x="22400" y="179608"/>
                    <a:pt x="25365" y="174910"/>
                  </a:cubicBezTo>
                  <a:cubicBezTo>
                    <a:pt x="28331" y="170210"/>
                    <a:pt x="30155" y="161223"/>
                    <a:pt x="30155" y="147765"/>
                  </a:cubicBezTo>
                  <a:lnTo>
                    <a:pt x="30155" y="79334"/>
                  </a:lnTo>
                  <a:cubicBezTo>
                    <a:pt x="30575" y="65904"/>
                    <a:pt x="30087" y="52459"/>
                    <a:pt x="28695" y="39097"/>
                  </a:cubicBezTo>
                  <a:cubicBezTo>
                    <a:pt x="28257" y="35438"/>
                    <a:pt x="26656" y="32017"/>
                    <a:pt x="24133" y="29334"/>
                  </a:cubicBezTo>
                  <a:cubicBezTo>
                    <a:pt x="21834" y="27505"/>
                    <a:pt x="18946" y="26583"/>
                    <a:pt x="16013" y="26734"/>
                  </a:cubicBezTo>
                  <a:cubicBezTo>
                    <a:pt x="11501" y="26902"/>
                    <a:pt x="7062" y="27911"/>
                    <a:pt x="2920" y="29699"/>
                  </a:cubicBezTo>
                  <a:lnTo>
                    <a:pt x="0" y="22445"/>
                  </a:lnTo>
                  <a:lnTo>
                    <a:pt x="54243" y="0"/>
                  </a:lnTo>
                  <a:lnTo>
                    <a:pt x="62683" y="0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19D5DED-3EF9-AF86-EB61-9CD3E816C78F}"/>
                </a:ext>
              </a:extLst>
            </p:cNvPr>
            <p:cNvSpPr/>
            <p:nvPr/>
          </p:nvSpPr>
          <p:spPr>
            <a:xfrm>
              <a:off x="5251388" y="2216137"/>
              <a:ext cx="173326" cy="194631"/>
            </a:xfrm>
            <a:custGeom>
              <a:avLst/>
              <a:gdLst>
                <a:gd name="connsiteX0" fmla="*/ 86912 w 173326"/>
                <a:gd name="connsiteY0" fmla="*/ 32 h 194631"/>
                <a:gd name="connsiteX1" fmla="*/ 152332 w 173326"/>
                <a:gd name="connsiteY1" fmla="*/ 31693 h 194631"/>
                <a:gd name="connsiteX2" fmla="*/ 173318 w 173326"/>
                <a:gd name="connsiteY2" fmla="*/ 93828 h 194631"/>
                <a:gd name="connsiteX3" fmla="*/ 161730 w 173326"/>
                <a:gd name="connsiteY3" fmla="*/ 143737 h 194631"/>
                <a:gd name="connsiteX4" fmla="*/ 129796 w 173326"/>
                <a:gd name="connsiteY4" fmla="*/ 181784 h 194631"/>
                <a:gd name="connsiteX5" fmla="*/ 84631 w 173326"/>
                <a:gd name="connsiteY5" fmla="*/ 194604 h 194631"/>
                <a:gd name="connsiteX6" fmla="*/ 20169 w 173326"/>
                <a:gd name="connsiteY6" fmla="*/ 161574 h 194631"/>
                <a:gd name="connsiteX7" fmla="*/ 5 w 173326"/>
                <a:gd name="connsiteY7" fmla="*/ 99029 h 194631"/>
                <a:gd name="connsiteX8" fmla="*/ 12231 w 173326"/>
                <a:gd name="connsiteY8" fmla="*/ 48846 h 194631"/>
                <a:gd name="connsiteX9" fmla="*/ 44485 w 173326"/>
                <a:gd name="connsiteY9" fmla="*/ 11939 h 194631"/>
                <a:gd name="connsiteX10" fmla="*/ 86821 w 173326"/>
                <a:gd name="connsiteY10" fmla="*/ 32 h 194631"/>
                <a:gd name="connsiteX11" fmla="*/ 80799 w 173326"/>
                <a:gd name="connsiteY11" fmla="*/ 13079 h 194631"/>
                <a:gd name="connsiteX12" fmla="*/ 59905 w 173326"/>
                <a:gd name="connsiteY12" fmla="*/ 19375 h 194631"/>
                <a:gd name="connsiteX13" fmla="*/ 42934 w 173326"/>
                <a:gd name="connsiteY13" fmla="*/ 41501 h 194631"/>
                <a:gd name="connsiteX14" fmla="*/ 36456 w 173326"/>
                <a:gd name="connsiteY14" fmla="*/ 82149 h 194631"/>
                <a:gd name="connsiteX15" fmla="*/ 52058 w 173326"/>
                <a:gd name="connsiteY15" fmla="*/ 151264 h 194631"/>
                <a:gd name="connsiteX16" fmla="*/ 93117 w 173326"/>
                <a:gd name="connsiteY16" fmla="*/ 180279 h 194631"/>
                <a:gd name="connsiteX17" fmla="*/ 124549 w 173326"/>
                <a:gd name="connsiteY17" fmla="*/ 164266 h 194631"/>
                <a:gd name="connsiteX18" fmla="*/ 136912 w 173326"/>
                <a:gd name="connsiteY18" fmla="*/ 109202 h 194631"/>
                <a:gd name="connsiteX19" fmla="*/ 116292 w 173326"/>
                <a:gd name="connsiteY19" fmla="*/ 32286 h 194631"/>
                <a:gd name="connsiteX20" fmla="*/ 80753 w 173326"/>
                <a:gd name="connsiteY20" fmla="*/ 13079 h 194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3326" h="194631">
                  <a:moveTo>
                    <a:pt x="86912" y="32"/>
                  </a:moveTo>
                  <a:cubicBezTo>
                    <a:pt x="112574" y="-698"/>
                    <a:pt x="136981" y="11118"/>
                    <a:pt x="152332" y="31693"/>
                  </a:cubicBezTo>
                  <a:cubicBezTo>
                    <a:pt x="166224" y="49398"/>
                    <a:pt x="173628" y="71328"/>
                    <a:pt x="173318" y="93828"/>
                  </a:cubicBezTo>
                  <a:cubicBezTo>
                    <a:pt x="173117" y="111109"/>
                    <a:pt x="169162" y="128134"/>
                    <a:pt x="161730" y="143737"/>
                  </a:cubicBezTo>
                  <a:cubicBezTo>
                    <a:pt x="155092" y="159303"/>
                    <a:pt x="143975" y="172546"/>
                    <a:pt x="129796" y="181784"/>
                  </a:cubicBezTo>
                  <a:cubicBezTo>
                    <a:pt x="116301" y="190343"/>
                    <a:pt x="100612" y="194800"/>
                    <a:pt x="84631" y="194604"/>
                  </a:cubicBezTo>
                  <a:cubicBezTo>
                    <a:pt x="58919" y="195302"/>
                    <a:pt x="34622" y="182852"/>
                    <a:pt x="20169" y="161574"/>
                  </a:cubicBezTo>
                  <a:cubicBezTo>
                    <a:pt x="6862" y="143454"/>
                    <a:pt x="-214" y="121510"/>
                    <a:pt x="5" y="99029"/>
                  </a:cubicBezTo>
                  <a:cubicBezTo>
                    <a:pt x="142" y="81579"/>
                    <a:pt x="4330" y="64403"/>
                    <a:pt x="12231" y="48846"/>
                  </a:cubicBezTo>
                  <a:cubicBezTo>
                    <a:pt x="19134" y="33650"/>
                    <a:pt x="30352" y="20817"/>
                    <a:pt x="44485" y="11939"/>
                  </a:cubicBezTo>
                  <a:cubicBezTo>
                    <a:pt x="57236" y="4156"/>
                    <a:pt x="71885" y="36"/>
                    <a:pt x="86821" y="32"/>
                  </a:cubicBezTo>
                  <a:moveTo>
                    <a:pt x="80799" y="13079"/>
                  </a:moveTo>
                  <a:cubicBezTo>
                    <a:pt x="73390" y="13216"/>
                    <a:pt x="66159" y="15397"/>
                    <a:pt x="59905" y="19375"/>
                  </a:cubicBezTo>
                  <a:cubicBezTo>
                    <a:pt x="51985" y="24704"/>
                    <a:pt x="46027" y="32473"/>
                    <a:pt x="42934" y="41501"/>
                  </a:cubicBezTo>
                  <a:cubicBezTo>
                    <a:pt x="38194" y="54512"/>
                    <a:pt x="35995" y="68312"/>
                    <a:pt x="36456" y="82149"/>
                  </a:cubicBezTo>
                  <a:cubicBezTo>
                    <a:pt x="35817" y="106127"/>
                    <a:pt x="41182" y="129886"/>
                    <a:pt x="52058" y="151264"/>
                  </a:cubicBezTo>
                  <a:cubicBezTo>
                    <a:pt x="62460" y="170607"/>
                    <a:pt x="76146" y="180279"/>
                    <a:pt x="93117" y="180279"/>
                  </a:cubicBezTo>
                  <a:cubicBezTo>
                    <a:pt x="105580" y="180398"/>
                    <a:pt x="117318" y="174421"/>
                    <a:pt x="124549" y="164266"/>
                  </a:cubicBezTo>
                  <a:cubicBezTo>
                    <a:pt x="132761" y="153591"/>
                    <a:pt x="136880" y="135238"/>
                    <a:pt x="136912" y="109202"/>
                  </a:cubicBezTo>
                  <a:cubicBezTo>
                    <a:pt x="136912" y="76629"/>
                    <a:pt x="130037" y="50990"/>
                    <a:pt x="116292" y="32286"/>
                  </a:cubicBezTo>
                  <a:cubicBezTo>
                    <a:pt x="108468" y="20274"/>
                    <a:pt x="95087" y="13043"/>
                    <a:pt x="80753" y="13079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EF4E4A4-7E69-F563-3842-24536A42E614}"/>
                </a:ext>
              </a:extLst>
            </p:cNvPr>
            <p:cNvSpPr/>
            <p:nvPr/>
          </p:nvSpPr>
          <p:spPr>
            <a:xfrm>
              <a:off x="5553456" y="2127023"/>
              <a:ext cx="239088" cy="284304"/>
            </a:xfrm>
            <a:custGeom>
              <a:avLst/>
              <a:gdLst>
                <a:gd name="connsiteX0" fmla="*/ 226863 w 239088"/>
                <a:gd name="connsiteY0" fmla="*/ 185 h 284304"/>
                <a:gd name="connsiteX1" fmla="*/ 232930 w 239088"/>
                <a:gd name="connsiteY1" fmla="*/ 92567 h 284304"/>
                <a:gd name="connsiteX2" fmla="*/ 226863 w 239088"/>
                <a:gd name="connsiteY2" fmla="*/ 92567 h 284304"/>
                <a:gd name="connsiteX3" fmla="*/ 192282 w 239088"/>
                <a:gd name="connsiteY3" fmla="*/ 32758 h 284304"/>
                <a:gd name="connsiteX4" fmla="*/ 138313 w 239088"/>
                <a:gd name="connsiteY4" fmla="*/ 14510 h 284304"/>
                <a:gd name="connsiteX5" fmla="*/ 90594 w 239088"/>
                <a:gd name="connsiteY5" fmla="*/ 28196 h 284304"/>
                <a:gd name="connsiteX6" fmla="*/ 57108 w 239088"/>
                <a:gd name="connsiteY6" fmla="*/ 71992 h 284304"/>
                <a:gd name="connsiteX7" fmla="*/ 44882 w 239088"/>
                <a:gd name="connsiteY7" fmla="*/ 146719 h 284304"/>
                <a:gd name="connsiteX8" fmla="*/ 56424 w 239088"/>
                <a:gd name="connsiteY8" fmla="*/ 210588 h 284304"/>
                <a:gd name="connsiteX9" fmla="*/ 91096 w 239088"/>
                <a:gd name="connsiteY9" fmla="*/ 252057 h 284304"/>
                <a:gd name="connsiteX10" fmla="*/ 143970 w 239088"/>
                <a:gd name="connsiteY10" fmla="*/ 266519 h 284304"/>
                <a:gd name="connsiteX11" fmla="*/ 189591 w 239088"/>
                <a:gd name="connsiteY11" fmla="*/ 255204 h 284304"/>
                <a:gd name="connsiteX12" fmla="*/ 233021 w 239088"/>
                <a:gd name="connsiteY12" fmla="*/ 210268 h 284304"/>
                <a:gd name="connsiteX13" fmla="*/ 239089 w 239088"/>
                <a:gd name="connsiteY13" fmla="*/ 214329 h 284304"/>
                <a:gd name="connsiteX14" fmla="*/ 192465 w 239088"/>
                <a:gd name="connsiteY14" fmla="*/ 267431 h 284304"/>
                <a:gd name="connsiteX15" fmla="*/ 129234 w 239088"/>
                <a:gd name="connsiteY15" fmla="*/ 284265 h 284304"/>
                <a:gd name="connsiteX16" fmla="*/ 27044 w 239088"/>
                <a:gd name="connsiteY16" fmla="*/ 234082 h 284304"/>
                <a:gd name="connsiteX17" fmla="*/ 37 w 239088"/>
                <a:gd name="connsiteY17" fmla="*/ 146308 h 284304"/>
                <a:gd name="connsiteX18" fmla="*/ 17875 w 239088"/>
                <a:gd name="connsiteY18" fmla="*/ 71536 h 284304"/>
                <a:gd name="connsiteX19" fmla="*/ 135120 w 239088"/>
                <a:gd name="connsiteY19" fmla="*/ 3 h 284304"/>
                <a:gd name="connsiteX20" fmla="*/ 191872 w 239088"/>
                <a:gd name="connsiteY20" fmla="*/ 14419 h 284304"/>
                <a:gd name="connsiteX21" fmla="*/ 203642 w 239088"/>
                <a:gd name="connsiteY21" fmla="*/ 18981 h 284304"/>
                <a:gd name="connsiteX22" fmla="*/ 212766 w 239088"/>
                <a:gd name="connsiteY22" fmla="*/ 15194 h 284304"/>
                <a:gd name="connsiteX23" fmla="*/ 220019 w 239088"/>
                <a:gd name="connsiteY23" fmla="*/ 185 h 284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39088" h="284304">
                  <a:moveTo>
                    <a:pt x="226863" y="185"/>
                  </a:moveTo>
                  <a:lnTo>
                    <a:pt x="232930" y="92567"/>
                  </a:lnTo>
                  <a:lnTo>
                    <a:pt x="226863" y="92567"/>
                  </a:lnTo>
                  <a:cubicBezTo>
                    <a:pt x="218802" y="64862"/>
                    <a:pt x="207278" y="44925"/>
                    <a:pt x="192282" y="32758"/>
                  </a:cubicBezTo>
                  <a:cubicBezTo>
                    <a:pt x="177013" y="20491"/>
                    <a:pt x="157893" y="14027"/>
                    <a:pt x="138313" y="14510"/>
                  </a:cubicBezTo>
                  <a:cubicBezTo>
                    <a:pt x="121406" y="14291"/>
                    <a:pt x="104814" y="19049"/>
                    <a:pt x="90594" y="28196"/>
                  </a:cubicBezTo>
                  <a:cubicBezTo>
                    <a:pt x="76406" y="37321"/>
                    <a:pt x="65229" y="51965"/>
                    <a:pt x="57108" y="71992"/>
                  </a:cubicBezTo>
                  <a:cubicBezTo>
                    <a:pt x="48988" y="92020"/>
                    <a:pt x="44882" y="116929"/>
                    <a:pt x="44882" y="146719"/>
                  </a:cubicBezTo>
                  <a:cubicBezTo>
                    <a:pt x="44380" y="168571"/>
                    <a:pt x="48308" y="190296"/>
                    <a:pt x="56424" y="210588"/>
                  </a:cubicBezTo>
                  <a:cubicBezTo>
                    <a:pt x="63345" y="227705"/>
                    <a:pt x="75475" y="242212"/>
                    <a:pt x="91096" y="252057"/>
                  </a:cubicBezTo>
                  <a:cubicBezTo>
                    <a:pt x="106981" y="261815"/>
                    <a:pt x="125329" y="266833"/>
                    <a:pt x="143970" y="266519"/>
                  </a:cubicBezTo>
                  <a:cubicBezTo>
                    <a:pt x="159910" y="266856"/>
                    <a:pt x="175653" y="262951"/>
                    <a:pt x="189591" y="255204"/>
                  </a:cubicBezTo>
                  <a:cubicBezTo>
                    <a:pt x="202761" y="247632"/>
                    <a:pt x="217237" y="232654"/>
                    <a:pt x="233021" y="210268"/>
                  </a:cubicBezTo>
                  <a:lnTo>
                    <a:pt x="239089" y="214329"/>
                  </a:lnTo>
                  <a:cubicBezTo>
                    <a:pt x="225768" y="238507"/>
                    <a:pt x="210225" y="256208"/>
                    <a:pt x="192465" y="267431"/>
                  </a:cubicBezTo>
                  <a:cubicBezTo>
                    <a:pt x="173445" y="279000"/>
                    <a:pt x="151493" y="284849"/>
                    <a:pt x="129234" y="284265"/>
                  </a:cubicBezTo>
                  <a:cubicBezTo>
                    <a:pt x="85256" y="284265"/>
                    <a:pt x="51191" y="267536"/>
                    <a:pt x="27044" y="234082"/>
                  </a:cubicBezTo>
                  <a:cubicBezTo>
                    <a:pt x="8805" y="208507"/>
                    <a:pt x="-670" y="177713"/>
                    <a:pt x="37" y="146308"/>
                  </a:cubicBezTo>
                  <a:cubicBezTo>
                    <a:pt x="-241" y="120300"/>
                    <a:pt x="5886" y="94620"/>
                    <a:pt x="17875" y="71536"/>
                  </a:cubicBezTo>
                  <a:cubicBezTo>
                    <a:pt x="40220" y="27380"/>
                    <a:pt x="85630" y="-326"/>
                    <a:pt x="135120" y="3"/>
                  </a:cubicBezTo>
                  <a:cubicBezTo>
                    <a:pt x="154923" y="153"/>
                    <a:pt x="174399" y="5099"/>
                    <a:pt x="191872" y="14419"/>
                  </a:cubicBezTo>
                  <a:cubicBezTo>
                    <a:pt x="195435" y="16746"/>
                    <a:pt x="199440" y="18301"/>
                    <a:pt x="203642" y="18981"/>
                  </a:cubicBezTo>
                  <a:cubicBezTo>
                    <a:pt x="207072" y="19008"/>
                    <a:pt x="210366" y="17644"/>
                    <a:pt x="212766" y="15194"/>
                  </a:cubicBezTo>
                  <a:cubicBezTo>
                    <a:pt x="216502" y="10943"/>
                    <a:pt x="219011" y="5756"/>
                    <a:pt x="220019" y="185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B2DAFA1-CC4A-1850-5E4F-AC454EEBD689}"/>
                </a:ext>
              </a:extLst>
            </p:cNvPr>
            <p:cNvSpPr/>
            <p:nvPr/>
          </p:nvSpPr>
          <p:spPr>
            <a:xfrm>
              <a:off x="5818275" y="2120133"/>
              <a:ext cx="89826" cy="284996"/>
            </a:xfrm>
            <a:custGeom>
              <a:avLst/>
              <a:gdLst>
                <a:gd name="connsiteX0" fmla="*/ 62683 w 89826"/>
                <a:gd name="connsiteY0" fmla="*/ 96036 h 284996"/>
                <a:gd name="connsiteX1" fmla="*/ 62683 w 89826"/>
                <a:gd name="connsiteY1" fmla="*/ 243573 h 284996"/>
                <a:gd name="connsiteX2" fmla="*/ 65146 w 89826"/>
                <a:gd name="connsiteY2" fmla="*/ 266383 h 284996"/>
                <a:gd name="connsiteX3" fmla="*/ 72354 w 89826"/>
                <a:gd name="connsiteY3" fmla="*/ 274914 h 284996"/>
                <a:gd name="connsiteX4" fmla="*/ 89827 w 89826"/>
                <a:gd name="connsiteY4" fmla="*/ 277697 h 284996"/>
                <a:gd name="connsiteX5" fmla="*/ 89827 w 89826"/>
                <a:gd name="connsiteY5" fmla="*/ 284997 h 284996"/>
                <a:gd name="connsiteX6" fmla="*/ 2737 w 89826"/>
                <a:gd name="connsiteY6" fmla="*/ 284997 h 284996"/>
                <a:gd name="connsiteX7" fmla="*/ 2737 w 89826"/>
                <a:gd name="connsiteY7" fmla="*/ 277880 h 284996"/>
                <a:gd name="connsiteX8" fmla="*/ 20301 w 89826"/>
                <a:gd name="connsiteY8" fmla="*/ 275279 h 284996"/>
                <a:gd name="connsiteX9" fmla="*/ 27464 w 89826"/>
                <a:gd name="connsiteY9" fmla="*/ 266703 h 284996"/>
                <a:gd name="connsiteX10" fmla="*/ 30109 w 89826"/>
                <a:gd name="connsiteY10" fmla="*/ 243892 h 284996"/>
                <a:gd name="connsiteX11" fmla="*/ 30109 w 89826"/>
                <a:gd name="connsiteY11" fmla="*/ 172952 h 284996"/>
                <a:gd name="connsiteX12" fmla="*/ 28331 w 89826"/>
                <a:gd name="connsiteY12" fmla="*/ 134312 h 284996"/>
                <a:gd name="connsiteX13" fmla="*/ 24042 w 89826"/>
                <a:gd name="connsiteY13" fmla="*/ 125188 h 284996"/>
                <a:gd name="connsiteX14" fmla="*/ 16013 w 89826"/>
                <a:gd name="connsiteY14" fmla="*/ 122724 h 284996"/>
                <a:gd name="connsiteX15" fmla="*/ 2737 w 89826"/>
                <a:gd name="connsiteY15" fmla="*/ 125690 h 284996"/>
                <a:gd name="connsiteX16" fmla="*/ 0 w 89826"/>
                <a:gd name="connsiteY16" fmla="*/ 118436 h 284996"/>
                <a:gd name="connsiteX17" fmla="*/ 54060 w 89826"/>
                <a:gd name="connsiteY17" fmla="*/ 95990 h 284996"/>
                <a:gd name="connsiteX18" fmla="*/ 46487 w 89826"/>
                <a:gd name="connsiteY18" fmla="*/ 5 h 284996"/>
                <a:gd name="connsiteX19" fmla="*/ 60493 w 89826"/>
                <a:gd name="connsiteY19" fmla="*/ 5935 h 284996"/>
                <a:gd name="connsiteX20" fmla="*/ 66241 w 89826"/>
                <a:gd name="connsiteY20" fmla="*/ 20215 h 284996"/>
                <a:gd name="connsiteX21" fmla="*/ 60493 w 89826"/>
                <a:gd name="connsiteY21" fmla="*/ 34631 h 284996"/>
                <a:gd name="connsiteX22" fmla="*/ 46487 w 89826"/>
                <a:gd name="connsiteY22" fmla="*/ 40653 h 284996"/>
                <a:gd name="connsiteX23" fmla="*/ 32391 w 89826"/>
                <a:gd name="connsiteY23" fmla="*/ 34631 h 284996"/>
                <a:gd name="connsiteX24" fmla="*/ 26551 w 89826"/>
                <a:gd name="connsiteY24" fmla="*/ 20215 h 284996"/>
                <a:gd name="connsiteX25" fmla="*/ 32299 w 89826"/>
                <a:gd name="connsiteY25" fmla="*/ 5935 h 284996"/>
                <a:gd name="connsiteX26" fmla="*/ 46487 w 89826"/>
                <a:gd name="connsiteY26" fmla="*/ 5 h 284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9826" h="284996">
                  <a:moveTo>
                    <a:pt x="62683" y="96036"/>
                  </a:moveTo>
                  <a:lnTo>
                    <a:pt x="62683" y="243573"/>
                  </a:lnTo>
                  <a:cubicBezTo>
                    <a:pt x="62213" y="251260"/>
                    <a:pt x="63048" y="258975"/>
                    <a:pt x="65146" y="266383"/>
                  </a:cubicBezTo>
                  <a:cubicBezTo>
                    <a:pt x="66533" y="269951"/>
                    <a:pt x="69070" y="272953"/>
                    <a:pt x="72354" y="274914"/>
                  </a:cubicBezTo>
                  <a:cubicBezTo>
                    <a:pt x="77879" y="277209"/>
                    <a:pt x="83864" y="278163"/>
                    <a:pt x="89827" y="277697"/>
                  </a:cubicBezTo>
                  <a:lnTo>
                    <a:pt x="89827" y="284997"/>
                  </a:lnTo>
                  <a:lnTo>
                    <a:pt x="2737" y="284997"/>
                  </a:lnTo>
                  <a:lnTo>
                    <a:pt x="2737" y="277880"/>
                  </a:lnTo>
                  <a:cubicBezTo>
                    <a:pt x="8713" y="278354"/>
                    <a:pt x="14717" y="277465"/>
                    <a:pt x="20301" y="275279"/>
                  </a:cubicBezTo>
                  <a:cubicBezTo>
                    <a:pt x="23545" y="273258"/>
                    <a:pt x="26054" y="270252"/>
                    <a:pt x="27464" y="266703"/>
                  </a:cubicBezTo>
                  <a:cubicBezTo>
                    <a:pt x="29653" y="259308"/>
                    <a:pt x="30552" y="251593"/>
                    <a:pt x="30109" y="243892"/>
                  </a:cubicBezTo>
                  <a:lnTo>
                    <a:pt x="30109" y="172952"/>
                  </a:lnTo>
                  <a:cubicBezTo>
                    <a:pt x="30507" y="160046"/>
                    <a:pt x="29909" y="147127"/>
                    <a:pt x="28331" y="134312"/>
                  </a:cubicBezTo>
                  <a:cubicBezTo>
                    <a:pt x="27929" y="130886"/>
                    <a:pt x="26423" y="127683"/>
                    <a:pt x="24042" y="125188"/>
                  </a:cubicBezTo>
                  <a:cubicBezTo>
                    <a:pt x="21747" y="123431"/>
                    <a:pt x="18896" y="122560"/>
                    <a:pt x="16013" y="122724"/>
                  </a:cubicBezTo>
                  <a:cubicBezTo>
                    <a:pt x="11446" y="122902"/>
                    <a:pt x="6948" y="123910"/>
                    <a:pt x="2737" y="125690"/>
                  </a:cubicBezTo>
                  <a:lnTo>
                    <a:pt x="0" y="118436"/>
                  </a:lnTo>
                  <a:lnTo>
                    <a:pt x="54060" y="95990"/>
                  </a:lnTo>
                  <a:close/>
                  <a:moveTo>
                    <a:pt x="46487" y="5"/>
                  </a:moveTo>
                  <a:cubicBezTo>
                    <a:pt x="51784" y="-73"/>
                    <a:pt x="56866" y="2080"/>
                    <a:pt x="60493" y="5935"/>
                  </a:cubicBezTo>
                  <a:cubicBezTo>
                    <a:pt x="64270" y="9717"/>
                    <a:pt x="66346" y="14872"/>
                    <a:pt x="66241" y="20215"/>
                  </a:cubicBezTo>
                  <a:cubicBezTo>
                    <a:pt x="66332" y="25593"/>
                    <a:pt x="64261" y="30790"/>
                    <a:pt x="60493" y="34631"/>
                  </a:cubicBezTo>
                  <a:cubicBezTo>
                    <a:pt x="56889" y="38531"/>
                    <a:pt x="51798" y="40721"/>
                    <a:pt x="46487" y="40653"/>
                  </a:cubicBezTo>
                  <a:cubicBezTo>
                    <a:pt x="41150" y="40712"/>
                    <a:pt x="36036" y="38527"/>
                    <a:pt x="32391" y="34631"/>
                  </a:cubicBezTo>
                  <a:cubicBezTo>
                    <a:pt x="28581" y="30808"/>
                    <a:pt x="26474" y="25612"/>
                    <a:pt x="26551" y="20215"/>
                  </a:cubicBezTo>
                  <a:cubicBezTo>
                    <a:pt x="26446" y="14872"/>
                    <a:pt x="28522" y="9717"/>
                    <a:pt x="32299" y="5935"/>
                  </a:cubicBezTo>
                  <a:cubicBezTo>
                    <a:pt x="35976" y="2039"/>
                    <a:pt x="41132" y="-114"/>
                    <a:pt x="46487" y="5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E5C8E78-CE94-DB29-587C-3136C70F4E76}"/>
                </a:ext>
              </a:extLst>
            </p:cNvPr>
            <p:cNvSpPr/>
            <p:nvPr/>
          </p:nvSpPr>
          <p:spPr>
            <a:xfrm>
              <a:off x="5921606" y="2161196"/>
              <a:ext cx="108257" cy="246989"/>
            </a:xfrm>
            <a:custGeom>
              <a:avLst/>
              <a:gdLst>
                <a:gd name="connsiteX0" fmla="*/ 61223 w 108257"/>
                <a:gd name="connsiteY0" fmla="*/ 0 h 246989"/>
                <a:gd name="connsiteX1" fmla="*/ 61223 w 108257"/>
                <a:gd name="connsiteY1" fmla="*/ 60310 h 246989"/>
                <a:gd name="connsiteX2" fmla="*/ 103102 w 108257"/>
                <a:gd name="connsiteY2" fmla="*/ 60310 h 246989"/>
                <a:gd name="connsiteX3" fmla="*/ 103102 w 108257"/>
                <a:gd name="connsiteY3" fmla="*/ 74407 h 246989"/>
                <a:gd name="connsiteX4" fmla="*/ 61223 w 108257"/>
                <a:gd name="connsiteY4" fmla="*/ 74407 h 246989"/>
                <a:gd name="connsiteX5" fmla="*/ 61223 w 108257"/>
                <a:gd name="connsiteY5" fmla="*/ 193431 h 246989"/>
                <a:gd name="connsiteX6" fmla="*/ 66150 w 108257"/>
                <a:gd name="connsiteY6" fmla="*/ 217474 h 246989"/>
                <a:gd name="connsiteX7" fmla="*/ 78924 w 108257"/>
                <a:gd name="connsiteY7" fmla="*/ 223678 h 246989"/>
                <a:gd name="connsiteX8" fmla="*/ 91378 w 108257"/>
                <a:gd name="connsiteY8" fmla="*/ 219572 h 246989"/>
                <a:gd name="connsiteX9" fmla="*/ 100502 w 108257"/>
                <a:gd name="connsiteY9" fmla="*/ 207437 h 246989"/>
                <a:gd name="connsiteX10" fmla="*/ 108258 w 108257"/>
                <a:gd name="connsiteY10" fmla="*/ 207437 h 246989"/>
                <a:gd name="connsiteX11" fmla="*/ 88823 w 108257"/>
                <a:gd name="connsiteY11" fmla="*/ 237045 h 246989"/>
                <a:gd name="connsiteX12" fmla="*/ 62956 w 108257"/>
                <a:gd name="connsiteY12" fmla="*/ 246990 h 246989"/>
                <a:gd name="connsiteX13" fmla="*/ 45301 w 108257"/>
                <a:gd name="connsiteY13" fmla="*/ 241880 h 246989"/>
                <a:gd name="connsiteX14" fmla="*/ 32527 w 108257"/>
                <a:gd name="connsiteY14" fmla="*/ 227282 h 246989"/>
                <a:gd name="connsiteX15" fmla="*/ 28422 w 108257"/>
                <a:gd name="connsiteY15" fmla="*/ 197902 h 246989"/>
                <a:gd name="connsiteX16" fmla="*/ 28422 w 108257"/>
                <a:gd name="connsiteY16" fmla="*/ 74407 h 246989"/>
                <a:gd name="connsiteX17" fmla="*/ 0 w 108257"/>
                <a:gd name="connsiteY17" fmla="*/ 74407 h 246989"/>
                <a:gd name="connsiteX18" fmla="*/ 0 w 108257"/>
                <a:gd name="connsiteY18" fmla="*/ 68020 h 246989"/>
                <a:gd name="connsiteX19" fmla="*/ 22080 w 108257"/>
                <a:gd name="connsiteY19" fmla="*/ 53057 h 246989"/>
                <a:gd name="connsiteX20" fmla="*/ 42290 w 108257"/>
                <a:gd name="connsiteY20" fmla="*/ 28102 h 246989"/>
                <a:gd name="connsiteX21" fmla="*/ 54973 w 108257"/>
                <a:gd name="connsiteY21" fmla="*/ 228 h 24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8257" h="246989">
                  <a:moveTo>
                    <a:pt x="61223" y="0"/>
                  </a:moveTo>
                  <a:lnTo>
                    <a:pt x="61223" y="60310"/>
                  </a:lnTo>
                  <a:lnTo>
                    <a:pt x="103102" y="60310"/>
                  </a:lnTo>
                  <a:lnTo>
                    <a:pt x="103102" y="74407"/>
                  </a:lnTo>
                  <a:lnTo>
                    <a:pt x="61223" y="74407"/>
                  </a:lnTo>
                  <a:lnTo>
                    <a:pt x="61223" y="193431"/>
                  </a:lnTo>
                  <a:cubicBezTo>
                    <a:pt x="61223" y="205338"/>
                    <a:pt x="62865" y="213322"/>
                    <a:pt x="66150" y="217474"/>
                  </a:cubicBezTo>
                  <a:cubicBezTo>
                    <a:pt x="69165" y="221470"/>
                    <a:pt x="73919" y="223778"/>
                    <a:pt x="78924" y="223678"/>
                  </a:cubicBezTo>
                  <a:cubicBezTo>
                    <a:pt x="83394" y="223605"/>
                    <a:pt x="87738" y="222172"/>
                    <a:pt x="91378" y="219572"/>
                  </a:cubicBezTo>
                  <a:cubicBezTo>
                    <a:pt x="95548" y="216515"/>
                    <a:pt x="98723" y="212291"/>
                    <a:pt x="100502" y="207437"/>
                  </a:cubicBezTo>
                  <a:lnTo>
                    <a:pt x="108258" y="207437"/>
                  </a:lnTo>
                  <a:cubicBezTo>
                    <a:pt x="104731" y="218956"/>
                    <a:pt x="97988" y="229225"/>
                    <a:pt x="88823" y="237045"/>
                  </a:cubicBezTo>
                  <a:cubicBezTo>
                    <a:pt x="81615" y="243258"/>
                    <a:pt x="72473" y="246771"/>
                    <a:pt x="62956" y="246990"/>
                  </a:cubicBezTo>
                  <a:cubicBezTo>
                    <a:pt x="56715" y="246935"/>
                    <a:pt x="50607" y="245170"/>
                    <a:pt x="45301" y="241880"/>
                  </a:cubicBezTo>
                  <a:cubicBezTo>
                    <a:pt x="39571" y="238532"/>
                    <a:pt x="35087" y="233409"/>
                    <a:pt x="32527" y="227282"/>
                  </a:cubicBezTo>
                  <a:cubicBezTo>
                    <a:pt x="29311" y="217839"/>
                    <a:pt x="27920" y="207866"/>
                    <a:pt x="28422" y="197902"/>
                  </a:cubicBezTo>
                  <a:lnTo>
                    <a:pt x="28422" y="74407"/>
                  </a:lnTo>
                  <a:lnTo>
                    <a:pt x="0" y="74407"/>
                  </a:lnTo>
                  <a:lnTo>
                    <a:pt x="0" y="68020"/>
                  </a:lnTo>
                  <a:cubicBezTo>
                    <a:pt x="8198" y="64398"/>
                    <a:pt x="15675" y="59330"/>
                    <a:pt x="22080" y="53057"/>
                  </a:cubicBezTo>
                  <a:cubicBezTo>
                    <a:pt x="29895" y="45671"/>
                    <a:pt x="36693" y="37281"/>
                    <a:pt x="42290" y="28102"/>
                  </a:cubicBezTo>
                  <a:cubicBezTo>
                    <a:pt x="47121" y="19097"/>
                    <a:pt x="51360" y="9786"/>
                    <a:pt x="54973" y="228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82FE560-55AF-791C-CF8A-410455028AF7}"/>
                </a:ext>
              </a:extLst>
            </p:cNvPr>
            <p:cNvSpPr/>
            <p:nvPr/>
          </p:nvSpPr>
          <p:spPr>
            <a:xfrm>
              <a:off x="6031186" y="2221506"/>
              <a:ext cx="195940" cy="272599"/>
            </a:xfrm>
            <a:custGeom>
              <a:avLst/>
              <a:gdLst>
                <a:gd name="connsiteX0" fmla="*/ 228 w 195940"/>
                <a:gd name="connsiteY0" fmla="*/ 0 h 272599"/>
                <a:gd name="connsiteX1" fmla="*/ 83988 w 195940"/>
                <a:gd name="connsiteY1" fmla="*/ 0 h 272599"/>
                <a:gd name="connsiteX2" fmla="*/ 83988 w 195940"/>
                <a:gd name="connsiteY2" fmla="*/ 7254 h 272599"/>
                <a:gd name="connsiteX3" fmla="*/ 79882 w 195940"/>
                <a:gd name="connsiteY3" fmla="*/ 7254 h 272599"/>
                <a:gd name="connsiteX4" fmla="*/ 66652 w 195940"/>
                <a:gd name="connsiteY4" fmla="*/ 11223 h 272599"/>
                <a:gd name="connsiteX5" fmla="*/ 62090 w 195940"/>
                <a:gd name="connsiteY5" fmla="*/ 20986 h 272599"/>
                <a:gd name="connsiteX6" fmla="*/ 68568 w 195940"/>
                <a:gd name="connsiteY6" fmla="*/ 42746 h 272599"/>
                <a:gd name="connsiteX7" fmla="*/ 112364 w 195940"/>
                <a:gd name="connsiteY7" fmla="*/ 135813 h 272599"/>
                <a:gd name="connsiteX8" fmla="*/ 152327 w 195940"/>
                <a:gd name="connsiteY8" fmla="*/ 33896 h 272599"/>
                <a:gd name="connsiteX9" fmla="*/ 155658 w 195940"/>
                <a:gd name="connsiteY9" fmla="*/ 17564 h 272599"/>
                <a:gd name="connsiteX10" fmla="*/ 154289 w 195940"/>
                <a:gd name="connsiteY10" fmla="*/ 12135 h 272599"/>
                <a:gd name="connsiteX11" fmla="*/ 149408 w 195940"/>
                <a:gd name="connsiteY11" fmla="*/ 8577 h 272599"/>
                <a:gd name="connsiteX12" fmla="*/ 137637 w 195940"/>
                <a:gd name="connsiteY12" fmla="*/ 7254 h 272599"/>
                <a:gd name="connsiteX13" fmla="*/ 137637 w 195940"/>
                <a:gd name="connsiteY13" fmla="*/ 0 h 272599"/>
                <a:gd name="connsiteX14" fmla="*/ 195941 w 195940"/>
                <a:gd name="connsiteY14" fmla="*/ 0 h 272599"/>
                <a:gd name="connsiteX15" fmla="*/ 195941 w 195940"/>
                <a:gd name="connsiteY15" fmla="*/ 7254 h 272599"/>
                <a:gd name="connsiteX16" fmla="*/ 184763 w 195940"/>
                <a:gd name="connsiteY16" fmla="*/ 10493 h 272599"/>
                <a:gd name="connsiteX17" fmla="*/ 176141 w 195940"/>
                <a:gd name="connsiteY17" fmla="*/ 19617 h 272599"/>
                <a:gd name="connsiteX18" fmla="*/ 169481 w 195940"/>
                <a:gd name="connsiteY18" fmla="*/ 35128 h 272599"/>
                <a:gd name="connsiteX19" fmla="*/ 96488 w 195940"/>
                <a:gd name="connsiteY19" fmla="*/ 218660 h 272599"/>
                <a:gd name="connsiteX20" fmla="*/ 68796 w 195940"/>
                <a:gd name="connsiteY20" fmla="*/ 258897 h 272599"/>
                <a:gd name="connsiteX21" fmla="*/ 35812 w 195940"/>
                <a:gd name="connsiteY21" fmla="*/ 272583 h 272599"/>
                <a:gd name="connsiteX22" fmla="*/ 16788 w 195940"/>
                <a:gd name="connsiteY22" fmla="*/ 265786 h 272599"/>
                <a:gd name="connsiteX23" fmla="*/ 9352 w 195940"/>
                <a:gd name="connsiteY23" fmla="*/ 250138 h 272599"/>
                <a:gd name="connsiteX24" fmla="*/ 14736 w 195940"/>
                <a:gd name="connsiteY24" fmla="*/ 236452 h 272599"/>
                <a:gd name="connsiteX25" fmla="*/ 29517 w 195940"/>
                <a:gd name="connsiteY25" fmla="*/ 231342 h 272599"/>
                <a:gd name="connsiteX26" fmla="*/ 47172 w 195940"/>
                <a:gd name="connsiteY26" fmla="*/ 235904 h 272599"/>
                <a:gd name="connsiteX27" fmla="*/ 56935 w 195940"/>
                <a:gd name="connsiteY27" fmla="*/ 238961 h 272599"/>
                <a:gd name="connsiteX28" fmla="*/ 69754 w 195940"/>
                <a:gd name="connsiteY28" fmla="*/ 232711 h 272599"/>
                <a:gd name="connsiteX29" fmla="*/ 83759 w 195940"/>
                <a:gd name="connsiteY29" fmla="*/ 208623 h 272599"/>
                <a:gd name="connsiteX30" fmla="*/ 96396 w 195940"/>
                <a:gd name="connsiteY30" fmla="*/ 176689 h 272599"/>
                <a:gd name="connsiteX31" fmla="*/ 31934 w 195940"/>
                <a:gd name="connsiteY31" fmla="*/ 38367 h 272599"/>
                <a:gd name="connsiteX32" fmla="*/ 22537 w 195940"/>
                <a:gd name="connsiteY32" fmla="*/ 22765 h 272599"/>
                <a:gd name="connsiteX33" fmla="*/ 14462 w 195940"/>
                <a:gd name="connsiteY33" fmla="*/ 13276 h 272599"/>
                <a:gd name="connsiteX34" fmla="*/ 0 w 195940"/>
                <a:gd name="connsiteY34" fmla="*/ 7573 h 272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95940" h="272599">
                  <a:moveTo>
                    <a:pt x="228" y="0"/>
                  </a:moveTo>
                  <a:lnTo>
                    <a:pt x="83988" y="0"/>
                  </a:lnTo>
                  <a:lnTo>
                    <a:pt x="83988" y="7254"/>
                  </a:lnTo>
                  <a:lnTo>
                    <a:pt x="79882" y="7254"/>
                  </a:lnTo>
                  <a:cubicBezTo>
                    <a:pt x="75133" y="6893"/>
                    <a:pt x="70420" y="8308"/>
                    <a:pt x="66652" y="11223"/>
                  </a:cubicBezTo>
                  <a:cubicBezTo>
                    <a:pt x="63737" y="13622"/>
                    <a:pt x="62058" y="17208"/>
                    <a:pt x="62090" y="20986"/>
                  </a:cubicBezTo>
                  <a:cubicBezTo>
                    <a:pt x="62742" y="28604"/>
                    <a:pt x="64950" y="36008"/>
                    <a:pt x="68568" y="42746"/>
                  </a:cubicBezTo>
                  <a:lnTo>
                    <a:pt x="112364" y="135813"/>
                  </a:lnTo>
                  <a:lnTo>
                    <a:pt x="152327" y="33896"/>
                  </a:lnTo>
                  <a:cubicBezTo>
                    <a:pt x="154490" y="28723"/>
                    <a:pt x="155621" y="23171"/>
                    <a:pt x="155658" y="17564"/>
                  </a:cubicBezTo>
                  <a:cubicBezTo>
                    <a:pt x="155781" y="15657"/>
                    <a:pt x="155302" y="13755"/>
                    <a:pt x="154289" y="12135"/>
                  </a:cubicBezTo>
                  <a:cubicBezTo>
                    <a:pt x="153048" y="10493"/>
                    <a:pt x="151351" y="9252"/>
                    <a:pt x="149408" y="8577"/>
                  </a:cubicBezTo>
                  <a:cubicBezTo>
                    <a:pt x="145580" y="7495"/>
                    <a:pt x="141607" y="7053"/>
                    <a:pt x="137637" y="7254"/>
                  </a:cubicBezTo>
                  <a:lnTo>
                    <a:pt x="137637" y="0"/>
                  </a:lnTo>
                  <a:lnTo>
                    <a:pt x="195941" y="0"/>
                  </a:lnTo>
                  <a:lnTo>
                    <a:pt x="195941" y="7254"/>
                  </a:lnTo>
                  <a:cubicBezTo>
                    <a:pt x="192026" y="7527"/>
                    <a:pt x="188217" y="8631"/>
                    <a:pt x="184763" y="10493"/>
                  </a:cubicBezTo>
                  <a:cubicBezTo>
                    <a:pt x="181333" y="12956"/>
                    <a:pt x="178404" y="16049"/>
                    <a:pt x="176141" y="19617"/>
                  </a:cubicBezTo>
                  <a:cubicBezTo>
                    <a:pt x="173596" y="24640"/>
                    <a:pt x="171374" y="29822"/>
                    <a:pt x="169481" y="35128"/>
                  </a:cubicBezTo>
                  <a:lnTo>
                    <a:pt x="96488" y="218660"/>
                  </a:lnTo>
                  <a:cubicBezTo>
                    <a:pt x="90945" y="234266"/>
                    <a:pt x="81392" y="248144"/>
                    <a:pt x="68796" y="258897"/>
                  </a:cubicBezTo>
                  <a:cubicBezTo>
                    <a:pt x="57391" y="268021"/>
                    <a:pt x="46396" y="272583"/>
                    <a:pt x="35812" y="272583"/>
                  </a:cubicBezTo>
                  <a:cubicBezTo>
                    <a:pt x="28837" y="272825"/>
                    <a:pt x="22030" y="270393"/>
                    <a:pt x="16788" y="265786"/>
                  </a:cubicBezTo>
                  <a:cubicBezTo>
                    <a:pt x="12158" y="261894"/>
                    <a:pt x="9444" y="256187"/>
                    <a:pt x="9352" y="250138"/>
                  </a:cubicBezTo>
                  <a:cubicBezTo>
                    <a:pt x="9101" y="245015"/>
                    <a:pt x="11063" y="240028"/>
                    <a:pt x="14736" y="236452"/>
                  </a:cubicBezTo>
                  <a:cubicBezTo>
                    <a:pt x="18800" y="232870"/>
                    <a:pt x="24111" y="231032"/>
                    <a:pt x="29517" y="231342"/>
                  </a:cubicBezTo>
                  <a:cubicBezTo>
                    <a:pt x="35625" y="231794"/>
                    <a:pt x="41606" y="233340"/>
                    <a:pt x="47172" y="235904"/>
                  </a:cubicBezTo>
                  <a:cubicBezTo>
                    <a:pt x="50283" y="237337"/>
                    <a:pt x="53563" y="238363"/>
                    <a:pt x="56935" y="238961"/>
                  </a:cubicBezTo>
                  <a:cubicBezTo>
                    <a:pt x="61830" y="238514"/>
                    <a:pt x="66387" y="236287"/>
                    <a:pt x="69754" y="232711"/>
                  </a:cubicBezTo>
                  <a:cubicBezTo>
                    <a:pt x="76091" y="225776"/>
                    <a:pt x="80867" y="217560"/>
                    <a:pt x="83759" y="208623"/>
                  </a:cubicBezTo>
                  <a:lnTo>
                    <a:pt x="96396" y="176689"/>
                  </a:lnTo>
                  <a:lnTo>
                    <a:pt x="31934" y="38367"/>
                  </a:lnTo>
                  <a:cubicBezTo>
                    <a:pt x="29225" y="32924"/>
                    <a:pt x="26081" y="27705"/>
                    <a:pt x="22537" y="22765"/>
                  </a:cubicBezTo>
                  <a:cubicBezTo>
                    <a:pt x="20297" y="19243"/>
                    <a:pt x="17578" y="16049"/>
                    <a:pt x="14462" y="13276"/>
                  </a:cubicBezTo>
                  <a:cubicBezTo>
                    <a:pt x="10032" y="10502"/>
                    <a:pt x="5128" y="8568"/>
                    <a:pt x="0" y="7573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4FA22E4-5909-9CFC-550C-0DF99FF7FC49}"/>
                </a:ext>
              </a:extLst>
            </p:cNvPr>
            <p:cNvSpPr/>
            <p:nvPr/>
          </p:nvSpPr>
          <p:spPr>
            <a:xfrm>
              <a:off x="6344882" y="2127024"/>
              <a:ext cx="239043" cy="284304"/>
            </a:xfrm>
            <a:custGeom>
              <a:avLst/>
              <a:gdLst>
                <a:gd name="connsiteX0" fmla="*/ 226862 w 239043"/>
                <a:gd name="connsiteY0" fmla="*/ 185 h 284304"/>
                <a:gd name="connsiteX1" fmla="*/ 232930 w 239043"/>
                <a:gd name="connsiteY1" fmla="*/ 92567 h 284304"/>
                <a:gd name="connsiteX2" fmla="*/ 226862 w 239043"/>
                <a:gd name="connsiteY2" fmla="*/ 92567 h 284304"/>
                <a:gd name="connsiteX3" fmla="*/ 192237 w 239043"/>
                <a:gd name="connsiteY3" fmla="*/ 32758 h 284304"/>
                <a:gd name="connsiteX4" fmla="*/ 138313 w 239043"/>
                <a:gd name="connsiteY4" fmla="*/ 14510 h 284304"/>
                <a:gd name="connsiteX5" fmla="*/ 90594 w 239043"/>
                <a:gd name="connsiteY5" fmla="*/ 28196 h 284304"/>
                <a:gd name="connsiteX6" fmla="*/ 57063 w 239043"/>
                <a:gd name="connsiteY6" fmla="*/ 71992 h 284304"/>
                <a:gd name="connsiteX7" fmla="*/ 44836 w 239043"/>
                <a:gd name="connsiteY7" fmla="*/ 146718 h 284304"/>
                <a:gd name="connsiteX8" fmla="*/ 56378 w 239043"/>
                <a:gd name="connsiteY8" fmla="*/ 210587 h 284304"/>
                <a:gd name="connsiteX9" fmla="*/ 91096 w 239043"/>
                <a:gd name="connsiteY9" fmla="*/ 252056 h 284304"/>
                <a:gd name="connsiteX10" fmla="*/ 143970 w 239043"/>
                <a:gd name="connsiteY10" fmla="*/ 266518 h 284304"/>
                <a:gd name="connsiteX11" fmla="*/ 189590 w 239043"/>
                <a:gd name="connsiteY11" fmla="*/ 255204 h 284304"/>
                <a:gd name="connsiteX12" fmla="*/ 232976 w 239043"/>
                <a:gd name="connsiteY12" fmla="*/ 210268 h 284304"/>
                <a:gd name="connsiteX13" fmla="*/ 239043 w 239043"/>
                <a:gd name="connsiteY13" fmla="*/ 214328 h 284304"/>
                <a:gd name="connsiteX14" fmla="*/ 192465 w 239043"/>
                <a:gd name="connsiteY14" fmla="*/ 267430 h 284304"/>
                <a:gd name="connsiteX15" fmla="*/ 129235 w 239043"/>
                <a:gd name="connsiteY15" fmla="*/ 284264 h 284304"/>
                <a:gd name="connsiteX16" fmla="*/ 27044 w 239043"/>
                <a:gd name="connsiteY16" fmla="*/ 234082 h 284304"/>
                <a:gd name="connsiteX17" fmla="*/ 37 w 239043"/>
                <a:gd name="connsiteY17" fmla="*/ 146308 h 284304"/>
                <a:gd name="connsiteX18" fmla="*/ 17829 w 239043"/>
                <a:gd name="connsiteY18" fmla="*/ 71535 h 284304"/>
                <a:gd name="connsiteX19" fmla="*/ 135074 w 239043"/>
                <a:gd name="connsiteY19" fmla="*/ 2 h 284304"/>
                <a:gd name="connsiteX20" fmla="*/ 191872 w 239043"/>
                <a:gd name="connsiteY20" fmla="*/ 14418 h 284304"/>
                <a:gd name="connsiteX21" fmla="*/ 203596 w 239043"/>
                <a:gd name="connsiteY21" fmla="*/ 18981 h 284304"/>
                <a:gd name="connsiteX22" fmla="*/ 212720 w 239043"/>
                <a:gd name="connsiteY22" fmla="*/ 15194 h 284304"/>
                <a:gd name="connsiteX23" fmla="*/ 219928 w 239043"/>
                <a:gd name="connsiteY23" fmla="*/ 185 h 284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39043" h="284304">
                  <a:moveTo>
                    <a:pt x="226862" y="185"/>
                  </a:moveTo>
                  <a:lnTo>
                    <a:pt x="232930" y="92567"/>
                  </a:lnTo>
                  <a:lnTo>
                    <a:pt x="226862" y="92567"/>
                  </a:lnTo>
                  <a:cubicBezTo>
                    <a:pt x="218742" y="64861"/>
                    <a:pt x="207200" y="44925"/>
                    <a:pt x="192237" y="32758"/>
                  </a:cubicBezTo>
                  <a:cubicBezTo>
                    <a:pt x="176986" y="20491"/>
                    <a:pt x="157880" y="14026"/>
                    <a:pt x="138313" y="14510"/>
                  </a:cubicBezTo>
                  <a:cubicBezTo>
                    <a:pt x="121406" y="14286"/>
                    <a:pt x="104809" y="19044"/>
                    <a:pt x="90594" y="28196"/>
                  </a:cubicBezTo>
                  <a:cubicBezTo>
                    <a:pt x="76406" y="37320"/>
                    <a:pt x="65229" y="51964"/>
                    <a:pt x="57063" y="71992"/>
                  </a:cubicBezTo>
                  <a:cubicBezTo>
                    <a:pt x="48897" y="92019"/>
                    <a:pt x="44836" y="116928"/>
                    <a:pt x="44836" y="146718"/>
                  </a:cubicBezTo>
                  <a:cubicBezTo>
                    <a:pt x="44357" y="168566"/>
                    <a:pt x="48281" y="190286"/>
                    <a:pt x="56378" y="210587"/>
                  </a:cubicBezTo>
                  <a:cubicBezTo>
                    <a:pt x="63317" y="227708"/>
                    <a:pt x="75462" y="242216"/>
                    <a:pt x="91096" y="252056"/>
                  </a:cubicBezTo>
                  <a:cubicBezTo>
                    <a:pt x="106981" y="261824"/>
                    <a:pt x="125325" y="266842"/>
                    <a:pt x="143970" y="266518"/>
                  </a:cubicBezTo>
                  <a:cubicBezTo>
                    <a:pt x="159910" y="266846"/>
                    <a:pt x="175653" y="262941"/>
                    <a:pt x="189590" y="255204"/>
                  </a:cubicBezTo>
                  <a:cubicBezTo>
                    <a:pt x="202761" y="247631"/>
                    <a:pt x="217223" y="232654"/>
                    <a:pt x="232976" y="210268"/>
                  </a:cubicBezTo>
                  <a:lnTo>
                    <a:pt x="239043" y="214328"/>
                  </a:lnTo>
                  <a:cubicBezTo>
                    <a:pt x="225722" y="238507"/>
                    <a:pt x="210197" y="256208"/>
                    <a:pt x="192465" y="267430"/>
                  </a:cubicBezTo>
                  <a:cubicBezTo>
                    <a:pt x="173445" y="279000"/>
                    <a:pt x="151493" y="284848"/>
                    <a:pt x="129235" y="284264"/>
                  </a:cubicBezTo>
                  <a:cubicBezTo>
                    <a:pt x="85256" y="284264"/>
                    <a:pt x="51191" y="267535"/>
                    <a:pt x="27044" y="234082"/>
                  </a:cubicBezTo>
                  <a:cubicBezTo>
                    <a:pt x="8805" y="208507"/>
                    <a:pt x="-670" y="177713"/>
                    <a:pt x="37" y="146308"/>
                  </a:cubicBezTo>
                  <a:cubicBezTo>
                    <a:pt x="-237" y="120304"/>
                    <a:pt x="5872" y="94629"/>
                    <a:pt x="17829" y="71535"/>
                  </a:cubicBezTo>
                  <a:cubicBezTo>
                    <a:pt x="40201" y="27402"/>
                    <a:pt x="85594" y="-294"/>
                    <a:pt x="135074" y="2"/>
                  </a:cubicBezTo>
                  <a:cubicBezTo>
                    <a:pt x="154891" y="148"/>
                    <a:pt x="174381" y="5094"/>
                    <a:pt x="191872" y="14418"/>
                  </a:cubicBezTo>
                  <a:cubicBezTo>
                    <a:pt x="195421" y="16736"/>
                    <a:pt x="199413" y="18292"/>
                    <a:pt x="203596" y="18981"/>
                  </a:cubicBezTo>
                  <a:cubicBezTo>
                    <a:pt x="207022" y="18999"/>
                    <a:pt x="210311" y="17635"/>
                    <a:pt x="212720" y="15194"/>
                  </a:cubicBezTo>
                  <a:cubicBezTo>
                    <a:pt x="216429" y="10928"/>
                    <a:pt x="218915" y="5746"/>
                    <a:pt x="219928" y="185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F3FA0E1-3054-E30B-F974-F2373423682A}"/>
                </a:ext>
              </a:extLst>
            </p:cNvPr>
            <p:cNvSpPr/>
            <p:nvPr/>
          </p:nvSpPr>
          <p:spPr>
            <a:xfrm>
              <a:off x="6611248" y="2216137"/>
              <a:ext cx="173325" cy="194631"/>
            </a:xfrm>
            <a:custGeom>
              <a:avLst/>
              <a:gdLst>
                <a:gd name="connsiteX0" fmla="*/ 86911 w 173325"/>
                <a:gd name="connsiteY0" fmla="*/ 32 h 194631"/>
                <a:gd name="connsiteX1" fmla="*/ 152377 w 173325"/>
                <a:gd name="connsiteY1" fmla="*/ 31693 h 194631"/>
                <a:gd name="connsiteX2" fmla="*/ 173317 w 173325"/>
                <a:gd name="connsiteY2" fmla="*/ 93828 h 194631"/>
                <a:gd name="connsiteX3" fmla="*/ 161775 w 173325"/>
                <a:gd name="connsiteY3" fmla="*/ 143737 h 194631"/>
                <a:gd name="connsiteX4" fmla="*/ 129840 w 173325"/>
                <a:gd name="connsiteY4" fmla="*/ 181785 h 194631"/>
                <a:gd name="connsiteX5" fmla="*/ 84676 w 173325"/>
                <a:gd name="connsiteY5" fmla="*/ 194604 h 194631"/>
                <a:gd name="connsiteX6" fmla="*/ 20214 w 173325"/>
                <a:gd name="connsiteY6" fmla="*/ 161575 h 194631"/>
                <a:gd name="connsiteX7" fmla="*/ 4 w 173325"/>
                <a:gd name="connsiteY7" fmla="*/ 99029 h 194631"/>
                <a:gd name="connsiteX8" fmla="*/ 12276 w 173325"/>
                <a:gd name="connsiteY8" fmla="*/ 48846 h 194631"/>
                <a:gd name="connsiteX9" fmla="*/ 44484 w 173325"/>
                <a:gd name="connsiteY9" fmla="*/ 11939 h 194631"/>
                <a:gd name="connsiteX10" fmla="*/ 86820 w 173325"/>
                <a:gd name="connsiteY10" fmla="*/ 32 h 194631"/>
                <a:gd name="connsiteX11" fmla="*/ 80844 w 173325"/>
                <a:gd name="connsiteY11" fmla="*/ 13080 h 194631"/>
                <a:gd name="connsiteX12" fmla="*/ 59904 w 173325"/>
                <a:gd name="connsiteY12" fmla="*/ 19375 h 194631"/>
                <a:gd name="connsiteX13" fmla="*/ 42933 w 173325"/>
                <a:gd name="connsiteY13" fmla="*/ 41501 h 194631"/>
                <a:gd name="connsiteX14" fmla="*/ 36455 w 173325"/>
                <a:gd name="connsiteY14" fmla="*/ 82149 h 194631"/>
                <a:gd name="connsiteX15" fmla="*/ 52057 w 173325"/>
                <a:gd name="connsiteY15" fmla="*/ 151265 h 194631"/>
                <a:gd name="connsiteX16" fmla="*/ 93116 w 173325"/>
                <a:gd name="connsiteY16" fmla="*/ 180279 h 194631"/>
                <a:gd name="connsiteX17" fmla="*/ 124503 w 173325"/>
                <a:gd name="connsiteY17" fmla="*/ 164267 h 194631"/>
                <a:gd name="connsiteX18" fmla="*/ 136866 w 173325"/>
                <a:gd name="connsiteY18" fmla="*/ 109202 h 194631"/>
                <a:gd name="connsiteX19" fmla="*/ 116245 w 173325"/>
                <a:gd name="connsiteY19" fmla="*/ 32286 h 194631"/>
                <a:gd name="connsiteX20" fmla="*/ 80753 w 173325"/>
                <a:gd name="connsiteY20" fmla="*/ 13080 h 194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3325" h="194631">
                  <a:moveTo>
                    <a:pt x="86911" y="32"/>
                  </a:moveTo>
                  <a:cubicBezTo>
                    <a:pt x="112587" y="-702"/>
                    <a:pt x="137012" y="11109"/>
                    <a:pt x="152377" y="31693"/>
                  </a:cubicBezTo>
                  <a:cubicBezTo>
                    <a:pt x="166236" y="49412"/>
                    <a:pt x="173623" y="71337"/>
                    <a:pt x="173317" y="93828"/>
                  </a:cubicBezTo>
                  <a:cubicBezTo>
                    <a:pt x="173134" y="111105"/>
                    <a:pt x="169193" y="128135"/>
                    <a:pt x="161775" y="143737"/>
                  </a:cubicBezTo>
                  <a:cubicBezTo>
                    <a:pt x="155119" y="159294"/>
                    <a:pt x="144010" y="172533"/>
                    <a:pt x="129840" y="181785"/>
                  </a:cubicBezTo>
                  <a:cubicBezTo>
                    <a:pt x="116341" y="190334"/>
                    <a:pt x="100652" y="194787"/>
                    <a:pt x="84676" y="194604"/>
                  </a:cubicBezTo>
                  <a:cubicBezTo>
                    <a:pt x="58964" y="195302"/>
                    <a:pt x="34667" y="182852"/>
                    <a:pt x="20214" y="161575"/>
                  </a:cubicBezTo>
                  <a:cubicBezTo>
                    <a:pt x="6893" y="143459"/>
                    <a:pt x="-197" y="121515"/>
                    <a:pt x="4" y="99029"/>
                  </a:cubicBezTo>
                  <a:cubicBezTo>
                    <a:pt x="159" y="81579"/>
                    <a:pt x="4361" y="64398"/>
                    <a:pt x="12276" y="48846"/>
                  </a:cubicBezTo>
                  <a:cubicBezTo>
                    <a:pt x="19160" y="33655"/>
                    <a:pt x="30360" y="20817"/>
                    <a:pt x="44484" y="11939"/>
                  </a:cubicBezTo>
                  <a:cubicBezTo>
                    <a:pt x="57235" y="4156"/>
                    <a:pt x="71884" y="37"/>
                    <a:pt x="86820" y="32"/>
                  </a:cubicBezTo>
                  <a:moveTo>
                    <a:pt x="80844" y="13080"/>
                  </a:moveTo>
                  <a:cubicBezTo>
                    <a:pt x="73421" y="13226"/>
                    <a:pt x="66177" y="15402"/>
                    <a:pt x="59904" y="19375"/>
                  </a:cubicBezTo>
                  <a:cubicBezTo>
                    <a:pt x="52011" y="24731"/>
                    <a:pt x="46058" y="32491"/>
                    <a:pt x="42933" y="41501"/>
                  </a:cubicBezTo>
                  <a:cubicBezTo>
                    <a:pt x="38193" y="54512"/>
                    <a:pt x="35994" y="68313"/>
                    <a:pt x="36455" y="82149"/>
                  </a:cubicBezTo>
                  <a:cubicBezTo>
                    <a:pt x="35816" y="106128"/>
                    <a:pt x="41181" y="129887"/>
                    <a:pt x="52057" y="151265"/>
                  </a:cubicBezTo>
                  <a:cubicBezTo>
                    <a:pt x="62459" y="170608"/>
                    <a:pt x="76145" y="180279"/>
                    <a:pt x="93116" y="180279"/>
                  </a:cubicBezTo>
                  <a:cubicBezTo>
                    <a:pt x="105566" y="180393"/>
                    <a:pt x="117286" y="174413"/>
                    <a:pt x="124503" y="164267"/>
                  </a:cubicBezTo>
                  <a:cubicBezTo>
                    <a:pt x="132774" y="153591"/>
                    <a:pt x="136898" y="135238"/>
                    <a:pt x="136866" y="109202"/>
                  </a:cubicBezTo>
                  <a:cubicBezTo>
                    <a:pt x="136866" y="76629"/>
                    <a:pt x="129991" y="50990"/>
                    <a:pt x="116245" y="32286"/>
                  </a:cubicBezTo>
                  <a:cubicBezTo>
                    <a:pt x="108449" y="20270"/>
                    <a:pt x="95077" y="13034"/>
                    <a:pt x="80753" y="13080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AA0948F-C7F0-344B-8FBA-3F08EAAC389D}"/>
                </a:ext>
              </a:extLst>
            </p:cNvPr>
            <p:cNvSpPr/>
            <p:nvPr/>
          </p:nvSpPr>
          <p:spPr>
            <a:xfrm>
              <a:off x="6810341" y="2120137"/>
              <a:ext cx="91651" cy="285083"/>
            </a:xfrm>
            <a:custGeom>
              <a:avLst/>
              <a:gdLst>
                <a:gd name="connsiteX0" fmla="*/ 62637 w 91651"/>
                <a:gd name="connsiteY0" fmla="*/ 0 h 285083"/>
                <a:gd name="connsiteX1" fmla="*/ 62637 w 91651"/>
                <a:gd name="connsiteY1" fmla="*/ 243568 h 285083"/>
                <a:gd name="connsiteX2" fmla="*/ 65055 w 91651"/>
                <a:gd name="connsiteY2" fmla="*/ 266379 h 285083"/>
                <a:gd name="connsiteX3" fmla="*/ 72628 w 91651"/>
                <a:gd name="connsiteY3" fmla="*/ 274910 h 285083"/>
                <a:gd name="connsiteX4" fmla="*/ 91652 w 91651"/>
                <a:gd name="connsiteY4" fmla="*/ 277784 h 285083"/>
                <a:gd name="connsiteX5" fmla="*/ 91652 w 91651"/>
                <a:gd name="connsiteY5" fmla="*/ 285083 h 285083"/>
                <a:gd name="connsiteX6" fmla="*/ 3285 w 91651"/>
                <a:gd name="connsiteY6" fmla="*/ 285083 h 285083"/>
                <a:gd name="connsiteX7" fmla="*/ 3285 w 91651"/>
                <a:gd name="connsiteY7" fmla="*/ 277875 h 285083"/>
                <a:gd name="connsiteX8" fmla="*/ 20301 w 91651"/>
                <a:gd name="connsiteY8" fmla="*/ 275275 h 285083"/>
                <a:gd name="connsiteX9" fmla="*/ 27463 w 91651"/>
                <a:gd name="connsiteY9" fmla="*/ 266698 h 285083"/>
                <a:gd name="connsiteX10" fmla="*/ 30018 w 91651"/>
                <a:gd name="connsiteY10" fmla="*/ 243888 h 285083"/>
                <a:gd name="connsiteX11" fmla="*/ 30018 w 91651"/>
                <a:gd name="connsiteY11" fmla="*/ 76780 h 285083"/>
                <a:gd name="connsiteX12" fmla="*/ 28650 w 91651"/>
                <a:gd name="connsiteY12" fmla="*/ 38823 h 285083"/>
                <a:gd name="connsiteX13" fmla="*/ 24088 w 91651"/>
                <a:gd name="connsiteY13" fmla="*/ 29106 h 285083"/>
                <a:gd name="connsiteX14" fmla="*/ 16332 w 91651"/>
                <a:gd name="connsiteY14" fmla="*/ 26506 h 285083"/>
                <a:gd name="connsiteX15" fmla="*/ 3330 w 91651"/>
                <a:gd name="connsiteY15" fmla="*/ 29745 h 285083"/>
                <a:gd name="connsiteX16" fmla="*/ 0 w 91651"/>
                <a:gd name="connsiteY16" fmla="*/ 22445 h 285083"/>
                <a:gd name="connsiteX17" fmla="*/ 53650 w 91651"/>
                <a:gd name="connsiteY17" fmla="*/ 0 h 28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1651" h="285083">
                  <a:moveTo>
                    <a:pt x="62637" y="0"/>
                  </a:moveTo>
                  <a:lnTo>
                    <a:pt x="62637" y="243568"/>
                  </a:lnTo>
                  <a:cubicBezTo>
                    <a:pt x="62163" y="251255"/>
                    <a:pt x="62984" y="258965"/>
                    <a:pt x="65055" y="266379"/>
                  </a:cubicBezTo>
                  <a:cubicBezTo>
                    <a:pt x="66570" y="269978"/>
                    <a:pt x="69234" y="272976"/>
                    <a:pt x="72628" y="274910"/>
                  </a:cubicBezTo>
                  <a:cubicBezTo>
                    <a:pt x="78673" y="277287"/>
                    <a:pt x="85174" y="278272"/>
                    <a:pt x="91652" y="277784"/>
                  </a:cubicBezTo>
                  <a:lnTo>
                    <a:pt x="91652" y="285083"/>
                  </a:lnTo>
                  <a:lnTo>
                    <a:pt x="3285" y="285083"/>
                  </a:lnTo>
                  <a:lnTo>
                    <a:pt x="3285" y="277875"/>
                  </a:lnTo>
                  <a:cubicBezTo>
                    <a:pt x="9083" y="278322"/>
                    <a:pt x="14904" y="277433"/>
                    <a:pt x="20301" y="275275"/>
                  </a:cubicBezTo>
                  <a:cubicBezTo>
                    <a:pt x="23567" y="273281"/>
                    <a:pt x="26086" y="270266"/>
                    <a:pt x="27463" y="266698"/>
                  </a:cubicBezTo>
                  <a:cubicBezTo>
                    <a:pt x="29589" y="259294"/>
                    <a:pt x="30452" y="251580"/>
                    <a:pt x="30018" y="243888"/>
                  </a:cubicBezTo>
                  <a:lnTo>
                    <a:pt x="30018" y="76780"/>
                  </a:lnTo>
                  <a:cubicBezTo>
                    <a:pt x="30383" y="64111"/>
                    <a:pt x="29927" y="51433"/>
                    <a:pt x="28650" y="38823"/>
                  </a:cubicBezTo>
                  <a:cubicBezTo>
                    <a:pt x="28234" y="35173"/>
                    <a:pt x="26629" y="31757"/>
                    <a:pt x="24088" y="29106"/>
                  </a:cubicBezTo>
                  <a:cubicBezTo>
                    <a:pt x="21907" y="27322"/>
                    <a:pt x="19147" y="26396"/>
                    <a:pt x="16332" y="26506"/>
                  </a:cubicBezTo>
                  <a:cubicBezTo>
                    <a:pt x="11834" y="26766"/>
                    <a:pt x="7427" y="27865"/>
                    <a:pt x="3330" y="29745"/>
                  </a:cubicBezTo>
                  <a:lnTo>
                    <a:pt x="0" y="22445"/>
                  </a:lnTo>
                  <a:lnTo>
                    <a:pt x="53650" y="0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ADAAF86-E777-6606-9547-36B0E3A5AB12}"/>
                </a:ext>
              </a:extLst>
            </p:cNvPr>
            <p:cNvSpPr/>
            <p:nvPr/>
          </p:nvSpPr>
          <p:spPr>
            <a:xfrm>
              <a:off x="6921792" y="2120137"/>
              <a:ext cx="91651" cy="285083"/>
            </a:xfrm>
            <a:custGeom>
              <a:avLst/>
              <a:gdLst>
                <a:gd name="connsiteX0" fmla="*/ 62637 w 91651"/>
                <a:gd name="connsiteY0" fmla="*/ 0 h 285083"/>
                <a:gd name="connsiteX1" fmla="*/ 62637 w 91651"/>
                <a:gd name="connsiteY1" fmla="*/ 243568 h 285083"/>
                <a:gd name="connsiteX2" fmla="*/ 65100 w 91651"/>
                <a:gd name="connsiteY2" fmla="*/ 266379 h 285083"/>
                <a:gd name="connsiteX3" fmla="*/ 72628 w 91651"/>
                <a:gd name="connsiteY3" fmla="*/ 274910 h 285083"/>
                <a:gd name="connsiteX4" fmla="*/ 91652 w 91651"/>
                <a:gd name="connsiteY4" fmla="*/ 277784 h 285083"/>
                <a:gd name="connsiteX5" fmla="*/ 91652 w 91651"/>
                <a:gd name="connsiteY5" fmla="*/ 285083 h 285083"/>
                <a:gd name="connsiteX6" fmla="*/ 3285 w 91651"/>
                <a:gd name="connsiteY6" fmla="*/ 285083 h 285083"/>
                <a:gd name="connsiteX7" fmla="*/ 3285 w 91651"/>
                <a:gd name="connsiteY7" fmla="*/ 277875 h 285083"/>
                <a:gd name="connsiteX8" fmla="*/ 20301 w 91651"/>
                <a:gd name="connsiteY8" fmla="*/ 275275 h 285083"/>
                <a:gd name="connsiteX9" fmla="*/ 27463 w 91651"/>
                <a:gd name="connsiteY9" fmla="*/ 266698 h 285083"/>
                <a:gd name="connsiteX10" fmla="*/ 30018 w 91651"/>
                <a:gd name="connsiteY10" fmla="*/ 243888 h 285083"/>
                <a:gd name="connsiteX11" fmla="*/ 30018 w 91651"/>
                <a:gd name="connsiteY11" fmla="*/ 76780 h 285083"/>
                <a:gd name="connsiteX12" fmla="*/ 28650 w 91651"/>
                <a:gd name="connsiteY12" fmla="*/ 38823 h 285083"/>
                <a:gd name="connsiteX13" fmla="*/ 24088 w 91651"/>
                <a:gd name="connsiteY13" fmla="*/ 29106 h 285083"/>
                <a:gd name="connsiteX14" fmla="*/ 16332 w 91651"/>
                <a:gd name="connsiteY14" fmla="*/ 26506 h 285083"/>
                <a:gd name="connsiteX15" fmla="*/ 3376 w 91651"/>
                <a:gd name="connsiteY15" fmla="*/ 29745 h 285083"/>
                <a:gd name="connsiteX16" fmla="*/ 0 w 91651"/>
                <a:gd name="connsiteY16" fmla="*/ 22445 h 285083"/>
                <a:gd name="connsiteX17" fmla="*/ 53650 w 91651"/>
                <a:gd name="connsiteY17" fmla="*/ 0 h 28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1651" h="285083">
                  <a:moveTo>
                    <a:pt x="62637" y="0"/>
                  </a:moveTo>
                  <a:lnTo>
                    <a:pt x="62637" y="243568"/>
                  </a:lnTo>
                  <a:cubicBezTo>
                    <a:pt x="62149" y="251255"/>
                    <a:pt x="62984" y="258970"/>
                    <a:pt x="65100" y="266379"/>
                  </a:cubicBezTo>
                  <a:cubicBezTo>
                    <a:pt x="66602" y="269974"/>
                    <a:pt x="69247" y="272976"/>
                    <a:pt x="72628" y="274910"/>
                  </a:cubicBezTo>
                  <a:cubicBezTo>
                    <a:pt x="78673" y="277287"/>
                    <a:pt x="85174" y="278272"/>
                    <a:pt x="91652" y="277784"/>
                  </a:cubicBezTo>
                  <a:lnTo>
                    <a:pt x="91652" y="285083"/>
                  </a:lnTo>
                  <a:lnTo>
                    <a:pt x="3285" y="285083"/>
                  </a:lnTo>
                  <a:lnTo>
                    <a:pt x="3285" y="277875"/>
                  </a:lnTo>
                  <a:cubicBezTo>
                    <a:pt x="9083" y="278322"/>
                    <a:pt x="14904" y="277433"/>
                    <a:pt x="20301" y="275275"/>
                  </a:cubicBezTo>
                  <a:cubicBezTo>
                    <a:pt x="23567" y="273281"/>
                    <a:pt x="26086" y="270266"/>
                    <a:pt x="27463" y="266698"/>
                  </a:cubicBezTo>
                  <a:cubicBezTo>
                    <a:pt x="29589" y="259294"/>
                    <a:pt x="30452" y="251580"/>
                    <a:pt x="30018" y="243888"/>
                  </a:cubicBezTo>
                  <a:lnTo>
                    <a:pt x="30018" y="76780"/>
                  </a:lnTo>
                  <a:cubicBezTo>
                    <a:pt x="30383" y="64111"/>
                    <a:pt x="29927" y="51433"/>
                    <a:pt x="28650" y="38823"/>
                  </a:cubicBezTo>
                  <a:cubicBezTo>
                    <a:pt x="28234" y="35173"/>
                    <a:pt x="26629" y="31757"/>
                    <a:pt x="24088" y="29106"/>
                  </a:cubicBezTo>
                  <a:cubicBezTo>
                    <a:pt x="21911" y="27313"/>
                    <a:pt x="19152" y="26387"/>
                    <a:pt x="16332" y="26506"/>
                  </a:cubicBezTo>
                  <a:cubicBezTo>
                    <a:pt x="11848" y="26761"/>
                    <a:pt x="7454" y="27860"/>
                    <a:pt x="3376" y="29745"/>
                  </a:cubicBezTo>
                  <a:lnTo>
                    <a:pt x="0" y="22445"/>
                  </a:lnTo>
                  <a:lnTo>
                    <a:pt x="53650" y="0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DEE901E-7A41-7C7F-DD7B-9D29A15C4950}"/>
                </a:ext>
              </a:extLst>
            </p:cNvPr>
            <p:cNvSpPr/>
            <p:nvPr/>
          </p:nvSpPr>
          <p:spPr>
            <a:xfrm>
              <a:off x="7036345" y="2216089"/>
              <a:ext cx="151916" cy="194661"/>
            </a:xfrm>
            <a:custGeom>
              <a:avLst/>
              <a:gdLst>
                <a:gd name="connsiteX0" fmla="*/ 27555 w 151916"/>
                <a:gd name="connsiteY0" fmla="*/ 74715 h 194661"/>
                <a:gd name="connsiteX1" fmla="*/ 46989 w 151916"/>
                <a:gd name="connsiteY1" fmla="*/ 138584 h 194661"/>
                <a:gd name="connsiteX2" fmla="*/ 93066 w 151916"/>
                <a:gd name="connsiteY2" fmla="*/ 161759 h 194661"/>
                <a:gd name="connsiteX3" fmla="*/ 123769 w 151916"/>
                <a:gd name="connsiteY3" fmla="*/ 151905 h 194661"/>
                <a:gd name="connsiteX4" fmla="*/ 145621 w 151916"/>
                <a:gd name="connsiteY4" fmla="*/ 117918 h 194661"/>
                <a:gd name="connsiteX5" fmla="*/ 151689 w 151916"/>
                <a:gd name="connsiteY5" fmla="*/ 121932 h 194661"/>
                <a:gd name="connsiteX6" fmla="*/ 127783 w 151916"/>
                <a:gd name="connsiteY6" fmla="*/ 172115 h 194661"/>
                <a:gd name="connsiteX7" fmla="*/ 78194 w 151916"/>
                <a:gd name="connsiteY7" fmla="*/ 194652 h 194661"/>
                <a:gd name="connsiteX8" fmla="*/ 22810 w 151916"/>
                <a:gd name="connsiteY8" fmla="*/ 168922 h 194661"/>
                <a:gd name="connsiteX9" fmla="*/ 0 w 151916"/>
                <a:gd name="connsiteY9" fmla="*/ 99715 h 194661"/>
                <a:gd name="connsiteX10" fmla="*/ 23631 w 151916"/>
                <a:gd name="connsiteY10" fmla="*/ 26357 h 194661"/>
                <a:gd name="connsiteX11" fmla="*/ 82938 w 151916"/>
                <a:gd name="connsiteY11" fmla="*/ 34 h 194661"/>
                <a:gd name="connsiteX12" fmla="*/ 132528 w 151916"/>
                <a:gd name="connsiteY12" fmla="*/ 20335 h 194661"/>
                <a:gd name="connsiteX13" fmla="*/ 151917 w 151916"/>
                <a:gd name="connsiteY13" fmla="*/ 74669 h 194661"/>
                <a:gd name="connsiteX14" fmla="*/ 27555 w 151916"/>
                <a:gd name="connsiteY14" fmla="*/ 63173 h 194661"/>
                <a:gd name="connsiteX15" fmla="*/ 111177 w 151916"/>
                <a:gd name="connsiteY15" fmla="*/ 63173 h 194661"/>
                <a:gd name="connsiteX16" fmla="*/ 107026 w 151916"/>
                <a:gd name="connsiteY16" fmla="*/ 38401 h 194661"/>
                <a:gd name="connsiteX17" fmla="*/ 92382 w 151916"/>
                <a:gd name="connsiteY17" fmla="*/ 20791 h 194661"/>
                <a:gd name="connsiteX18" fmla="*/ 72035 w 151916"/>
                <a:gd name="connsiteY18" fmla="*/ 14405 h 194661"/>
                <a:gd name="connsiteX19" fmla="*/ 42838 w 151916"/>
                <a:gd name="connsiteY19" fmla="*/ 27315 h 194661"/>
                <a:gd name="connsiteX20" fmla="*/ 27783 w 151916"/>
                <a:gd name="connsiteY20" fmla="*/ 63173 h 194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1916" h="194661">
                  <a:moveTo>
                    <a:pt x="27555" y="74715"/>
                  </a:moveTo>
                  <a:cubicBezTo>
                    <a:pt x="27555" y="101905"/>
                    <a:pt x="34033" y="123196"/>
                    <a:pt x="46989" y="138584"/>
                  </a:cubicBezTo>
                  <a:cubicBezTo>
                    <a:pt x="59946" y="153972"/>
                    <a:pt x="75306" y="161700"/>
                    <a:pt x="93066" y="161759"/>
                  </a:cubicBezTo>
                  <a:cubicBezTo>
                    <a:pt x="104111" y="161992"/>
                    <a:pt x="114918" y="158520"/>
                    <a:pt x="123769" y="151905"/>
                  </a:cubicBezTo>
                  <a:cubicBezTo>
                    <a:pt x="132436" y="145336"/>
                    <a:pt x="139722" y="134008"/>
                    <a:pt x="145621" y="117918"/>
                  </a:cubicBezTo>
                  <a:lnTo>
                    <a:pt x="151689" y="121932"/>
                  </a:lnTo>
                  <a:cubicBezTo>
                    <a:pt x="148837" y="140651"/>
                    <a:pt x="140521" y="158110"/>
                    <a:pt x="127783" y="172115"/>
                  </a:cubicBezTo>
                  <a:cubicBezTo>
                    <a:pt x="115489" y="186709"/>
                    <a:pt x="97272" y="194989"/>
                    <a:pt x="78194" y="194652"/>
                  </a:cubicBezTo>
                  <a:cubicBezTo>
                    <a:pt x="56825" y="194743"/>
                    <a:pt x="36524" y="185313"/>
                    <a:pt x="22810" y="168922"/>
                  </a:cubicBezTo>
                  <a:cubicBezTo>
                    <a:pt x="7605" y="151768"/>
                    <a:pt x="0" y="128698"/>
                    <a:pt x="0" y="99715"/>
                  </a:cubicBezTo>
                  <a:cubicBezTo>
                    <a:pt x="0" y="68360"/>
                    <a:pt x="7879" y="43908"/>
                    <a:pt x="23631" y="26357"/>
                  </a:cubicBezTo>
                  <a:cubicBezTo>
                    <a:pt x="38495" y="9186"/>
                    <a:pt x="60237" y="-463"/>
                    <a:pt x="82938" y="34"/>
                  </a:cubicBezTo>
                  <a:cubicBezTo>
                    <a:pt x="101606" y="-568"/>
                    <a:pt x="119640" y="6818"/>
                    <a:pt x="132528" y="20335"/>
                  </a:cubicBezTo>
                  <a:cubicBezTo>
                    <a:pt x="145452" y="33898"/>
                    <a:pt x="151917" y="52010"/>
                    <a:pt x="151917" y="74669"/>
                  </a:cubicBezTo>
                  <a:close/>
                  <a:moveTo>
                    <a:pt x="27555" y="63173"/>
                  </a:moveTo>
                  <a:lnTo>
                    <a:pt x="111177" y="63173"/>
                  </a:lnTo>
                  <a:cubicBezTo>
                    <a:pt x="111127" y="54747"/>
                    <a:pt x="109727" y="46385"/>
                    <a:pt x="107026" y="38401"/>
                  </a:cubicBezTo>
                  <a:cubicBezTo>
                    <a:pt x="104010" y="31202"/>
                    <a:pt x="98910" y="25071"/>
                    <a:pt x="92382" y="20791"/>
                  </a:cubicBezTo>
                  <a:cubicBezTo>
                    <a:pt x="86387" y="16686"/>
                    <a:pt x="79302" y="14459"/>
                    <a:pt x="72035" y="14405"/>
                  </a:cubicBezTo>
                  <a:cubicBezTo>
                    <a:pt x="60935" y="14491"/>
                    <a:pt x="50370" y="19167"/>
                    <a:pt x="42838" y="27315"/>
                  </a:cubicBezTo>
                  <a:cubicBezTo>
                    <a:pt x="33727" y="37105"/>
                    <a:pt x="28394" y="49815"/>
                    <a:pt x="27783" y="63173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1F4C010-6487-1B56-B492-F585DC2F0D68}"/>
                </a:ext>
              </a:extLst>
            </p:cNvPr>
            <p:cNvSpPr/>
            <p:nvPr/>
          </p:nvSpPr>
          <p:spPr>
            <a:xfrm>
              <a:off x="7211391" y="2216256"/>
              <a:ext cx="181796" cy="277621"/>
            </a:xfrm>
            <a:custGeom>
              <a:avLst/>
              <a:gdLst>
                <a:gd name="connsiteX0" fmla="*/ 48586 w 181796"/>
                <a:gd name="connsiteY0" fmla="*/ 121948 h 277621"/>
                <a:gd name="connsiteX1" fmla="*/ 23312 w 181796"/>
                <a:gd name="connsiteY1" fmla="*/ 99137 h 277621"/>
                <a:gd name="connsiteX2" fmla="*/ 14507 w 181796"/>
                <a:gd name="connsiteY2" fmla="*/ 66564 h 277621"/>
                <a:gd name="connsiteX3" fmla="*/ 34626 w 181796"/>
                <a:gd name="connsiteY3" fmla="*/ 19666 h 277621"/>
                <a:gd name="connsiteX4" fmla="*/ 86132 w 181796"/>
                <a:gd name="connsiteY4" fmla="*/ 50 h 277621"/>
                <a:gd name="connsiteX5" fmla="*/ 130657 w 181796"/>
                <a:gd name="connsiteY5" fmla="*/ 12869 h 277621"/>
                <a:gd name="connsiteX6" fmla="*/ 168796 w 181796"/>
                <a:gd name="connsiteY6" fmla="*/ 12869 h 277621"/>
                <a:gd name="connsiteX7" fmla="*/ 178605 w 181796"/>
                <a:gd name="connsiteY7" fmla="*/ 13371 h 277621"/>
                <a:gd name="connsiteX8" fmla="*/ 180566 w 181796"/>
                <a:gd name="connsiteY8" fmla="*/ 15059 h 277621"/>
                <a:gd name="connsiteX9" fmla="*/ 181753 w 181796"/>
                <a:gd name="connsiteY9" fmla="*/ 21445 h 277621"/>
                <a:gd name="connsiteX10" fmla="*/ 180749 w 181796"/>
                <a:gd name="connsiteY10" fmla="*/ 28654 h 277621"/>
                <a:gd name="connsiteX11" fmla="*/ 178696 w 181796"/>
                <a:gd name="connsiteY11" fmla="*/ 30250 h 277621"/>
                <a:gd name="connsiteX12" fmla="*/ 168705 w 181796"/>
                <a:gd name="connsiteY12" fmla="*/ 30843 h 277621"/>
                <a:gd name="connsiteX13" fmla="*/ 145302 w 181796"/>
                <a:gd name="connsiteY13" fmla="*/ 30843 h 277621"/>
                <a:gd name="connsiteX14" fmla="*/ 156251 w 181796"/>
                <a:gd name="connsiteY14" fmla="*/ 67796 h 277621"/>
                <a:gd name="connsiteX15" fmla="*/ 137044 w 181796"/>
                <a:gd name="connsiteY15" fmla="*/ 111774 h 277621"/>
                <a:gd name="connsiteX16" fmla="*/ 85539 w 181796"/>
                <a:gd name="connsiteY16" fmla="*/ 130022 h 277621"/>
                <a:gd name="connsiteX17" fmla="*/ 58166 w 181796"/>
                <a:gd name="connsiteY17" fmla="*/ 125917 h 277621"/>
                <a:gd name="connsiteX18" fmla="*/ 46533 w 181796"/>
                <a:gd name="connsiteY18" fmla="*/ 139238 h 277621"/>
                <a:gd name="connsiteX19" fmla="*/ 43522 w 181796"/>
                <a:gd name="connsiteY19" fmla="*/ 148955 h 277621"/>
                <a:gd name="connsiteX20" fmla="*/ 46715 w 181796"/>
                <a:gd name="connsiteY20" fmla="*/ 155570 h 277621"/>
                <a:gd name="connsiteX21" fmla="*/ 59352 w 181796"/>
                <a:gd name="connsiteY21" fmla="*/ 160132 h 277621"/>
                <a:gd name="connsiteX22" fmla="*/ 86725 w 181796"/>
                <a:gd name="connsiteY22" fmla="*/ 161546 h 277621"/>
                <a:gd name="connsiteX23" fmla="*/ 138960 w 181796"/>
                <a:gd name="connsiteY23" fmla="*/ 164421 h 277621"/>
                <a:gd name="connsiteX24" fmla="*/ 168021 w 181796"/>
                <a:gd name="connsiteY24" fmla="*/ 178107 h 277621"/>
                <a:gd name="connsiteX25" fmla="*/ 178879 w 181796"/>
                <a:gd name="connsiteY25" fmla="*/ 205799 h 277621"/>
                <a:gd name="connsiteX26" fmla="*/ 158167 w 181796"/>
                <a:gd name="connsiteY26" fmla="*/ 248317 h 277621"/>
                <a:gd name="connsiteX27" fmla="*/ 78559 w 181796"/>
                <a:gd name="connsiteY27" fmla="*/ 277560 h 277621"/>
                <a:gd name="connsiteX28" fmla="*/ 14690 w 181796"/>
                <a:gd name="connsiteY28" fmla="*/ 260087 h 277621"/>
                <a:gd name="connsiteX29" fmla="*/ 0 w 181796"/>
                <a:gd name="connsiteY29" fmla="*/ 239193 h 277621"/>
                <a:gd name="connsiteX30" fmla="*/ 2144 w 181796"/>
                <a:gd name="connsiteY30" fmla="*/ 229567 h 277621"/>
                <a:gd name="connsiteX31" fmla="*/ 15830 w 181796"/>
                <a:gd name="connsiteY31" fmla="*/ 208901 h 277621"/>
                <a:gd name="connsiteX32" fmla="*/ 35767 w 181796"/>
                <a:gd name="connsiteY32" fmla="*/ 187185 h 277621"/>
                <a:gd name="connsiteX33" fmla="*/ 21350 w 181796"/>
                <a:gd name="connsiteY33" fmla="*/ 176054 h 277621"/>
                <a:gd name="connsiteX34" fmla="*/ 17108 w 181796"/>
                <a:gd name="connsiteY34" fmla="*/ 164922 h 277621"/>
                <a:gd name="connsiteX35" fmla="*/ 22719 w 181796"/>
                <a:gd name="connsiteY35" fmla="*/ 148499 h 277621"/>
                <a:gd name="connsiteX36" fmla="*/ 48495 w 181796"/>
                <a:gd name="connsiteY36" fmla="*/ 121811 h 277621"/>
                <a:gd name="connsiteX37" fmla="*/ 46533 w 181796"/>
                <a:gd name="connsiteY37" fmla="*/ 188827 h 277621"/>
                <a:gd name="connsiteX38" fmla="*/ 32847 w 181796"/>
                <a:gd name="connsiteY38" fmla="*/ 207851 h 277621"/>
                <a:gd name="connsiteX39" fmla="*/ 28285 w 181796"/>
                <a:gd name="connsiteY39" fmla="*/ 224092 h 277621"/>
                <a:gd name="connsiteX40" fmla="*/ 39644 w 181796"/>
                <a:gd name="connsiteY40" fmla="*/ 240972 h 277621"/>
                <a:gd name="connsiteX41" fmla="*/ 96214 w 181796"/>
                <a:gd name="connsiteY41" fmla="*/ 253381 h 277621"/>
                <a:gd name="connsiteX42" fmla="*/ 148176 w 181796"/>
                <a:gd name="connsiteY42" fmla="*/ 240652 h 277621"/>
                <a:gd name="connsiteX43" fmla="*/ 164919 w 181796"/>
                <a:gd name="connsiteY43" fmla="*/ 213554 h 277621"/>
                <a:gd name="connsiteX44" fmla="*/ 154928 w 181796"/>
                <a:gd name="connsiteY44" fmla="*/ 198727 h 277621"/>
                <a:gd name="connsiteX45" fmla="*/ 114553 w 181796"/>
                <a:gd name="connsiteY45" fmla="*/ 193527 h 277621"/>
                <a:gd name="connsiteX46" fmla="*/ 46807 w 181796"/>
                <a:gd name="connsiteY46" fmla="*/ 188964 h 277621"/>
                <a:gd name="connsiteX47" fmla="*/ 82893 w 181796"/>
                <a:gd name="connsiteY47" fmla="*/ 9539 h 277621"/>
                <a:gd name="connsiteX48" fmla="*/ 58531 w 181796"/>
                <a:gd name="connsiteY48" fmla="*/ 21354 h 277621"/>
                <a:gd name="connsiteX49" fmla="*/ 48723 w 181796"/>
                <a:gd name="connsiteY49" fmla="*/ 57577 h 277621"/>
                <a:gd name="connsiteX50" fmla="*/ 62090 w 181796"/>
                <a:gd name="connsiteY50" fmla="*/ 106665 h 277621"/>
                <a:gd name="connsiteX51" fmla="*/ 87957 w 181796"/>
                <a:gd name="connsiteY51" fmla="*/ 119895 h 277621"/>
                <a:gd name="connsiteX52" fmla="*/ 112455 w 181796"/>
                <a:gd name="connsiteY52" fmla="*/ 108444 h 277621"/>
                <a:gd name="connsiteX53" fmla="*/ 122081 w 181796"/>
                <a:gd name="connsiteY53" fmla="*/ 72586 h 277621"/>
                <a:gd name="connsiteX54" fmla="*/ 108395 w 181796"/>
                <a:gd name="connsiteY54" fmla="*/ 22768 h 277621"/>
                <a:gd name="connsiteX55" fmla="*/ 82756 w 181796"/>
                <a:gd name="connsiteY55" fmla="*/ 9539 h 27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181796" h="277621">
                  <a:moveTo>
                    <a:pt x="48586" y="121948"/>
                  </a:moveTo>
                  <a:cubicBezTo>
                    <a:pt x="38134" y="116948"/>
                    <a:pt x="29357" y="109023"/>
                    <a:pt x="23312" y="99137"/>
                  </a:cubicBezTo>
                  <a:cubicBezTo>
                    <a:pt x="17432" y="89297"/>
                    <a:pt x="14389" y="78024"/>
                    <a:pt x="14507" y="66564"/>
                  </a:cubicBezTo>
                  <a:cubicBezTo>
                    <a:pt x="14334" y="48800"/>
                    <a:pt x="21633" y="31783"/>
                    <a:pt x="34626" y="19666"/>
                  </a:cubicBezTo>
                  <a:cubicBezTo>
                    <a:pt x="48422" y="6414"/>
                    <a:pt x="67012" y="-667"/>
                    <a:pt x="86132" y="50"/>
                  </a:cubicBezTo>
                  <a:cubicBezTo>
                    <a:pt x="101935" y="-316"/>
                    <a:pt x="117469" y="4160"/>
                    <a:pt x="130657" y="12869"/>
                  </a:cubicBezTo>
                  <a:lnTo>
                    <a:pt x="168796" y="12869"/>
                  </a:lnTo>
                  <a:cubicBezTo>
                    <a:pt x="172076" y="12714"/>
                    <a:pt x="175361" y="12883"/>
                    <a:pt x="178605" y="13371"/>
                  </a:cubicBezTo>
                  <a:cubicBezTo>
                    <a:pt x="179462" y="13640"/>
                    <a:pt x="180169" y="14251"/>
                    <a:pt x="180566" y="15059"/>
                  </a:cubicBezTo>
                  <a:cubicBezTo>
                    <a:pt x="181515" y="17048"/>
                    <a:pt x="181921" y="19251"/>
                    <a:pt x="181753" y="21445"/>
                  </a:cubicBezTo>
                  <a:cubicBezTo>
                    <a:pt x="181926" y="23891"/>
                    <a:pt x="181584" y="26345"/>
                    <a:pt x="180749" y="28654"/>
                  </a:cubicBezTo>
                  <a:cubicBezTo>
                    <a:pt x="180261" y="29397"/>
                    <a:pt x="179540" y="29958"/>
                    <a:pt x="178696" y="30250"/>
                  </a:cubicBezTo>
                  <a:cubicBezTo>
                    <a:pt x="175402" y="30834"/>
                    <a:pt x="172049" y="31035"/>
                    <a:pt x="168705" y="30843"/>
                  </a:cubicBezTo>
                  <a:lnTo>
                    <a:pt x="145302" y="30843"/>
                  </a:lnTo>
                  <a:cubicBezTo>
                    <a:pt x="152961" y="41601"/>
                    <a:pt x="156816" y="54603"/>
                    <a:pt x="156251" y="67796"/>
                  </a:cubicBezTo>
                  <a:cubicBezTo>
                    <a:pt x="156442" y="84530"/>
                    <a:pt x="149448" y="100543"/>
                    <a:pt x="137044" y="111774"/>
                  </a:cubicBezTo>
                  <a:cubicBezTo>
                    <a:pt x="124271" y="123941"/>
                    <a:pt x="107103" y="130022"/>
                    <a:pt x="85539" y="130022"/>
                  </a:cubicBezTo>
                  <a:cubicBezTo>
                    <a:pt x="76264" y="129986"/>
                    <a:pt x="67044" y="128604"/>
                    <a:pt x="58166" y="125917"/>
                  </a:cubicBezTo>
                  <a:cubicBezTo>
                    <a:pt x="53559" y="129662"/>
                    <a:pt x="49622" y="134165"/>
                    <a:pt x="46533" y="139238"/>
                  </a:cubicBezTo>
                  <a:cubicBezTo>
                    <a:pt x="44772" y="142190"/>
                    <a:pt x="43741" y="145524"/>
                    <a:pt x="43522" y="148955"/>
                  </a:cubicBezTo>
                  <a:cubicBezTo>
                    <a:pt x="43641" y="151505"/>
                    <a:pt x="44795" y="153891"/>
                    <a:pt x="46715" y="155570"/>
                  </a:cubicBezTo>
                  <a:cubicBezTo>
                    <a:pt x="50397" y="158284"/>
                    <a:pt x="54786" y="159872"/>
                    <a:pt x="59352" y="160132"/>
                  </a:cubicBezTo>
                  <a:cubicBezTo>
                    <a:pt x="63002" y="160680"/>
                    <a:pt x="72126" y="161149"/>
                    <a:pt x="86725" y="161546"/>
                  </a:cubicBezTo>
                  <a:cubicBezTo>
                    <a:pt x="113609" y="162245"/>
                    <a:pt x="131022" y="163202"/>
                    <a:pt x="138960" y="164421"/>
                  </a:cubicBezTo>
                  <a:cubicBezTo>
                    <a:pt x="149918" y="165547"/>
                    <a:pt x="160169" y="170374"/>
                    <a:pt x="168021" y="178107"/>
                  </a:cubicBezTo>
                  <a:cubicBezTo>
                    <a:pt x="175233" y="185488"/>
                    <a:pt x="179152" y="195479"/>
                    <a:pt x="178879" y="205799"/>
                  </a:cubicBezTo>
                  <a:cubicBezTo>
                    <a:pt x="178879" y="221004"/>
                    <a:pt x="171976" y="235178"/>
                    <a:pt x="158167" y="248317"/>
                  </a:cubicBezTo>
                  <a:cubicBezTo>
                    <a:pt x="137879" y="267810"/>
                    <a:pt x="111346" y="277560"/>
                    <a:pt x="78559" y="277560"/>
                  </a:cubicBezTo>
                  <a:cubicBezTo>
                    <a:pt x="55995" y="278312"/>
                    <a:pt x="33727" y="272222"/>
                    <a:pt x="14690" y="260087"/>
                  </a:cubicBezTo>
                  <a:cubicBezTo>
                    <a:pt x="4881" y="253381"/>
                    <a:pt x="0" y="246401"/>
                    <a:pt x="0" y="239193"/>
                  </a:cubicBezTo>
                  <a:cubicBezTo>
                    <a:pt x="14" y="235867"/>
                    <a:pt x="748" y="232582"/>
                    <a:pt x="2144" y="229567"/>
                  </a:cubicBezTo>
                  <a:cubicBezTo>
                    <a:pt x="5899" y="222176"/>
                    <a:pt x="10493" y="215242"/>
                    <a:pt x="15830" y="208901"/>
                  </a:cubicBezTo>
                  <a:cubicBezTo>
                    <a:pt x="16743" y="207669"/>
                    <a:pt x="23358" y="200461"/>
                    <a:pt x="35767" y="187185"/>
                  </a:cubicBezTo>
                  <a:cubicBezTo>
                    <a:pt x="30424" y="184224"/>
                    <a:pt x="25566" y="180474"/>
                    <a:pt x="21350" y="176054"/>
                  </a:cubicBezTo>
                  <a:cubicBezTo>
                    <a:pt x="18600" y="173002"/>
                    <a:pt x="17089" y="169033"/>
                    <a:pt x="17108" y="164922"/>
                  </a:cubicBezTo>
                  <a:cubicBezTo>
                    <a:pt x="17496" y="159046"/>
                    <a:pt x="19434" y="153380"/>
                    <a:pt x="22719" y="148499"/>
                  </a:cubicBezTo>
                  <a:cubicBezTo>
                    <a:pt x="26414" y="142203"/>
                    <a:pt x="35037" y="133307"/>
                    <a:pt x="48495" y="121811"/>
                  </a:cubicBezTo>
                  <a:moveTo>
                    <a:pt x="46533" y="188827"/>
                  </a:moveTo>
                  <a:cubicBezTo>
                    <a:pt x="41223" y="194594"/>
                    <a:pt x="36624" y="200981"/>
                    <a:pt x="32847" y="207851"/>
                  </a:cubicBezTo>
                  <a:cubicBezTo>
                    <a:pt x="30037" y="212815"/>
                    <a:pt x="28472" y="218390"/>
                    <a:pt x="28285" y="224092"/>
                  </a:cubicBezTo>
                  <a:cubicBezTo>
                    <a:pt x="28285" y="230538"/>
                    <a:pt x="32071" y="236168"/>
                    <a:pt x="39644" y="240972"/>
                  </a:cubicBezTo>
                  <a:cubicBezTo>
                    <a:pt x="52692" y="249243"/>
                    <a:pt x="71547" y="253381"/>
                    <a:pt x="96214" y="253381"/>
                  </a:cubicBezTo>
                  <a:cubicBezTo>
                    <a:pt x="119722" y="253381"/>
                    <a:pt x="137044" y="249138"/>
                    <a:pt x="148176" y="240652"/>
                  </a:cubicBezTo>
                  <a:cubicBezTo>
                    <a:pt x="159353" y="232213"/>
                    <a:pt x="164919" y="223134"/>
                    <a:pt x="164919" y="213554"/>
                  </a:cubicBezTo>
                  <a:cubicBezTo>
                    <a:pt x="165170" y="206962"/>
                    <a:pt x="161132" y="200967"/>
                    <a:pt x="154928" y="198727"/>
                  </a:cubicBezTo>
                  <a:cubicBezTo>
                    <a:pt x="148116" y="195684"/>
                    <a:pt x="134658" y="193951"/>
                    <a:pt x="114553" y="193527"/>
                  </a:cubicBezTo>
                  <a:cubicBezTo>
                    <a:pt x="91907" y="193230"/>
                    <a:pt x="69289" y="191706"/>
                    <a:pt x="46807" y="188964"/>
                  </a:cubicBezTo>
                  <a:moveTo>
                    <a:pt x="82893" y="9539"/>
                  </a:moveTo>
                  <a:cubicBezTo>
                    <a:pt x="73372" y="9447"/>
                    <a:pt x="64357" y="13822"/>
                    <a:pt x="58531" y="21354"/>
                  </a:cubicBezTo>
                  <a:cubicBezTo>
                    <a:pt x="52008" y="29247"/>
                    <a:pt x="48723" y="41290"/>
                    <a:pt x="48723" y="57577"/>
                  </a:cubicBezTo>
                  <a:cubicBezTo>
                    <a:pt x="48723" y="78713"/>
                    <a:pt x="53180" y="95077"/>
                    <a:pt x="62090" y="106665"/>
                  </a:cubicBezTo>
                  <a:cubicBezTo>
                    <a:pt x="68029" y="115041"/>
                    <a:pt x="77687" y="119981"/>
                    <a:pt x="87957" y="119895"/>
                  </a:cubicBezTo>
                  <a:cubicBezTo>
                    <a:pt x="97459" y="120096"/>
                    <a:pt x="106515" y="115862"/>
                    <a:pt x="112455" y="108444"/>
                  </a:cubicBezTo>
                  <a:cubicBezTo>
                    <a:pt x="118874" y="100871"/>
                    <a:pt x="122081" y="88918"/>
                    <a:pt x="122081" y="72586"/>
                  </a:cubicBezTo>
                  <a:cubicBezTo>
                    <a:pt x="122081" y="51295"/>
                    <a:pt x="117519" y="34689"/>
                    <a:pt x="108395" y="22768"/>
                  </a:cubicBezTo>
                  <a:cubicBezTo>
                    <a:pt x="102583" y="14370"/>
                    <a:pt x="92970" y="9406"/>
                    <a:pt x="82756" y="9539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A188572-6908-5846-7F7A-EA9130A2071E}"/>
                </a:ext>
              </a:extLst>
            </p:cNvPr>
            <p:cNvSpPr/>
            <p:nvPr/>
          </p:nvSpPr>
          <p:spPr>
            <a:xfrm>
              <a:off x="7414996" y="2216089"/>
              <a:ext cx="151916" cy="194662"/>
            </a:xfrm>
            <a:custGeom>
              <a:avLst/>
              <a:gdLst>
                <a:gd name="connsiteX0" fmla="*/ 27600 w 151916"/>
                <a:gd name="connsiteY0" fmla="*/ 74715 h 194662"/>
                <a:gd name="connsiteX1" fmla="*/ 46989 w 151916"/>
                <a:gd name="connsiteY1" fmla="*/ 138584 h 194662"/>
                <a:gd name="connsiteX2" fmla="*/ 93066 w 151916"/>
                <a:gd name="connsiteY2" fmla="*/ 161759 h 194662"/>
                <a:gd name="connsiteX3" fmla="*/ 123769 w 151916"/>
                <a:gd name="connsiteY3" fmla="*/ 151905 h 194662"/>
                <a:gd name="connsiteX4" fmla="*/ 145621 w 151916"/>
                <a:gd name="connsiteY4" fmla="*/ 117918 h 194662"/>
                <a:gd name="connsiteX5" fmla="*/ 151689 w 151916"/>
                <a:gd name="connsiteY5" fmla="*/ 121932 h 194662"/>
                <a:gd name="connsiteX6" fmla="*/ 127783 w 151916"/>
                <a:gd name="connsiteY6" fmla="*/ 172115 h 194662"/>
                <a:gd name="connsiteX7" fmla="*/ 78194 w 151916"/>
                <a:gd name="connsiteY7" fmla="*/ 194652 h 194662"/>
                <a:gd name="connsiteX8" fmla="*/ 22810 w 151916"/>
                <a:gd name="connsiteY8" fmla="*/ 168922 h 194662"/>
                <a:gd name="connsiteX9" fmla="*/ 0 w 151916"/>
                <a:gd name="connsiteY9" fmla="*/ 99715 h 194662"/>
                <a:gd name="connsiteX10" fmla="*/ 23631 w 151916"/>
                <a:gd name="connsiteY10" fmla="*/ 26357 h 194662"/>
                <a:gd name="connsiteX11" fmla="*/ 82938 w 151916"/>
                <a:gd name="connsiteY11" fmla="*/ 34 h 194662"/>
                <a:gd name="connsiteX12" fmla="*/ 132528 w 151916"/>
                <a:gd name="connsiteY12" fmla="*/ 20335 h 194662"/>
                <a:gd name="connsiteX13" fmla="*/ 151917 w 151916"/>
                <a:gd name="connsiteY13" fmla="*/ 74669 h 194662"/>
                <a:gd name="connsiteX14" fmla="*/ 27600 w 151916"/>
                <a:gd name="connsiteY14" fmla="*/ 63173 h 194662"/>
                <a:gd name="connsiteX15" fmla="*/ 111177 w 151916"/>
                <a:gd name="connsiteY15" fmla="*/ 63173 h 194662"/>
                <a:gd name="connsiteX16" fmla="*/ 107071 w 151916"/>
                <a:gd name="connsiteY16" fmla="*/ 38401 h 194662"/>
                <a:gd name="connsiteX17" fmla="*/ 92382 w 151916"/>
                <a:gd name="connsiteY17" fmla="*/ 20791 h 194662"/>
                <a:gd name="connsiteX18" fmla="*/ 72035 w 151916"/>
                <a:gd name="connsiteY18" fmla="*/ 14405 h 194662"/>
                <a:gd name="connsiteX19" fmla="*/ 42838 w 151916"/>
                <a:gd name="connsiteY19" fmla="*/ 27315 h 194662"/>
                <a:gd name="connsiteX20" fmla="*/ 27828 w 151916"/>
                <a:gd name="connsiteY20" fmla="*/ 63173 h 194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1916" h="194662">
                  <a:moveTo>
                    <a:pt x="27600" y="74715"/>
                  </a:moveTo>
                  <a:cubicBezTo>
                    <a:pt x="27600" y="101905"/>
                    <a:pt x="34065" y="123196"/>
                    <a:pt x="46989" y="138584"/>
                  </a:cubicBezTo>
                  <a:cubicBezTo>
                    <a:pt x="59914" y="153972"/>
                    <a:pt x="75274" y="161700"/>
                    <a:pt x="93066" y="161759"/>
                  </a:cubicBezTo>
                  <a:cubicBezTo>
                    <a:pt x="104111" y="161992"/>
                    <a:pt x="114918" y="158520"/>
                    <a:pt x="123769" y="151905"/>
                  </a:cubicBezTo>
                  <a:cubicBezTo>
                    <a:pt x="132436" y="145336"/>
                    <a:pt x="139722" y="134008"/>
                    <a:pt x="145621" y="117918"/>
                  </a:cubicBezTo>
                  <a:lnTo>
                    <a:pt x="151689" y="121932"/>
                  </a:lnTo>
                  <a:cubicBezTo>
                    <a:pt x="148837" y="140651"/>
                    <a:pt x="140521" y="158110"/>
                    <a:pt x="127783" y="172115"/>
                  </a:cubicBezTo>
                  <a:cubicBezTo>
                    <a:pt x="115493" y="186718"/>
                    <a:pt x="97277" y="194999"/>
                    <a:pt x="78194" y="194652"/>
                  </a:cubicBezTo>
                  <a:cubicBezTo>
                    <a:pt x="56825" y="194743"/>
                    <a:pt x="36524" y="185313"/>
                    <a:pt x="22810" y="168922"/>
                  </a:cubicBezTo>
                  <a:cubicBezTo>
                    <a:pt x="7605" y="151768"/>
                    <a:pt x="0" y="128698"/>
                    <a:pt x="0" y="99715"/>
                  </a:cubicBezTo>
                  <a:cubicBezTo>
                    <a:pt x="0" y="68360"/>
                    <a:pt x="7879" y="43908"/>
                    <a:pt x="23631" y="26357"/>
                  </a:cubicBezTo>
                  <a:cubicBezTo>
                    <a:pt x="38495" y="9195"/>
                    <a:pt x="60237" y="-459"/>
                    <a:pt x="82938" y="34"/>
                  </a:cubicBezTo>
                  <a:cubicBezTo>
                    <a:pt x="101606" y="-568"/>
                    <a:pt x="119640" y="6818"/>
                    <a:pt x="132528" y="20335"/>
                  </a:cubicBezTo>
                  <a:cubicBezTo>
                    <a:pt x="145452" y="33898"/>
                    <a:pt x="151917" y="52010"/>
                    <a:pt x="151917" y="74669"/>
                  </a:cubicBezTo>
                  <a:close/>
                  <a:moveTo>
                    <a:pt x="27600" y="63173"/>
                  </a:moveTo>
                  <a:lnTo>
                    <a:pt x="111177" y="63173"/>
                  </a:lnTo>
                  <a:cubicBezTo>
                    <a:pt x="111114" y="54751"/>
                    <a:pt x="109731" y="46394"/>
                    <a:pt x="107071" y="38401"/>
                  </a:cubicBezTo>
                  <a:cubicBezTo>
                    <a:pt x="104024" y="31207"/>
                    <a:pt x="98910" y="25080"/>
                    <a:pt x="92382" y="20791"/>
                  </a:cubicBezTo>
                  <a:cubicBezTo>
                    <a:pt x="86387" y="16686"/>
                    <a:pt x="79302" y="14459"/>
                    <a:pt x="72035" y="14405"/>
                  </a:cubicBezTo>
                  <a:cubicBezTo>
                    <a:pt x="60935" y="14491"/>
                    <a:pt x="50370" y="19167"/>
                    <a:pt x="42838" y="27315"/>
                  </a:cubicBezTo>
                  <a:cubicBezTo>
                    <a:pt x="33727" y="37101"/>
                    <a:pt x="28403" y="49815"/>
                    <a:pt x="27828" y="63173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1FBD3-0514-8353-DC9F-F58F99F36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177" y="374828"/>
            <a:ext cx="8387645" cy="627600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Acids and Bases</a:t>
            </a:r>
          </a:p>
          <a:p>
            <a:r>
              <a:rPr lang="en-US" sz="1800" dirty="0"/>
              <a:t>Acids</a:t>
            </a:r>
          </a:p>
          <a:p>
            <a:r>
              <a:rPr lang="en-US" sz="1800" dirty="0"/>
              <a:t>Specific Acids</a:t>
            </a:r>
          </a:p>
          <a:p>
            <a:r>
              <a:rPr lang="en-US" sz="1800" dirty="0"/>
              <a:t>Bases</a:t>
            </a:r>
          </a:p>
          <a:p>
            <a:r>
              <a:rPr lang="en-US" sz="1800" dirty="0"/>
              <a:t>Specific Bases</a:t>
            </a:r>
          </a:p>
          <a:p>
            <a:r>
              <a:rPr lang="en-US" sz="1800" dirty="0"/>
              <a:t>Definition of Acid, Base</a:t>
            </a:r>
          </a:p>
          <a:p>
            <a:r>
              <a:rPr lang="en-US" sz="1800" dirty="0"/>
              <a:t>- Bronsted-Lowry</a:t>
            </a:r>
          </a:p>
          <a:p>
            <a:r>
              <a:rPr lang="en-US" sz="1800" dirty="0"/>
              <a:t>Hydronium Ion</a:t>
            </a:r>
          </a:p>
          <a:p>
            <a:r>
              <a:rPr lang="en-US" sz="1800" dirty="0"/>
              <a:t>Conjugate Acid-Base Pair</a:t>
            </a:r>
          </a:p>
          <a:p>
            <a:r>
              <a:rPr lang="en-US" sz="1800" dirty="0"/>
              <a:t>Reactions</a:t>
            </a:r>
          </a:p>
          <a:p>
            <a:r>
              <a:rPr lang="en-US" sz="1800" dirty="0"/>
              <a:t>- Neutralization</a:t>
            </a:r>
          </a:p>
          <a:p>
            <a:r>
              <a:rPr lang="en-US" sz="1800" dirty="0"/>
              <a:t>- With Active Metals</a:t>
            </a:r>
          </a:p>
          <a:p>
            <a:r>
              <a:rPr lang="en-US" sz="1800" dirty="0"/>
              <a:t>Strong and Weak Acids &amp; Bases</a:t>
            </a:r>
          </a:p>
          <a:p>
            <a:r>
              <a:rPr lang="en-US" sz="1800" dirty="0"/>
              <a:t>Water Equilibrium Constant, Kw</a:t>
            </a:r>
          </a:p>
          <a:p>
            <a:r>
              <a:rPr lang="en-US" sz="1800" dirty="0"/>
              <a:t>pH scale and math of pH</a:t>
            </a:r>
          </a:p>
          <a:p>
            <a:r>
              <a:rPr lang="en-US" sz="1800" dirty="0"/>
              <a:t>pOH</a:t>
            </a:r>
          </a:p>
          <a:p>
            <a:r>
              <a:rPr lang="en-US" sz="1800" dirty="0"/>
              <a:t>Buffers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191663-B6F6-CAD8-7320-9D92AA490B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97592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BA4E7-1830-0D36-516C-B27EB7C85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80364B-602F-A0FF-46EC-B13EFD8BB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The Equilibrium Symbol/Character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0E291-FA40-9CC8-12A3-682F11E344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533" y="1149292"/>
                <a:ext cx="8387645" cy="5398263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6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⇌</m:t>
                      </m:r>
                    </m:oMath>
                  </m:oMathPara>
                </a14:m>
                <a:endParaRPr lang="en-US" sz="6000" dirty="0">
                  <a:solidFill>
                    <a:schemeClr val="bg1"/>
                  </a:solidFill>
                </a:endParaRPr>
              </a:p>
              <a:p>
                <a:r>
                  <a:rPr lang="en-US" dirty="0"/>
                  <a:t>The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right-left double harpoons </a:t>
                </a:r>
                <a:r>
                  <a:rPr lang="en-US" dirty="0">
                    <a:solidFill>
                      <a:srgbClr val="FFFF00"/>
                    </a:solidFill>
                  </a:rPr>
                  <a:t>symbol</a:t>
                </a:r>
                <a:r>
                  <a:rPr lang="en-US" dirty="0"/>
                  <a:t> or </a:t>
                </a:r>
                <a:r>
                  <a:rPr lang="en-US" dirty="0">
                    <a:solidFill>
                      <a:srgbClr val="FFFF00"/>
                    </a:solidFill>
                  </a:rPr>
                  <a:t>character</a:t>
                </a:r>
                <a:r>
                  <a:rPr lang="en-US" dirty="0"/>
                  <a:t> is used to show an important concept in chemistry</a:t>
                </a:r>
              </a:p>
              <a:p>
                <a:r>
                  <a:rPr lang="en-US" dirty="0"/>
                  <a:t>This concept is </a:t>
                </a:r>
                <a:r>
                  <a:rPr lang="en-US" b="1" dirty="0">
                    <a:solidFill>
                      <a:srgbClr val="00FF00"/>
                    </a:solidFill>
                  </a:rPr>
                  <a:t>equilibrium</a:t>
                </a:r>
              </a:p>
              <a:p>
                <a:r>
                  <a:rPr lang="en-US" dirty="0"/>
                  <a:t>Not all chemical reactions are </a:t>
                </a:r>
                <a:r>
                  <a:rPr lang="en-US" dirty="0">
                    <a:solidFill>
                      <a:srgbClr val="FFFF00"/>
                    </a:solidFill>
                  </a:rPr>
                  <a:t>one way</a:t>
                </a:r>
                <a:r>
                  <a:rPr lang="en-US" dirty="0"/>
                  <a:t>. Many are </a:t>
                </a:r>
                <a:r>
                  <a:rPr lang="en-US" dirty="0">
                    <a:solidFill>
                      <a:srgbClr val="FFFF00"/>
                    </a:solidFill>
                  </a:rPr>
                  <a:t>two way</a:t>
                </a:r>
                <a:r>
                  <a:rPr lang="en-US" dirty="0"/>
                  <a:t>. That is, there is a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forward reaction </a:t>
                </a:r>
                <a:r>
                  <a:rPr lang="en-US" dirty="0"/>
                  <a:t>and also a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reverse reaction</a:t>
                </a:r>
              </a:p>
              <a:p>
                <a:r>
                  <a:rPr lang="en-US" dirty="0"/>
                  <a:t>When a reaction starts out with no </a:t>
                </a:r>
                <a:r>
                  <a:rPr lang="en-US" dirty="0">
                    <a:solidFill>
                      <a:srgbClr val="FFFF00"/>
                    </a:solidFill>
                  </a:rPr>
                  <a:t>products</a:t>
                </a:r>
                <a:r>
                  <a:rPr lang="en-US" dirty="0"/>
                  <a:t>, the </a:t>
                </a:r>
                <a:r>
                  <a:rPr lang="en-US" dirty="0">
                    <a:solidFill>
                      <a:srgbClr val="FFFF00"/>
                    </a:solidFill>
                  </a:rPr>
                  <a:t>forward reaction </a:t>
                </a:r>
                <a:r>
                  <a:rPr lang="en-US" dirty="0"/>
                  <a:t>occurs</a:t>
                </a:r>
              </a:p>
              <a:p>
                <a:r>
                  <a:rPr lang="en-US" dirty="0"/>
                  <a:t>But when </a:t>
                </a:r>
                <a:r>
                  <a:rPr lang="en-US" dirty="0">
                    <a:solidFill>
                      <a:srgbClr val="FFFF00"/>
                    </a:solidFill>
                  </a:rPr>
                  <a:t>products</a:t>
                </a:r>
                <a:r>
                  <a:rPr lang="en-US" dirty="0"/>
                  <a:t> accumulate, they become </a:t>
                </a:r>
                <a:r>
                  <a:rPr lang="en-US" dirty="0">
                    <a:solidFill>
                      <a:srgbClr val="FFFF00"/>
                    </a:solidFill>
                  </a:rPr>
                  <a:t>reactants</a:t>
                </a:r>
                <a:r>
                  <a:rPr lang="en-US" dirty="0"/>
                  <a:t> in the </a:t>
                </a:r>
                <a:r>
                  <a:rPr lang="en-US" dirty="0">
                    <a:solidFill>
                      <a:srgbClr val="FFFF00"/>
                    </a:solidFill>
                  </a:rPr>
                  <a:t>reverse reaction</a:t>
                </a:r>
              </a:p>
              <a:p>
                <a:r>
                  <a:rPr lang="en-US" dirty="0"/>
                  <a:t>An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equilibrium</a:t>
                </a:r>
                <a:r>
                  <a:rPr lang="en-US" dirty="0"/>
                  <a:t> is reached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0E291-FA40-9CC8-12A3-682F11E344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533" y="1149292"/>
                <a:ext cx="8387645" cy="5398263"/>
              </a:xfrm>
              <a:blipFill>
                <a:blip r:embed="rId2"/>
                <a:stretch>
                  <a:fillRect l="-1090" r="-363" b="-39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79001A72-02F5-1BB4-2282-814894DA25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26965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1317A-F16B-F457-91C8-127D56890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0BF20B-72DE-62B2-2F55-FB3629412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Acids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49E3366-89EC-998E-35DA-36646B0C7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49292"/>
            <a:ext cx="8387645" cy="5398263"/>
          </a:xfrm>
        </p:spPr>
        <p:txBody>
          <a:bodyPr/>
          <a:lstStyle/>
          <a:p>
            <a:r>
              <a:rPr lang="en-US" dirty="0"/>
              <a:t>Foods</a:t>
            </a:r>
          </a:p>
          <a:p>
            <a:pPr lvl="1"/>
            <a:r>
              <a:rPr lang="en-US" dirty="0"/>
              <a:t>Citrus: oranges, lemons</a:t>
            </a:r>
          </a:p>
          <a:p>
            <a:r>
              <a:rPr lang="en-US" dirty="0"/>
              <a:t>Compounds: citric acid,</a:t>
            </a:r>
            <a:br>
              <a:rPr lang="en-US" dirty="0"/>
            </a:br>
            <a:r>
              <a:rPr lang="en-US" sz="2000" dirty="0"/>
              <a:t>L</a:t>
            </a:r>
            <a:r>
              <a:rPr lang="en-US" dirty="0"/>
              <a:t>-ascorbic acid (Vitamin C),</a:t>
            </a:r>
            <a:br>
              <a:rPr lang="en-US" dirty="0"/>
            </a:br>
            <a:r>
              <a:rPr lang="en-US" dirty="0"/>
              <a:t>phosphoric acid (soft drinks),</a:t>
            </a:r>
            <a:br>
              <a:rPr lang="en-US" dirty="0"/>
            </a:br>
            <a:r>
              <a:rPr lang="en-US" dirty="0"/>
              <a:t>acetic acid (vinegar),</a:t>
            </a:r>
            <a:br>
              <a:rPr lang="en-US" dirty="0"/>
            </a:br>
            <a:r>
              <a:rPr lang="en-US" dirty="0"/>
              <a:t>hydrochloric acid (stomach acid)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B3EE6D0-634A-1FFA-18D4-5BCB30DCC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751" y="342150"/>
            <a:ext cx="3179427" cy="177913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521A94D-6B13-EF1A-C6F2-6A9F939DE5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286" y="4350869"/>
            <a:ext cx="3380147" cy="195135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479CD49-1085-8A46-B7A1-8CA32234C7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1273" y="4128900"/>
            <a:ext cx="4283650" cy="2284292"/>
          </a:xfrm>
          <a:prstGeom prst="rect">
            <a:avLst/>
          </a:prstGeom>
        </p:spPr>
      </p:pic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17A660DC-80CC-F114-AED6-B93F810C50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4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46486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B6082-D0D5-C2DC-66A2-74E77D35F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C77FA45-0FE9-922B-930D-267D42C81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Acids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6EEC0E0-2190-A598-7B9E-C2D488D1B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49292"/>
            <a:ext cx="8387645" cy="5398263"/>
          </a:xfrm>
        </p:spPr>
        <p:txBody>
          <a:bodyPr/>
          <a:lstStyle/>
          <a:p>
            <a:r>
              <a:rPr lang="en-US" dirty="0"/>
              <a:t>The protic kind of acids release </a:t>
            </a:r>
            <a:r>
              <a:rPr lang="en-US" dirty="0">
                <a:solidFill>
                  <a:srgbClr val="00FF00"/>
                </a:solidFill>
              </a:rPr>
              <a:t>hydrogen ions </a:t>
            </a:r>
            <a:r>
              <a:rPr lang="en-US" dirty="0"/>
              <a:t>(H</a:t>
            </a:r>
            <a:r>
              <a:rPr lang="en-US" baseline="30000" dirty="0"/>
              <a:t>+</a:t>
            </a:r>
            <a:r>
              <a:rPr lang="en-US" dirty="0"/>
              <a:t>)</a:t>
            </a:r>
          </a:p>
          <a:p>
            <a:r>
              <a:rPr lang="en-US" dirty="0">
                <a:solidFill>
                  <a:srgbClr val="FFFF00"/>
                </a:solidFill>
              </a:rPr>
              <a:t>Hydrogen ions </a:t>
            </a:r>
            <a:r>
              <a:rPr lang="en-US" dirty="0"/>
              <a:t>are actually 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protons</a:t>
            </a:r>
            <a:r>
              <a:rPr lang="en-US" dirty="0"/>
              <a:t>, so you will hear the word </a:t>
            </a:r>
            <a:r>
              <a:rPr lang="en-US" dirty="0">
                <a:solidFill>
                  <a:srgbClr val="FFFF00"/>
                </a:solidFill>
              </a:rPr>
              <a:t>proton</a:t>
            </a:r>
            <a:r>
              <a:rPr lang="en-US" dirty="0"/>
              <a:t> used in reference to acids</a:t>
            </a:r>
          </a:p>
          <a:p>
            <a:r>
              <a:rPr lang="en-US" dirty="0"/>
              <a:t>Acids are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electrolytes</a:t>
            </a:r>
            <a:r>
              <a:rPr lang="en-US" dirty="0"/>
              <a:t>: conduct electrical current</a:t>
            </a: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Strong acids</a:t>
            </a:r>
            <a:r>
              <a:rPr lang="en-US" dirty="0"/>
              <a:t>: (nearly) complete (100%) ionization</a:t>
            </a: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Weak acids</a:t>
            </a:r>
            <a:r>
              <a:rPr lang="en-US" dirty="0"/>
              <a:t>: moderately weak 10-99% ionization</a:t>
            </a: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Very weak acids</a:t>
            </a:r>
            <a:r>
              <a:rPr lang="en-US" dirty="0"/>
              <a:t>: &lt; 10% ionization</a:t>
            </a:r>
          </a:p>
          <a:p>
            <a:r>
              <a:rPr lang="en-US" dirty="0"/>
              <a:t>Sour taste</a:t>
            </a:r>
          </a:p>
          <a:p>
            <a:r>
              <a:rPr lang="en-US" dirty="0">
                <a:solidFill>
                  <a:srgbClr val="FFFF00"/>
                </a:solidFill>
              </a:rPr>
              <a:t>Blue litmus </a:t>
            </a:r>
            <a:r>
              <a:rPr lang="en-US" dirty="0">
                <a:sym typeface="Wingdings" panose="05000000000000000000" pitchFamily="2" charset="2"/>
              </a:rPr>
              <a:t> red, 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phenolphthalein</a:t>
            </a:r>
            <a:r>
              <a:rPr lang="en-US" dirty="0">
                <a:sym typeface="Wingdings" panose="05000000000000000000" pitchFamily="2" charset="2"/>
              </a:rPr>
              <a:t>  colorless</a:t>
            </a:r>
          </a:p>
          <a:p>
            <a:r>
              <a:rPr lang="en-US" dirty="0"/>
              <a:t>React with active metals </a:t>
            </a:r>
            <a:r>
              <a:rPr lang="en-US" dirty="0">
                <a:sym typeface="Wingdings" panose="05000000000000000000" pitchFamily="2" charset="2"/>
              </a:rPr>
              <a:t> hydrogen gas (H</a:t>
            </a:r>
            <a:r>
              <a:rPr lang="en-US" baseline="-25000" dirty="0">
                <a:sym typeface="Wingdings" panose="05000000000000000000" pitchFamily="2" charset="2"/>
              </a:rPr>
              <a:t>2</a:t>
            </a:r>
            <a:r>
              <a:rPr lang="en-US" dirty="0">
                <a:sym typeface="Wingdings" panose="05000000000000000000" pitchFamily="2" charset="2"/>
              </a:rPr>
              <a:t>)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Neutralization</a:t>
            </a:r>
            <a:r>
              <a:rPr lang="en-US" dirty="0">
                <a:sym typeface="Wingdings" panose="05000000000000000000" pitchFamily="2" charset="2"/>
              </a:rPr>
              <a:t>: react with bases  salt + water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F42616-BF41-2026-77B4-77342012DD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5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9673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74764-ED57-6BE5-7EFC-0A533C5B3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03EB0F3-8E7C-E32A-F0F3-D02703FB4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endParaRPr lang="en-US" sz="4000" dirty="0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0D20BB78-1F6A-E6AB-3321-E06323F798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58421" y="576903"/>
            <a:ext cx="8317106" cy="5849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EDEBA8-3B42-6E18-34B3-82AD7356DE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6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02794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0DA6E-C6D2-DBBF-7B81-DF0A81117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76462D9-419B-42CB-4D57-4B8E1033C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Specific Acids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70E365E-6BC0-57A2-A898-EEC37AEB0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>
                <a:solidFill>
                  <a:srgbClr val="00FF00"/>
                </a:solidFill>
              </a:rPr>
              <a:t>Hydrochloric acid (HCl)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</a:rPr>
              <a:t>HCl (</a:t>
            </a:r>
            <a:r>
              <a:rPr lang="en-US" i="1" dirty="0">
                <a:solidFill>
                  <a:srgbClr val="FFC000"/>
                </a:solidFill>
              </a:rPr>
              <a:t>g</a:t>
            </a:r>
            <a:r>
              <a:rPr lang="en-US" dirty="0">
                <a:solidFill>
                  <a:srgbClr val="FFC000"/>
                </a:solidFill>
              </a:rPr>
              <a:t>) + H</a:t>
            </a:r>
            <a:r>
              <a:rPr lang="en-US" baseline="-25000" dirty="0">
                <a:solidFill>
                  <a:srgbClr val="FFC000"/>
                </a:solidFill>
              </a:rPr>
              <a:t>2</a:t>
            </a:r>
            <a:r>
              <a:rPr lang="en-US" dirty="0">
                <a:solidFill>
                  <a:srgbClr val="FFC000"/>
                </a:solidFill>
              </a:rPr>
              <a:t>O (</a:t>
            </a:r>
            <a:r>
              <a:rPr lang="en-US" i="1" dirty="0">
                <a:solidFill>
                  <a:srgbClr val="FFC000"/>
                </a:solidFill>
              </a:rPr>
              <a:t>l</a:t>
            </a:r>
            <a:r>
              <a:rPr lang="en-US" dirty="0">
                <a:solidFill>
                  <a:srgbClr val="FFC000"/>
                </a:solidFill>
              </a:rPr>
              <a:t>) 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 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3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O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+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Cl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–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</a:t>
            </a:r>
          </a:p>
          <a:p>
            <a:r>
              <a:rPr lang="en-US" dirty="0"/>
              <a:t>a STRONG acid</a:t>
            </a:r>
          </a:p>
          <a:p>
            <a:r>
              <a:rPr lang="en-US" dirty="0">
                <a:sym typeface="Wingdings" panose="05000000000000000000" pitchFamily="2" charset="2"/>
              </a:rPr>
              <a:t>Often used is titration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FF00"/>
                </a:solidFill>
                <a:sym typeface="Wingdings" panose="05000000000000000000" pitchFamily="2" charset="2"/>
              </a:rPr>
              <a:t>Sulfuric acid (H</a:t>
            </a:r>
            <a:r>
              <a:rPr lang="en-US" sz="2800" b="1" baseline="-25000" dirty="0">
                <a:solidFill>
                  <a:srgbClr val="00FF00"/>
                </a:solidFill>
                <a:sym typeface="Wingdings" panose="05000000000000000000" pitchFamily="2" charset="2"/>
              </a:rPr>
              <a:t>2</a:t>
            </a:r>
            <a:r>
              <a:rPr lang="en-US" sz="2800" b="1" dirty="0">
                <a:solidFill>
                  <a:srgbClr val="00FF00"/>
                </a:solidFill>
                <a:sym typeface="Wingdings" panose="05000000000000000000" pitchFamily="2" charset="2"/>
              </a:rPr>
              <a:t>SO</a:t>
            </a:r>
            <a:r>
              <a:rPr lang="en-US" sz="2800" b="1" baseline="-25000" dirty="0">
                <a:solidFill>
                  <a:srgbClr val="00FF00"/>
                </a:solidFill>
                <a:sym typeface="Wingdings" panose="05000000000000000000" pitchFamily="2" charset="2"/>
              </a:rPr>
              <a:t>4</a:t>
            </a:r>
            <a:r>
              <a:rPr lang="en-US" sz="2800" b="1" dirty="0">
                <a:solidFill>
                  <a:srgbClr val="00FF00"/>
                </a:solidFill>
                <a:sym typeface="Wingdings" panose="05000000000000000000" pitchFamily="2" charset="2"/>
              </a:rPr>
              <a:t>)</a:t>
            </a:r>
          </a:p>
          <a:p>
            <a:r>
              <a:rPr lang="en-US" dirty="0">
                <a:sym typeface="Wingdings" panose="05000000000000000000" pitchFamily="2" charset="2"/>
              </a:rPr>
              <a:t>another 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strong</a:t>
            </a:r>
            <a:r>
              <a:rPr lang="en-US" dirty="0">
                <a:sym typeface="Wingdings" panose="05000000000000000000" pitchFamily="2" charset="2"/>
              </a:rPr>
              <a:t> and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diprotic</a:t>
            </a:r>
            <a:r>
              <a:rPr lang="en-US" dirty="0">
                <a:sym typeface="Wingdings" panose="05000000000000000000" pitchFamily="2" charset="2"/>
              </a:rPr>
              <a:t> acid</a:t>
            </a:r>
          </a:p>
          <a:p>
            <a:r>
              <a:rPr lang="en-US" dirty="0">
                <a:sym typeface="Wingdings" panose="05000000000000000000" pitchFamily="2" charset="2"/>
              </a:rPr>
              <a:t>strongly dehydrating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Diprotic</a:t>
            </a:r>
            <a:r>
              <a:rPr lang="en-US" dirty="0">
                <a:sym typeface="Wingdings" panose="05000000000000000000" pitchFamily="2" charset="2"/>
              </a:rPr>
              <a:t> – releases two H+ ions in solvent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Monoprotic</a:t>
            </a:r>
            <a:r>
              <a:rPr lang="en-US" dirty="0">
                <a:sym typeface="Wingdings" panose="05000000000000000000" pitchFamily="2" charset="2"/>
              </a:rPr>
              <a:t> – releases one H+ ion in solvent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E531F-E7F7-692B-E31C-A8EA357891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7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5469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51887-795B-BDA8-0DAD-11BF93C9D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E86F9D-0E3D-6B26-815A-E01D5B1AE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98" y="180238"/>
            <a:ext cx="8421512" cy="707886"/>
          </a:xfrm>
        </p:spPr>
        <p:txBody>
          <a:bodyPr/>
          <a:lstStyle/>
          <a:p>
            <a:r>
              <a:rPr lang="en-US" sz="4000" dirty="0"/>
              <a:t>Specific Acids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73E7515-1F09-E913-D129-BABC03B9D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2" y="888124"/>
            <a:ext cx="8387645" cy="5215465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  <a:sym typeface="Wingdings" panose="05000000000000000000" pitchFamily="2" charset="2"/>
              </a:rPr>
              <a:t>Nitric acid (HNO</a:t>
            </a:r>
            <a:r>
              <a:rPr lang="en-US" b="1" baseline="-25000" dirty="0">
                <a:solidFill>
                  <a:srgbClr val="00FF00"/>
                </a:solidFill>
                <a:sym typeface="Wingdings" panose="05000000000000000000" pitchFamily="2" charset="2"/>
              </a:rPr>
              <a:t>3</a:t>
            </a:r>
            <a:r>
              <a:rPr lang="en-US" b="1" dirty="0">
                <a:solidFill>
                  <a:srgbClr val="00FF00"/>
                </a:solidFill>
                <a:sym typeface="Wingdings" panose="05000000000000000000" pitchFamily="2" charset="2"/>
              </a:rPr>
              <a:t>)</a:t>
            </a:r>
          </a:p>
          <a:p>
            <a:r>
              <a:rPr lang="en-US" dirty="0">
                <a:sym typeface="Wingdings" panose="05000000000000000000" pitchFamily="2" charset="2"/>
              </a:rPr>
              <a:t>Production: </a:t>
            </a:r>
            <a:r>
              <a:rPr lang="en-US" sz="2000" dirty="0">
                <a:solidFill>
                  <a:srgbClr val="FFC000"/>
                </a:solidFill>
                <a:sym typeface="Wingdings" panose="05000000000000000000" pitchFamily="2" charset="2"/>
              </a:rPr>
              <a:t>3 NO</a:t>
            </a:r>
            <a:r>
              <a:rPr lang="en-US" sz="2000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sz="2000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sz="2000" i="1" dirty="0">
                <a:solidFill>
                  <a:srgbClr val="FFC000"/>
                </a:solidFill>
                <a:sym typeface="Wingdings" panose="05000000000000000000" pitchFamily="2" charset="2"/>
              </a:rPr>
              <a:t>g</a:t>
            </a:r>
            <a:r>
              <a:rPr lang="en-US" sz="2000" dirty="0">
                <a:solidFill>
                  <a:srgbClr val="FFC000"/>
                </a:solidFill>
                <a:sym typeface="Wingdings" panose="05000000000000000000" pitchFamily="2" charset="2"/>
              </a:rPr>
              <a:t>) + H</a:t>
            </a:r>
            <a:r>
              <a:rPr lang="en-US" sz="2000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sz="2000" dirty="0">
                <a:solidFill>
                  <a:srgbClr val="FFC000"/>
                </a:solidFill>
                <a:sym typeface="Wingdings" panose="05000000000000000000" pitchFamily="2" charset="2"/>
              </a:rPr>
              <a:t>O (</a:t>
            </a:r>
            <a:r>
              <a:rPr lang="en-US" sz="2000" i="1" dirty="0">
                <a:solidFill>
                  <a:srgbClr val="FFC000"/>
                </a:solidFill>
                <a:sym typeface="Wingdings" panose="05000000000000000000" pitchFamily="2" charset="2"/>
              </a:rPr>
              <a:t>l</a:t>
            </a:r>
            <a:r>
              <a:rPr lang="en-US" sz="2000" dirty="0">
                <a:solidFill>
                  <a:srgbClr val="FFC000"/>
                </a:solidFill>
                <a:sym typeface="Wingdings" panose="05000000000000000000" pitchFamily="2" charset="2"/>
              </a:rPr>
              <a:t>)  2 HNO</a:t>
            </a:r>
            <a:r>
              <a:rPr lang="en-US" sz="2000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3</a:t>
            </a:r>
            <a:r>
              <a:rPr lang="en-US" sz="2000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sz="2000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sz="2000" dirty="0">
                <a:solidFill>
                  <a:srgbClr val="FFC000"/>
                </a:solidFill>
                <a:sym typeface="Wingdings" panose="05000000000000000000" pitchFamily="2" charset="2"/>
              </a:rPr>
              <a:t>) + NO (g)</a:t>
            </a:r>
            <a:endParaRPr lang="en-US" dirty="0">
              <a:solidFill>
                <a:srgbClr val="FFC000"/>
              </a:solidFill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strong corrosive mineral acid</a:t>
            </a:r>
          </a:p>
          <a:p>
            <a:r>
              <a:rPr lang="en-US" dirty="0">
                <a:sym typeface="Wingdings" panose="05000000000000000000" pitchFamily="2" charset="2"/>
              </a:rPr>
              <a:t>Reactive with metals Mn, Mg, Zn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metal + 2 HNO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3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 metal(NO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3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+ 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(g)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Carbonic acid (H</a:t>
            </a:r>
            <a:r>
              <a:rPr lang="en-US" b="1" baseline="-25000" dirty="0">
                <a:solidFill>
                  <a:srgbClr val="00FF00"/>
                </a:solidFill>
              </a:rPr>
              <a:t>2</a:t>
            </a:r>
            <a:r>
              <a:rPr lang="en-US" b="1" dirty="0">
                <a:solidFill>
                  <a:srgbClr val="00FF00"/>
                </a:solidFill>
              </a:rPr>
              <a:t>CO</a:t>
            </a:r>
            <a:r>
              <a:rPr lang="en-US" b="1" baseline="-25000" dirty="0">
                <a:solidFill>
                  <a:srgbClr val="00FF00"/>
                </a:solidFill>
              </a:rPr>
              <a:t>3</a:t>
            </a:r>
            <a:r>
              <a:rPr lang="en-US" b="1" dirty="0">
                <a:solidFill>
                  <a:srgbClr val="00FF00"/>
                </a:solidFill>
              </a:rPr>
              <a:t>)</a:t>
            </a:r>
          </a:p>
          <a:p>
            <a:r>
              <a:rPr lang="en-US" dirty="0"/>
              <a:t>a weak </a:t>
            </a:r>
            <a:r>
              <a:rPr lang="en-US" dirty="0">
                <a:solidFill>
                  <a:srgbClr val="FFFF00"/>
                </a:solidFill>
              </a:rPr>
              <a:t>diprotic</a:t>
            </a:r>
            <a:r>
              <a:rPr lang="en-US" dirty="0"/>
              <a:t> acid that can</a:t>
            </a:r>
            <a:br>
              <a:rPr lang="en-US" dirty="0"/>
            </a:br>
            <a:r>
              <a:rPr lang="en-US" dirty="0"/>
              <a:t>form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carbonates</a:t>
            </a:r>
            <a:r>
              <a:rPr lang="en-US" dirty="0"/>
              <a:t> (</a:t>
            </a:r>
            <a:r>
              <a:rPr lang="en-US" dirty="0">
                <a:solidFill>
                  <a:srgbClr val="FFC000"/>
                </a:solidFill>
              </a:rPr>
              <a:t>CO</a:t>
            </a:r>
            <a:r>
              <a:rPr lang="en-US" baseline="-25000" dirty="0">
                <a:solidFill>
                  <a:srgbClr val="FFC000"/>
                </a:solidFill>
              </a:rPr>
              <a:t>3</a:t>
            </a:r>
            <a:r>
              <a:rPr lang="en-US" baseline="30000" dirty="0">
                <a:solidFill>
                  <a:srgbClr val="FFC000"/>
                </a:solidFill>
              </a:rPr>
              <a:t>2–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and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bicarbonates</a:t>
            </a:r>
            <a:r>
              <a:rPr lang="en-US" dirty="0"/>
              <a:t> (</a:t>
            </a:r>
            <a:r>
              <a:rPr lang="en-US" dirty="0">
                <a:solidFill>
                  <a:srgbClr val="FFC000"/>
                </a:solidFill>
              </a:rPr>
              <a:t>HCO</a:t>
            </a:r>
            <a:r>
              <a:rPr lang="en-US" baseline="-25000" dirty="0">
                <a:solidFill>
                  <a:srgbClr val="FFC000"/>
                </a:solidFill>
              </a:rPr>
              <a:t>3</a:t>
            </a:r>
            <a:r>
              <a:rPr lang="en-US" baseline="30000" dirty="0">
                <a:solidFill>
                  <a:srgbClr val="FFC000"/>
                </a:solidFill>
              </a:rPr>
              <a:t>–</a:t>
            </a:r>
            <a:r>
              <a:rPr lang="en-US" dirty="0"/>
              <a:t>)</a:t>
            </a:r>
          </a:p>
          <a:p>
            <a:r>
              <a:rPr lang="en-US" dirty="0"/>
              <a:t>Found in carbonated</a:t>
            </a:r>
            <a:br>
              <a:rPr lang="en-US" dirty="0"/>
            </a:br>
            <a:r>
              <a:rPr lang="en-US" dirty="0"/>
              <a:t>beverages</a:t>
            </a:r>
          </a:p>
          <a:p>
            <a:r>
              <a:rPr lang="en-US" dirty="0"/>
              <a:t>Dissolves </a:t>
            </a:r>
            <a:r>
              <a:rPr lang="en-US" dirty="0">
                <a:solidFill>
                  <a:srgbClr val="FFFF00"/>
                </a:solidFill>
              </a:rPr>
              <a:t>limestone</a:t>
            </a:r>
            <a:br>
              <a:rPr lang="en-US" dirty="0"/>
            </a:br>
            <a:r>
              <a:rPr lang="en-US" dirty="0"/>
              <a:t>(to </a:t>
            </a:r>
            <a:r>
              <a:rPr lang="en-US" dirty="0">
                <a:solidFill>
                  <a:srgbClr val="FFC000"/>
                </a:solidFill>
              </a:rPr>
              <a:t>Ca(HCO</a:t>
            </a:r>
            <a:r>
              <a:rPr lang="en-US" baseline="-25000" dirty="0">
                <a:solidFill>
                  <a:srgbClr val="FFC000"/>
                </a:solidFill>
              </a:rPr>
              <a:t>3</a:t>
            </a:r>
            <a:r>
              <a:rPr lang="en-US" dirty="0">
                <a:solidFill>
                  <a:srgbClr val="FFC000"/>
                </a:solidFill>
              </a:rPr>
              <a:t>)</a:t>
            </a:r>
            <a:r>
              <a:rPr lang="en-US" baseline="-25000" dirty="0">
                <a:solidFill>
                  <a:srgbClr val="FFC000"/>
                </a:solidFill>
              </a:rPr>
              <a:t>2</a:t>
            </a:r>
            <a:r>
              <a:rPr lang="en-US" dirty="0"/>
              <a:t>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A6CF99E-ACD5-7410-C77B-9E122CD43E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6557" y="4062588"/>
            <a:ext cx="3953620" cy="2223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3C7BE9-0113-D031-E5CE-A7E770D8C8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8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51009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115B4-6B0F-E510-3E97-25CCA0FCB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69B690-886A-938D-9C58-36C595551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Specific Acids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58DEDBF-2B87-1924-55A8-65F043ED7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Formic acid (HCOOH)</a:t>
            </a:r>
          </a:p>
          <a:p>
            <a:r>
              <a:rPr lang="en-US" dirty="0"/>
              <a:t>simplest of carboxylic acids</a:t>
            </a:r>
          </a:p>
          <a:p>
            <a:r>
              <a:rPr lang="en-US" dirty="0"/>
              <a:t>an acid strongly associated with ants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Citric acid (C</a:t>
            </a:r>
            <a:r>
              <a:rPr lang="en-US" b="1" baseline="-25000" dirty="0">
                <a:solidFill>
                  <a:srgbClr val="00FF00"/>
                </a:solidFill>
              </a:rPr>
              <a:t>6</a:t>
            </a:r>
            <a:r>
              <a:rPr lang="en-US" b="1" dirty="0">
                <a:solidFill>
                  <a:srgbClr val="00FF00"/>
                </a:solidFill>
              </a:rPr>
              <a:t>H</a:t>
            </a:r>
            <a:r>
              <a:rPr lang="en-US" b="1" baseline="-25000" dirty="0">
                <a:solidFill>
                  <a:srgbClr val="00FF00"/>
                </a:solidFill>
              </a:rPr>
              <a:t>8</a:t>
            </a:r>
            <a:r>
              <a:rPr lang="en-US" b="1" dirty="0">
                <a:solidFill>
                  <a:srgbClr val="00FF00"/>
                </a:solidFill>
              </a:rPr>
              <a:t>O</a:t>
            </a:r>
            <a:r>
              <a:rPr lang="en-US" b="1" baseline="-25000" dirty="0">
                <a:solidFill>
                  <a:srgbClr val="00FF00"/>
                </a:solidFill>
              </a:rPr>
              <a:t>7</a:t>
            </a:r>
            <a:r>
              <a:rPr lang="en-US" b="1" dirty="0">
                <a:solidFill>
                  <a:srgbClr val="00FF00"/>
                </a:solidFill>
              </a:rPr>
              <a:t>)</a:t>
            </a:r>
          </a:p>
          <a:p>
            <a:r>
              <a:rPr lang="en-US" dirty="0"/>
              <a:t>weak tricarboxylic acid in citrus fruits</a:t>
            </a:r>
          </a:p>
          <a:p>
            <a:r>
              <a:rPr lang="en-US" dirty="0"/>
              <a:t>At the start of the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tricarboxylic acid cycle</a:t>
            </a:r>
            <a:r>
              <a:rPr lang="en-US" dirty="0"/>
              <a:t> (also called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Krebs cycle</a:t>
            </a:r>
            <a:r>
              <a:rPr lang="en-US" dirty="0"/>
              <a:t>, and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citric acid cycle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Acetylsalicylic acid (aspirin)</a:t>
            </a:r>
          </a:p>
          <a:p>
            <a:r>
              <a:rPr lang="en-US" dirty="0"/>
              <a:t>effective anti-inflammatory agent (fever, pain)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7F2CF2-5BF9-A26B-01BB-1F71D0B474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9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68849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F73F2-6F21-7A44-CD7D-56995035B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61BA2C-6D15-6501-AF37-A8127C08E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Bases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9F3E440-72AF-C194-1B28-6F608565A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177" y="1153664"/>
            <a:ext cx="8387645" cy="5398263"/>
          </a:xfrm>
        </p:spPr>
        <p:txBody>
          <a:bodyPr/>
          <a:lstStyle/>
          <a:p>
            <a:r>
              <a:rPr lang="en-US" dirty="0"/>
              <a:t>Bases often generate </a:t>
            </a:r>
            <a:r>
              <a:rPr lang="en-US" dirty="0">
                <a:solidFill>
                  <a:srgbClr val="00FF00"/>
                </a:solidFill>
              </a:rPr>
              <a:t>hydroxyl ions </a:t>
            </a:r>
            <a:r>
              <a:rPr lang="en-US" dirty="0"/>
              <a:t>(OH</a:t>
            </a:r>
            <a:r>
              <a:rPr lang="en-US" baseline="30000" dirty="0"/>
              <a:t>–</a:t>
            </a:r>
            <a:r>
              <a:rPr lang="en-US" dirty="0"/>
              <a:t>)</a:t>
            </a:r>
          </a:p>
          <a:p>
            <a:r>
              <a:rPr lang="en-US" dirty="0"/>
              <a:t>Like acids, they are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electrolytes</a:t>
            </a:r>
            <a:endParaRPr lang="en-US" dirty="0"/>
          </a:p>
          <a:p>
            <a:r>
              <a:rPr lang="en-US" dirty="0"/>
              <a:t>There are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Strong</a:t>
            </a:r>
            <a:r>
              <a:rPr lang="en-US" dirty="0"/>
              <a:t> and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Weak</a:t>
            </a:r>
            <a:r>
              <a:rPr lang="en-US" dirty="0"/>
              <a:t> bases</a:t>
            </a:r>
          </a:p>
          <a:p>
            <a:r>
              <a:rPr lang="en-US" dirty="0"/>
              <a:t>Usually have a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bitter</a:t>
            </a:r>
            <a:r>
              <a:rPr lang="en-US" dirty="0"/>
              <a:t> taste, not typical in foods</a:t>
            </a:r>
          </a:p>
          <a:p>
            <a:r>
              <a:rPr lang="en-US" dirty="0">
                <a:solidFill>
                  <a:srgbClr val="FFFF00"/>
                </a:solidFill>
              </a:rPr>
              <a:t>Red litmus </a:t>
            </a:r>
            <a:r>
              <a:rPr lang="en-US" dirty="0">
                <a:sym typeface="Wingdings" panose="05000000000000000000" pitchFamily="2" charset="2"/>
              </a:rPr>
              <a:t> blue, 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phenolphthalein</a:t>
            </a:r>
            <a:r>
              <a:rPr lang="en-US" dirty="0">
                <a:sym typeface="Wingdings" panose="05000000000000000000" pitchFamily="2" charset="2"/>
              </a:rPr>
              <a:t>  pink</a:t>
            </a:r>
          </a:p>
          <a:p>
            <a:r>
              <a:rPr lang="en-US" dirty="0"/>
              <a:t>Not reactive with metals </a:t>
            </a:r>
            <a:r>
              <a:rPr lang="en-US" dirty="0">
                <a:sym typeface="Wingdings" panose="05000000000000000000" pitchFamily="2" charset="2"/>
              </a:rPr>
              <a:t>like acids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Neutralization</a:t>
            </a:r>
            <a:r>
              <a:rPr lang="en-US" dirty="0">
                <a:sym typeface="Wingdings" panose="05000000000000000000" pitchFamily="2" charset="2"/>
              </a:rPr>
              <a:t>: react with acids  salt + water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D1851C-9A49-FC08-2ED3-9AAA6130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10</a:t>
            </a:fld>
            <a:endParaRPr lang="en-US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123FFA-51B0-5B4B-EB52-8BDCFAC35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49" y="4499887"/>
            <a:ext cx="3343659" cy="16486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7DCFA6-A5DC-5E14-EC7A-778F6A1D9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8423" y="4360969"/>
            <a:ext cx="3343659" cy="2230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067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4079E-7516-18D5-E040-16F274EFA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05E02B-8B3E-D5A2-D0A1-C717CDC26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endParaRPr lang="en-US" sz="40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EF6C2FE-40E4-D4C8-24B3-560753CC6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31CA5A-8D2B-D5A3-29D8-9F7792A6D7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11</a:t>
            </a:fld>
            <a:endParaRPr 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F29611-0B61-1D79-A09F-32BDD8BB9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22" y="1332090"/>
            <a:ext cx="8145012" cy="498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098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54633-8AEA-A44E-C0F4-BC4975D9A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CECC99-17FA-B4DD-7E0C-47FFE550F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Specific Bases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455B05E-ED0D-5F82-0718-AF5413150D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>
                <a:solidFill>
                  <a:srgbClr val="00FF00"/>
                </a:solidFill>
              </a:rPr>
              <a:t>Sodium Hydroxide (NaOH)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</a:rPr>
              <a:t>NaOH (</a:t>
            </a:r>
            <a:r>
              <a:rPr lang="en-US" i="1" dirty="0">
                <a:solidFill>
                  <a:srgbClr val="FFC000"/>
                </a:solidFill>
              </a:rPr>
              <a:t>s</a:t>
            </a:r>
            <a:r>
              <a:rPr lang="en-US" dirty="0">
                <a:solidFill>
                  <a:srgbClr val="FFC000"/>
                </a:solidFill>
              </a:rPr>
              <a:t>) 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 Na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+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OH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–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</a:t>
            </a:r>
          </a:p>
          <a:p>
            <a:r>
              <a:rPr lang="en-US" dirty="0"/>
              <a:t>a STRONG base: called lye and caustic soda</a:t>
            </a:r>
          </a:p>
          <a:p>
            <a:r>
              <a:rPr lang="en-US" dirty="0"/>
              <a:t>Dissolution quite exothermic (heat-releasing)</a:t>
            </a:r>
          </a:p>
          <a:p>
            <a:r>
              <a:rPr lang="en-US" dirty="0">
                <a:sym typeface="Wingdings" panose="05000000000000000000" pitchFamily="2" charset="2"/>
              </a:rPr>
              <a:t>Often used is titration; feels slippery to skin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FF00"/>
                </a:solidFill>
                <a:sym typeface="Wingdings" panose="05000000000000000000" pitchFamily="2" charset="2"/>
              </a:rPr>
              <a:t>Potassium Hydroxide (KOH)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</a:rPr>
              <a:t>KOH (</a:t>
            </a:r>
            <a:r>
              <a:rPr lang="en-US" i="1" dirty="0">
                <a:solidFill>
                  <a:srgbClr val="FFC000"/>
                </a:solidFill>
              </a:rPr>
              <a:t>s</a:t>
            </a:r>
            <a:r>
              <a:rPr lang="en-US" dirty="0">
                <a:solidFill>
                  <a:srgbClr val="FFC000"/>
                </a:solidFill>
              </a:rPr>
              <a:t>) 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 K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+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OH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–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</a:t>
            </a:r>
          </a:p>
          <a:p>
            <a:r>
              <a:rPr lang="en-US" dirty="0">
                <a:sym typeface="Wingdings" panose="05000000000000000000" pitchFamily="2" charset="2"/>
              </a:rPr>
              <a:t>another 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strong</a:t>
            </a:r>
            <a:r>
              <a:rPr lang="en-US" dirty="0">
                <a:sym typeface="Wingdings" panose="05000000000000000000" pitchFamily="2" charset="2"/>
              </a:rPr>
              <a:t> base: caustic potash</a:t>
            </a:r>
          </a:p>
          <a:p>
            <a:r>
              <a:rPr lang="en-US" dirty="0">
                <a:sym typeface="Wingdings" panose="05000000000000000000" pitchFamily="2" charset="2"/>
              </a:rPr>
              <a:t>Also exothermic on dissolution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1765D-4C36-4C8C-BC5A-B08AAD8136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12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715524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6DD00-1DAF-5455-D6EF-80302BD8B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FD3EC7-323F-1792-9E99-1F04849F4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Specific Bases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A22DE82-F54C-5085-E351-6C06CECDF1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>
                <a:solidFill>
                  <a:srgbClr val="00FF00"/>
                </a:solidFill>
              </a:rPr>
              <a:t>Magnesium Hydroxide [Mg(OH)</a:t>
            </a:r>
            <a:r>
              <a:rPr lang="en-US" sz="2800" b="1" baseline="-25000" dirty="0">
                <a:solidFill>
                  <a:srgbClr val="00FF00"/>
                </a:solidFill>
              </a:rPr>
              <a:t>2</a:t>
            </a:r>
            <a:r>
              <a:rPr lang="en-US" sz="2800" b="1" dirty="0">
                <a:solidFill>
                  <a:srgbClr val="00FF00"/>
                </a:solidFill>
              </a:rPr>
              <a:t>]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</a:rPr>
              <a:t>Mg(OH)</a:t>
            </a:r>
            <a:r>
              <a:rPr lang="en-US" baseline="-25000" dirty="0">
                <a:solidFill>
                  <a:srgbClr val="FFC000"/>
                </a:solidFill>
              </a:rPr>
              <a:t>2</a:t>
            </a:r>
            <a:r>
              <a:rPr lang="en-US" dirty="0">
                <a:solidFill>
                  <a:srgbClr val="FFC000"/>
                </a:solidFill>
              </a:rPr>
              <a:t> (</a:t>
            </a:r>
            <a:r>
              <a:rPr lang="en-US" i="1" dirty="0">
                <a:solidFill>
                  <a:srgbClr val="FFC000"/>
                </a:solidFill>
              </a:rPr>
              <a:t>s</a:t>
            </a:r>
            <a:r>
              <a:rPr lang="en-US" dirty="0">
                <a:solidFill>
                  <a:srgbClr val="FFC000"/>
                </a:solidFill>
              </a:rPr>
              <a:t>) 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 Mg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2+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+ 2 OH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–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</a:t>
            </a:r>
          </a:p>
          <a:p>
            <a:r>
              <a:rPr lang="en-US" dirty="0">
                <a:sym typeface="Wingdings" panose="05000000000000000000" pitchFamily="2" charset="2"/>
              </a:rPr>
              <a:t>Common in antacids and laxatives</a:t>
            </a:r>
          </a:p>
          <a:p>
            <a:r>
              <a:rPr lang="en-US" dirty="0">
                <a:sym typeface="Wingdings" panose="05000000000000000000" pitchFamily="2" charset="2"/>
              </a:rPr>
              <a:t>White solid with low aqueous solubility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FF00"/>
                </a:solidFill>
                <a:sym typeface="Wingdings" panose="05000000000000000000" pitchFamily="2" charset="2"/>
              </a:rPr>
              <a:t>Calcium Hydroxide [Ca(OH)</a:t>
            </a:r>
            <a:r>
              <a:rPr lang="en-US" sz="2800" b="1" baseline="-25000" dirty="0">
                <a:solidFill>
                  <a:srgbClr val="00FF00"/>
                </a:solidFill>
                <a:sym typeface="Wingdings" panose="05000000000000000000" pitchFamily="2" charset="2"/>
              </a:rPr>
              <a:t>2</a:t>
            </a:r>
            <a:r>
              <a:rPr lang="en-US" sz="2800" b="1" dirty="0">
                <a:solidFill>
                  <a:srgbClr val="00FF00"/>
                </a:solidFill>
                <a:sym typeface="Wingdings" panose="05000000000000000000" pitchFamily="2" charset="2"/>
              </a:rPr>
              <a:t>]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</a:rPr>
              <a:t>Ca(OH)</a:t>
            </a:r>
            <a:r>
              <a:rPr lang="en-US" baseline="-25000" dirty="0">
                <a:solidFill>
                  <a:srgbClr val="FFC000"/>
                </a:solidFill>
              </a:rPr>
              <a:t>2</a:t>
            </a:r>
            <a:r>
              <a:rPr lang="en-US" dirty="0">
                <a:solidFill>
                  <a:srgbClr val="FFC000"/>
                </a:solidFill>
              </a:rPr>
              <a:t> (</a:t>
            </a:r>
            <a:r>
              <a:rPr lang="en-US" i="1" dirty="0">
                <a:solidFill>
                  <a:srgbClr val="FFC000"/>
                </a:solidFill>
              </a:rPr>
              <a:t>s</a:t>
            </a:r>
            <a:r>
              <a:rPr lang="en-US" dirty="0">
                <a:solidFill>
                  <a:srgbClr val="FFC000"/>
                </a:solidFill>
              </a:rPr>
              <a:t>) 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 Ca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2+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+ 2 OH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–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</a:t>
            </a:r>
          </a:p>
          <a:p>
            <a:r>
              <a:rPr lang="en-US" dirty="0">
                <a:sym typeface="Wingdings" panose="05000000000000000000" pitchFamily="2" charset="2"/>
              </a:rPr>
              <a:t>“slaked lime” colorless crystal or white powder</a:t>
            </a:r>
          </a:p>
          <a:p>
            <a:r>
              <a:rPr lang="en-US" dirty="0">
                <a:sym typeface="Wingdings" panose="05000000000000000000" pitchFamily="2" charset="2"/>
              </a:rPr>
              <a:t>relatively insoluble in water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7433E-05A7-D4E2-ABB9-B6E3148CF9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13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78660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7D30C-3E61-6450-ACBC-1DFD6D46D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62B9B74-3A7D-C6AC-8FB6-B48B46A6B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Specific Bases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624ECB1F-6361-2386-3561-416EF6B5BE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800" b="1" dirty="0">
                    <a:solidFill>
                      <a:srgbClr val="00FF00"/>
                    </a:solidFill>
                  </a:rPr>
                  <a:t>Ammonia (NH</a:t>
                </a:r>
                <a:r>
                  <a:rPr lang="en-US" sz="2800" b="1" baseline="-25000" dirty="0">
                    <a:solidFill>
                      <a:srgbClr val="00FF00"/>
                    </a:solidFill>
                  </a:rPr>
                  <a:t>3</a:t>
                </a:r>
                <a:r>
                  <a:rPr lang="en-US" sz="2800" b="1" dirty="0">
                    <a:solidFill>
                      <a:srgbClr val="00FF00"/>
                    </a:solidFill>
                  </a:rPr>
                  <a:t>)</a:t>
                </a:r>
              </a:p>
              <a:p>
                <a:pPr marL="0" indent="0" algn="ctr">
                  <a:buNone/>
                </a:pPr>
                <a:r>
                  <a:rPr lang="en-US" dirty="0">
                    <a:solidFill>
                      <a:srgbClr val="FFC000"/>
                    </a:solidFill>
                  </a:rPr>
                  <a:t>NH3 (</a:t>
                </a:r>
                <a:r>
                  <a:rPr lang="en-US" i="1" dirty="0">
                    <a:solidFill>
                      <a:srgbClr val="FFC000"/>
                    </a:solidFill>
                  </a:rPr>
                  <a:t>g</a:t>
                </a:r>
                <a:r>
                  <a:rPr lang="en-US" dirty="0">
                    <a:solidFill>
                      <a:srgbClr val="FFC000"/>
                    </a:solidFill>
                  </a:rPr>
                  <a:t>) + H</a:t>
                </a:r>
                <a:r>
                  <a:rPr lang="en-US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dirty="0">
                    <a:solidFill>
                      <a:srgbClr val="FFC000"/>
                    </a:solidFill>
                  </a:rPr>
                  <a:t>O (</a:t>
                </a:r>
                <a:r>
                  <a:rPr lang="en-US" i="1" dirty="0">
                    <a:solidFill>
                      <a:srgbClr val="FFC000"/>
                    </a:solidFill>
                  </a:rPr>
                  <a:t>l</a:t>
                </a:r>
                <a:r>
                  <a:rPr lang="en-US" dirty="0">
                    <a:solidFill>
                      <a:srgbClr val="FFC000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NH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4</a:t>
                </a:r>
                <a:r>
                  <a:rPr lang="en-US" baseline="30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+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(</a:t>
                </a:r>
                <a:r>
                  <a:rPr lang="en-US" i="1" dirty="0" err="1">
                    <a:solidFill>
                      <a:srgbClr val="FFC000"/>
                    </a:solidFill>
                    <a:sym typeface="Wingdings" panose="05000000000000000000" pitchFamily="2" charset="2"/>
                  </a:rPr>
                  <a:t>aq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 + OH</a:t>
                </a:r>
                <a:r>
                  <a:rPr lang="en-US" baseline="30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–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(</a:t>
                </a:r>
                <a:r>
                  <a:rPr lang="en-US" i="1" dirty="0" err="1">
                    <a:solidFill>
                      <a:srgbClr val="FFC000"/>
                    </a:solidFill>
                    <a:sym typeface="Wingdings" panose="05000000000000000000" pitchFamily="2" charset="2"/>
                  </a:rPr>
                  <a:t>aq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</a:t>
                </a:r>
              </a:p>
              <a:p>
                <a:r>
                  <a:rPr lang="en-US" dirty="0"/>
                  <a:t>colorless gas with pungent smell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Many applications, including cleaning solutions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The “ammonia” sold in stores is really ammonium hydroxide (ammonia dissolved in water)</a:t>
                </a:r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624ECB1F-6361-2386-3561-416EF6B5BE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3" t="-12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D9F5F-968D-1365-7482-8EE2F86F5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14</a:t>
            </a:fld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FF6FA1-2F67-2DF0-325E-66A2B17EC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136" y="4080499"/>
            <a:ext cx="3305636" cy="234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6496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D655D-BE93-0831-8E2C-32FE15A09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C6DC01D-93BA-EC60-2B4B-750FB6F51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What Defines An Acid, A Base?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3887527-8CDB-F0E4-E6AC-4831D143B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35626"/>
            <a:ext cx="8387645" cy="5411929"/>
          </a:xfrm>
        </p:spPr>
        <p:txBody>
          <a:bodyPr/>
          <a:lstStyle/>
          <a:p>
            <a:pPr marL="0" indent="0">
              <a:buNone/>
            </a:pPr>
            <a:r>
              <a:rPr lang="en-US" sz="2800" b="1" i="1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Arrhenius Theory of Acids/Bases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1884: Arrhenius proposes acid increases H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 ions as hydronium (H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dirty="0">
                <a:sym typeface="Wingdings" panose="05000000000000000000" pitchFamily="2" charset="2"/>
              </a:rPr>
              <a:t>O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) ion concentration in aqueous solvent, base increase OH</a:t>
            </a:r>
            <a:r>
              <a:rPr lang="en-US" baseline="30000" dirty="0">
                <a:sym typeface="Wingdings" panose="05000000000000000000" pitchFamily="2" charset="2"/>
              </a:rPr>
              <a:t>–</a:t>
            </a:r>
            <a:r>
              <a:rPr lang="en-US" dirty="0">
                <a:sym typeface="Wingdings" panose="05000000000000000000" pitchFamily="2" charset="2"/>
              </a:rPr>
              <a:t> ions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HCl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O (</a:t>
            </a:r>
            <a:r>
              <a:rPr lang="en-US" i="1" dirty="0">
                <a:solidFill>
                  <a:srgbClr val="FFC000"/>
                </a:solidFill>
                <a:sym typeface="Wingdings" panose="05000000000000000000" pitchFamily="2" charset="2"/>
              </a:rPr>
              <a:t>l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 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3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O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+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Cl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–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NaOH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 Na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+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OH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–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i="1" dirty="0">
                <a:sym typeface="Wingdings" panose="05000000000000000000" pitchFamily="2" charset="2"/>
              </a:rPr>
              <a:t>Limitations</a:t>
            </a:r>
          </a:p>
          <a:p>
            <a:r>
              <a:rPr lang="en-US" sz="2200" dirty="0">
                <a:sym typeface="Wingdings" panose="05000000000000000000" pitchFamily="2" charset="2"/>
              </a:rPr>
              <a:t>Does not explain how ammonia NH</a:t>
            </a:r>
            <a:r>
              <a:rPr lang="en-US" sz="2200" baseline="-25000" dirty="0">
                <a:sym typeface="Wingdings" panose="05000000000000000000" pitchFamily="2" charset="2"/>
              </a:rPr>
              <a:t>3</a:t>
            </a:r>
            <a:r>
              <a:rPr lang="en-US" sz="2200" dirty="0">
                <a:sym typeface="Wingdings" panose="05000000000000000000" pitchFamily="2" charset="2"/>
              </a:rPr>
              <a:t> achieves this</a:t>
            </a:r>
          </a:p>
          <a:p>
            <a:r>
              <a:rPr lang="en-US" sz="2200" dirty="0">
                <a:sym typeface="Wingdings" panose="05000000000000000000" pitchFamily="2" charset="2"/>
              </a:rPr>
              <a:t>Does not explain alkalinity in non-aqueous solutions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4C92C-FEB1-F564-4159-40F4661565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15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68134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AF2A5-8573-81E4-F9FB-2C3788DEE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818E494-685D-BA8B-E22C-FB538C242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What Defines An Acid, A Base?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E30D571-2DD9-2B23-149B-9D9F8DDF5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35626"/>
            <a:ext cx="8387645" cy="5411929"/>
          </a:xfrm>
        </p:spPr>
        <p:txBody>
          <a:bodyPr/>
          <a:lstStyle/>
          <a:p>
            <a:pPr marL="0" indent="0">
              <a:buNone/>
            </a:pPr>
            <a:r>
              <a:rPr lang="en-US" sz="2800" b="1" i="1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Bronsted-Lowry Theory of Acids/Bases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1923: Dane Bronsted and Englishman Lowry propose an acid is a substance that donates a proton (H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) ion to a molecule and a base accepts a proton. This now explains ammonia as a base: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NH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3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O (</a:t>
            </a:r>
            <a:r>
              <a:rPr lang="en-US" i="1" dirty="0">
                <a:solidFill>
                  <a:srgbClr val="FFC000"/>
                </a:solidFill>
                <a:sym typeface="Wingdings" panose="05000000000000000000" pitchFamily="2" charset="2"/>
              </a:rPr>
              <a:t>l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 NH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4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+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OH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–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49AC2-0D19-44C1-01CA-1C20CCC864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16</a:t>
            </a:fld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882E6B-3F10-1AF0-4351-E53BA0083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329" y="3841590"/>
            <a:ext cx="5586972" cy="2639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1965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D4D39-A504-D519-38AE-90B6CD248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3E9526-2222-BC3D-6792-847C50B25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The Hydronium Ion (H</a:t>
            </a:r>
            <a:r>
              <a:rPr lang="en-US" sz="4000" baseline="-25000" dirty="0"/>
              <a:t>3</a:t>
            </a:r>
            <a:r>
              <a:rPr lang="en-US" sz="4000" dirty="0"/>
              <a:t>O</a:t>
            </a:r>
            <a:r>
              <a:rPr lang="en-US" sz="4000" baseline="30000" dirty="0"/>
              <a:t>+</a:t>
            </a:r>
            <a:r>
              <a:rPr lang="en-US" sz="4000" dirty="0"/>
              <a:t>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108CA7-D5E4-77FF-26E2-53D8CDFA0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35626"/>
            <a:ext cx="8387645" cy="5411929"/>
          </a:xfrm>
        </p:spPr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An acid can yield a hydrogen ion (H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), a proton, but that does move about alone in water</a:t>
            </a:r>
          </a:p>
          <a:p>
            <a:r>
              <a:rPr lang="en-US" dirty="0">
                <a:sym typeface="Wingdings" panose="05000000000000000000" pitchFamily="2" charset="2"/>
              </a:rPr>
              <a:t>HCl will ionize to H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 and Cl</a:t>
            </a:r>
            <a:r>
              <a:rPr lang="en-US" baseline="30000" dirty="0">
                <a:sym typeface="Wingdings" panose="05000000000000000000" pitchFamily="2" charset="2"/>
              </a:rPr>
              <a:t>–</a:t>
            </a:r>
            <a:r>
              <a:rPr lang="en-US" dirty="0">
                <a:sym typeface="Wingdings" panose="05000000000000000000" pitchFamily="2" charset="2"/>
              </a:rPr>
              <a:t> particularly in water (aqueous solution), but what really happens is that it transfers H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 (the proton) to H</a:t>
            </a:r>
            <a:r>
              <a:rPr lang="en-US" baseline="-25000" dirty="0">
                <a:sym typeface="Wingdings" panose="05000000000000000000" pitchFamily="2" charset="2"/>
              </a:rPr>
              <a:t>2</a:t>
            </a:r>
            <a:r>
              <a:rPr lang="en-US" dirty="0">
                <a:sym typeface="Wingdings" panose="05000000000000000000" pitchFamily="2" charset="2"/>
              </a:rPr>
              <a:t>O, which actually acts as a (weak) base (proton acceptor) </a:t>
            </a:r>
          </a:p>
          <a:p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106EC6-662C-93D1-D7F9-D865AAAB19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17</a:t>
            </a:fld>
            <a:endParaRPr 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503972-4C2B-2E8A-109C-1306FAE9E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199" y="3728374"/>
            <a:ext cx="6166387" cy="2731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5649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0443F-4D7D-54FB-33E2-869C4BC62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7259D23-39DE-0A4B-4168-7EE7E337D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Practice: Definitions of Acids/Bases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A1EA4EF-0818-CD8E-9681-A4DC058D6F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533" y="1135626"/>
                <a:ext cx="8387645" cy="541192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Aniline (C</a:t>
                </a:r>
                <a:r>
                  <a:rPr lang="en-US" baseline="-25000" dirty="0">
                    <a:sym typeface="Wingdings" panose="05000000000000000000" pitchFamily="2" charset="2"/>
                  </a:rPr>
                  <a:t>6</a:t>
                </a:r>
                <a:r>
                  <a:rPr lang="en-US" dirty="0">
                    <a:sym typeface="Wingdings" panose="05000000000000000000" pitchFamily="2" charset="2"/>
                  </a:rPr>
                  <a:t>H</a:t>
                </a:r>
                <a:r>
                  <a:rPr lang="en-US" baseline="-25000" dirty="0">
                    <a:sym typeface="Wingdings" panose="05000000000000000000" pitchFamily="2" charset="2"/>
                  </a:rPr>
                  <a:t>5</a:t>
                </a:r>
                <a:r>
                  <a:rPr lang="en-US" dirty="0">
                    <a:sym typeface="Wingdings" panose="05000000000000000000" pitchFamily="2" charset="2"/>
                  </a:rPr>
                  <a:t>NH</a:t>
                </a:r>
                <a:r>
                  <a:rPr lang="en-US" baseline="-25000" dirty="0"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ym typeface="Wingdings" panose="05000000000000000000" pitchFamily="2" charset="2"/>
                  </a:rPr>
                  <a:t>) soluble in water. Its nitrogen atom accepts H</a:t>
                </a:r>
                <a:r>
                  <a:rPr lang="en-US" baseline="30000" dirty="0">
                    <a:sym typeface="Wingdings" panose="05000000000000000000" pitchFamily="2" charset="2"/>
                  </a:rPr>
                  <a:t>+</a:t>
                </a:r>
                <a:r>
                  <a:rPr lang="en-US" dirty="0">
                    <a:sym typeface="Wingdings" panose="05000000000000000000" pitchFamily="2" charset="2"/>
                  </a:rPr>
                  <a:t> ion from a water molecule, as nitrogen in ammonia. What is the equation for reaction and what is the acid and what is the base?</a:t>
                </a:r>
              </a:p>
              <a:p>
                <a:pPr marL="0" indent="0" algn="ctr">
                  <a:buNone/>
                </a:pP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C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6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5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NH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(</a:t>
                </a:r>
                <a:r>
                  <a:rPr lang="en-US" i="1" dirty="0" err="1">
                    <a:solidFill>
                      <a:srgbClr val="FFC000"/>
                    </a:solidFill>
                    <a:sym typeface="Wingdings" panose="05000000000000000000" pitchFamily="2" charset="2"/>
                  </a:rPr>
                  <a:t>aq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 + 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O (</a:t>
                </a:r>
                <a:r>
                  <a:rPr lang="en-US" i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l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C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6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5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NH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baseline="30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+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(</a:t>
                </a:r>
                <a:r>
                  <a:rPr lang="en-US" i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aq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 + OH</a:t>
                </a:r>
                <a:r>
                  <a:rPr lang="en-US" baseline="30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–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(</a:t>
                </a:r>
                <a:r>
                  <a:rPr lang="en-US" i="1" dirty="0" err="1">
                    <a:solidFill>
                      <a:srgbClr val="FFC000"/>
                    </a:solidFill>
                    <a:sym typeface="Wingdings" panose="05000000000000000000" pitchFamily="2" charset="2"/>
                  </a:rPr>
                  <a:t>aq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Aniline is basically ammonia, which we know is a base, but with just one of the H atoms replaced with a benzyl function. So aniline is the base. It is reacting with water, which can</a:t>
                </a:r>
                <a:br>
                  <a:rPr lang="en-US" dirty="0">
                    <a:sym typeface="Wingdings" panose="05000000000000000000" pitchFamily="2" charset="2"/>
                  </a:rPr>
                </a:br>
                <a:r>
                  <a:rPr lang="en-US" dirty="0">
                    <a:sym typeface="Wingdings" panose="05000000000000000000" pitchFamily="2" charset="2"/>
                  </a:rPr>
                  <a:t>function as a very weak acid or</a:t>
                </a:r>
                <a:br>
                  <a:rPr lang="en-US" dirty="0">
                    <a:sym typeface="Wingdings" panose="05000000000000000000" pitchFamily="2" charset="2"/>
                  </a:rPr>
                </a:br>
                <a:r>
                  <a:rPr lang="en-US" dirty="0">
                    <a:sym typeface="Wingdings" panose="05000000000000000000" pitchFamily="2" charset="2"/>
                  </a:rPr>
                  <a:t>base. Note the products are an</a:t>
                </a:r>
                <a:br>
                  <a:rPr lang="en-US" dirty="0">
                    <a:sym typeface="Wingdings" panose="05000000000000000000" pitchFamily="2" charset="2"/>
                  </a:rPr>
                </a:br>
                <a:r>
                  <a:rPr lang="en-US" dirty="0" err="1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anilinium</a:t>
                </a:r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ion</a:t>
                </a:r>
                <a:r>
                  <a:rPr lang="en-US" dirty="0">
                    <a:sym typeface="Wingdings" panose="05000000000000000000" pitchFamily="2" charset="2"/>
                  </a:rPr>
                  <a:t> and a </a:t>
                </a:r>
                <a:r>
                  <a:rPr lang="en-US" dirty="0">
                    <a:solidFill>
                      <a:srgbClr val="FFFF00"/>
                    </a:solidFill>
                    <a:sym typeface="Wingdings" panose="05000000000000000000" pitchFamily="2" charset="2"/>
                  </a:rPr>
                  <a:t>hydroxyl</a:t>
                </a:r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:r>
                  <a:rPr lang="en-US" dirty="0">
                    <a:solidFill>
                      <a:srgbClr val="FFFF00"/>
                    </a:solidFill>
                    <a:sym typeface="Wingdings" panose="05000000000000000000" pitchFamily="2" charset="2"/>
                  </a:rPr>
                  <a:t>ion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A1EA4EF-0818-CD8E-9681-A4DC058D6F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533" y="1135626"/>
                <a:ext cx="8387645" cy="5411929"/>
              </a:xfrm>
              <a:blipFill>
                <a:blip r:embed="rId2"/>
                <a:stretch>
                  <a:fillRect l="-1090" t="-901" r="-1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A8BFB-6ECF-A513-7B53-EA9060BABC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18</a:t>
            </a:fld>
            <a:endParaRPr lang="en-US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84E4A74-5DC6-989C-BBB9-C6745ADA43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288" y="4279902"/>
            <a:ext cx="3090570" cy="190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0279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1CF35-4A86-9D03-2ACA-78006FC7E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9E83C3-1833-C611-D9C7-61B5BE30C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245178"/>
            <a:ext cx="8421512" cy="707886"/>
          </a:xfrm>
        </p:spPr>
        <p:txBody>
          <a:bodyPr/>
          <a:lstStyle/>
          <a:p>
            <a:r>
              <a:rPr lang="en-US" sz="4000" dirty="0"/>
              <a:t>Practice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9E30A2C-C62F-4888-59F5-772B2D03CB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533" y="1046174"/>
                <a:ext cx="8387645" cy="541192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>
                    <a:sym typeface="Wingdings" panose="05000000000000000000" pitchFamily="2" charset="2"/>
                  </a:rPr>
                  <a:t>What is the Bronsted-Lowry acid and base in the reaction?</a:t>
                </a:r>
              </a:p>
              <a:p>
                <a:pPr marL="0" indent="0" algn="ctr">
                  <a:buNone/>
                </a:pP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PO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4</a:t>
                </a:r>
                <a:r>
                  <a:rPr lang="en-US" baseline="30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–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(</a:t>
                </a:r>
                <a:r>
                  <a:rPr lang="en-US" i="1" dirty="0" err="1">
                    <a:solidFill>
                      <a:srgbClr val="FFC000"/>
                    </a:solidFill>
                    <a:sym typeface="Wingdings" panose="05000000000000000000" pitchFamily="2" charset="2"/>
                  </a:rPr>
                  <a:t>aq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 + 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O (</a:t>
                </a:r>
                <a:r>
                  <a:rPr lang="en-US" i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l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HPO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4</a:t>
                </a:r>
                <a:r>
                  <a:rPr lang="en-US" baseline="30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2–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(</a:t>
                </a:r>
                <a:r>
                  <a:rPr lang="en-US" i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aq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 + 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O</a:t>
                </a:r>
                <a:r>
                  <a:rPr lang="en-US" baseline="30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+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(</a:t>
                </a:r>
                <a:r>
                  <a:rPr lang="en-US" i="1" dirty="0" err="1">
                    <a:solidFill>
                      <a:srgbClr val="FFC000"/>
                    </a:solidFill>
                    <a:sym typeface="Wingdings" panose="05000000000000000000" pitchFamily="2" charset="2"/>
                  </a:rPr>
                  <a:t>aq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</a:t>
                </a:r>
              </a:p>
              <a:p>
                <a:r>
                  <a:rPr lang="en-US" sz="2000" dirty="0">
                    <a:sym typeface="Wingdings" panose="05000000000000000000" pitchFamily="2" charset="2"/>
                  </a:rPr>
                  <a:t>The acid is H</a:t>
                </a:r>
                <a:r>
                  <a:rPr lang="en-US" sz="2000" baseline="-25000" dirty="0">
                    <a:sym typeface="Wingdings" panose="05000000000000000000" pitchFamily="2" charset="2"/>
                  </a:rPr>
                  <a:t>2</a:t>
                </a:r>
                <a:r>
                  <a:rPr lang="en-US" sz="2000" dirty="0">
                    <a:sym typeface="Wingdings" panose="05000000000000000000" pitchFamily="2" charset="2"/>
                  </a:rPr>
                  <a:t>PO</a:t>
                </a:r>
                <a:r>
                  <a:rPr lang="en-US" sz="2000" baseline="-25000" dirty="0">
                    <a:sym typeface="Wingdings" panose="05000000000000000000" pitchFamily="2" charset="2"/>
                  </a:rPr>
                  <a:t>4</a:t>
                </a:r>
                <a:r>
                  <a:rPr lang="en-US" sz="2000" baseline="30000" dirty="0">
                    <a:sym typeface="Wingdings" panose="05000000000000000000" pitchFamily="2" charset="2"/>
                  </a:rPr>
                  <a:t>–</a:t>
                </a:r>
                <a:r>
                  <a:rPr lang="en-US" sz="2000" dirty="0">
                    <a:sym typeface="Wingdings" panose="05000000000000000000" pitchFamily="2" charset="2"/>
                  </a:rPr>
                  <a:t>,</a:t>
                </a:r>
                <a:r>
                  <a:rPr lang="en-US" sz="2000" baseline="30000" dirty="0">
                    <a:sym typeface="Wingdings" panose="05000000000000000000" pitchFamily="2" charset="2"/>
                  </a:rPr>
                  <a:t> </a:t>
                </a:r>
                <a:r>
                  <a:rPr lang="en-US" sz="2000" dirty="0">
                    <a:sym typeface="Wingdings" panose="05000000000000000000" pitchFamily="2" charset="2"/>
                  </a:rPr>
                  <a:t>as it is giving up or donating a proton (H</a:t>
                </a:r>
                <a:r>
                  <a:rPr lang="en-US" sz="2000" baseline="30000" dirty="0">
                    <a:sym typeface="Wingdings" panose="05000000000000000000" pitchFamily="2" charset="2"/>
                  </a:rPr>
                  <a:t>+</a:t>
                </a:r>
                <a:r>
                  <a:rPr lang="en-US" sz="2000" dirty="0">
                    <a:sym typeface="Wingdings" panose="05000000000000000000" pitchFamily="2" charset="2"/>
                  </a:rPr>
                  <a:t>). The base is H</a:t>
                </a:r>
                <a:r>
                  <a:rPr lang="en-US" sz="2000" baseline="-25000" dirty="0">
                    <a:sym typeface="Wingdings" panose="05000000000000000000" pitchFamily="2" charset="2"/>
                  </a:rPr>
                  <a:t>2</a:t>
                </a:r>
                <a:r>
                  <a:rPr lang="en-US" sz="2000" dirty="0">
                    <a:sym typeface="Wingdings" panose="05000000000000000000" pitchFamily="2" charset="2"/>
                  </a:rPr>
                  <a:t>O, as it is accepting a proton</a:t>
                </a:r>
              </a:p>
              <a:p>
                <a:endParaRPr lang="en-US" sz="2000" baseline="30000" dirty="0">
                  <a:sym typeface="Wingdings" panose="05000000000000000000" pitchFamily="2" charset="2"/>
                </a:endParaRPr>
              </a:p>
              <a:p>
                <a:endParaRPr lang="en-US" sz="2000" baseline="30000" dirty="0">
                  <a:sym typeface="Wingdings" panose="05000000000000000000" pitchFamily="2" charset="2"/>
                </a:endParaRPr>
              </a:p>
              <a:p>
                <a:r>
                  <a:rPr lang="en-US" sz="2200" dirty="0">
                    <a:sym typeface="Wingdings" panose="05000000000000000000" pitchFamily="2" charset="2"/>
                  </a:rPr>
                  <a:t>Of the compounds HCl, HPO</a:t>
                </a:r>
                <a:r>
                  <a:rPr lang="en-US" sz="2200" baseline="-25000" dirty="0">
                    <a:sym typeface="Wingdings" panose="05000000000000000000" pitchFamily="2" charset="2"/>
                  </a:rPr>
                  <a:t>4</a:t>
                </a:r>
                <a:r>
                  <a:rPr lang="en-US" sz="2200" baseline="30000" dirty="0">
                    <a:sym typeface="Wingdings" panose="05000000000000000000" pitchFamily="2" charset="2"/>
                  </a:rPr>
                  <a:t>2–</a:t>
                </a:r>
                <a:r>
                  <a:rPr lang="en-US" sz="2200" dirty="0">
                    <a:sym typeface="Wingdings" panose="05000000000000000000" pitchFamily="2" charset="2"/>
                  </a:rPr>
                  <a:t>, H</a:t>
                </a:r>
                <a:r>
                  <a:rPr lang="en-US" sz="2200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sz="2200" dirty="0">
                    <a:sym typeface="Wingdings" panose="05000000000000000000" pitchFamily="2" charset="2"/>
                  </a:rPr>
                  <a:t>PO</a:t>
                </a:r>
                <a:r>
                  <a:rPr lang="en-US" sz="2200" baseline="-25000" dirty="0">
                    <a:sym typeface="Wingdings" panose="05000000000000000000" pitchFamily="2" charset="2"/>
                  </a:rPr>
                  <a:t>4</a:t>
                </a:r>
                <a:r>
                  <a:rPr lang="en-US" sz="2200" dirty="0">
                    <a:sym typeface="Wingdings" panose="05000000000000000000" pitchFamily="2" charset="2"/>
                  </a:rPr>
                  <a:t>, NH</a:t>
                </a:r>
                <a:r>
                  <a:rPr lang="en-US" sz="2200" baseline="-25000" dirty="0">
                    <a:sym typeface="Wingdings" panose="05000000000000000000" pitchFamily="2" charset="2"/>
                  </a:rPr>
                  <a:t>4</a:t>
                </a:r>
                <a:r>
                  <a:rPr lang="en-US" sz="2200" baseline="30000" dirty="0">
                    <a:sym typeface="Wingdings" panose="05000000000000000000" pitchFamily="2" charset="2"/>
                  </a:rPr>
                  <a:t>+</a:t>
                </a:r>
                <a:r>
                  <a:rPr lang="en-US" sz="2200" dirty="0">
                    <a:sym typeface="Wingdings" panose="05000000000000000000" pitchFamily="2" charset="2"/>
                  </a:rPr>
                  <a:t>, and CH</a:t>
                </a:r>
                <a:r>
                  <a:rPr lang="en-US" sz="2200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sz="2200" dirty="0">
                    <a:sym typeface="Wingdings" panose="05000000000000000000" pitchFamily="2" charset="2"/>
                  </a:rPr>
                  <a:t>NH</a:t>
                </a:r>
                <a:r>
                  <a:rPr lang="en-US" sz="2200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sz="2200" baseline="30000" dirty="0">
                    <a:sym typeface="Wingdings" panose="05000000000000000000" pitchFamily="2" charset="2"/>
                  </a:rPr>
                  <a:t>+</a:t>
                </a:r>
                <a:r>
                  <a:rPr lang="en-US" sz="2200" dirty="0">
                    <a:sym typeface="Wingdings" panose="05000000000000000000" pitchFamily="2" charset="2"/>
                  </a:rPr>
                  <a:t>, which of these are a Bronsted-Lowry base?</a:t>
                </a:r>
              </a:p>
              <a:p>
                <a:pPr marL="0" indent="0">
                  <a:buNone/>
                </a:pPr>
                <a:r>
                  <a:rPr lang="en-US" sz="2200" dirty="0">
                    <a:solidFill>
                      <a:srgbClr val="FFFF00"/>
                    </a:solidFill>
                    <a:sym typeface="Wingdings" panose="05000000000000000000" pitchFamily="2" charset="2"/>
                  </a:rPr>
                  <a:t>HCl is strong acid, so it cannot donate a proton (H</a:t>
                </a:r>
                <a:r>
                  <a:rPr lang="en-US" sz="2200" baseline="30000" dirty="0">
                    <a:solidFill>
                      <a:srgbClr val="FFFF00"/>
                    </a:solidFill>
                    <a:sym typeface="Wingdings" panose="05000000000000000000" pitchFamily="2" charset="2"/>
                  </a:rPr>
                  <a:t>+</a:t>
                </a:r>
                <a:r>
                  <a:rPr lang="en-US" sz="2200" dirty="0">
                    <a:solidFill>
                      <a:srgbClr val="FFFF00"/>
                    </a:solidFill>
                    <a:sym typeface="Wingdings" panose="05000000000000000000" pitchFamily="2" charset="2"/>
                  </a:rPr>
                  <a:t>).</a:t>
                </a:r>
                <a:br>
                  <a:rPr lang="en-US" sz="2200" dirty="0">
                    <a:solidFill>
                      <a:srgbClr val="FFFF00"/>
                    </a:solidFill>
                    <a:sym typeface="Wingdings" panose="05000000000000000000" pitchFamily="2" charset="2"/>
                  </a:rPr>
                </a:br>
                <a:r>
                  <a:rPr lang="en-US" sz="2200" dirty="0">
                    <a:solidFill>
                      <a:srgbClr val="FFFF00"/>
                    </a:solidFill>
                    <a:sym typeface="Wingdings" panose="05000000000000000000" pitchFamily="2" charset="2"/>
                  </a:rPr>
                  <a:t>The others all can act as proton donors as well, as they are all weak acids </a:t>
                </a:r>
              </a:p>
              <a:p>
                <a:r>
                  <a:rPr lang="en-US" sz="2200" dirty="0">
                    <a:sym typeface="Wingdings" panose="05000000000000000000" pitchFamily="2" charset="2"/>
                  </a:rPr>
                  <a:t>There is one compound that can accept a proton. Which one?</a:t>
                </a:r>
              </a:p>
              <a:p>
                <a:pPr marL="0" indent="0">
                  <a:buNone/>
                </a:pPr>
                <a:r>
                  <a:rPr lang="en-US" sz="2200" dirty="0">
                    <a:solidFill>
                      <a:srgbClr val="FFFF00"/>
                    </a:solidFill>
                    <a:sym typeface="Wingdings" panose="05000000000000000000" pitchFamily="2" charset="2"/>
                  </a:rPr>
                  <a:t>HPO</a:t>
                </a:r>
                <a:r>
                  <a:rPr lang="en-US" sz="2200" baseline="-25000" dirty="0">
                    <a:solidFill>
                      <a:srgbClr val="FFFF00"/>
                    </a:solidFill>
                    <a:sym typeface="Wingdings" panose="05000000000000000000" pitchFamily="2" charset="2"/>
                  </a:rPr>
                  <a:t>4</a:t>
                </a:r>
                <a:r>
                  <a:rPr lang="en-US" sz="2200" baseline="30000" dirty="0">
                    <a:solidFill>
                      <a:srgbClr val="FFFF00"/>
                    </a:solidFill>
                    <a:sym typeface="Wingdings" panose="05000000000000000000" pitchFamily="2" charset="2"/>
                  </a:rPr>
                  <a:t>2–</a:t>
                </a:r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9E30A2C-C62F-4888-59F5-772B2D03CB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533" y="1046174"/>
                <a:ext cx="8387645" cy="5411929"/>
              </a:xfrm>
              <a:blipFill>
                <a:blip r:embed="rId2"/>
                <a:stretch>
                  <a:fillRect l="-945" t="-676" r="-16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99C4A7-9428-B70D-33CE-21C9A60058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19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27991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3D42C-D19E-D2CB-0F74-E9B1D7D3F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8E8628-6160-C626-805B-45ACEFEDE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245178"/>
            <a:ext cx="8421512" cy="707886"/>
          </a:xfrm>
        </p:spPr>
        <p:txBody>
          <a:bodyPr/>
          <a:lstStyle/>
          <a:p>
            <a:r>
              <a:rPr lang="en-US" sz="4000" dirty="0"/>
              <a:t>Conjugate Acid-Base Pair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7FAD72F-AB07-D72F-F468-AA89D4E027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074732"/>
            <a:ext cx="8387645" cy="5472824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rgbClr val="00FF00"/>
                </a:solidFill>
                <a:sym typeface="Wingdings" panose="05000000000000000000" pitchFamily="2" charset="2"/>
              </a:rPr>
              <a:t>conjugate</a:t>
            </a:r>
            <a:r>
              <a:rPr lang="en-US" sz="2000" dirty="0">
                <a:sym typeface="Wingdings" panose="05000000000000000000" pitchFamily="2" charset="2"/>
              </a:rPr>
              <a:t>: a substance formed by reversible combination of two or more others</a:t>
            </a:r>
          </a:p>
          <a:p>
            <a:r>
              <a:rPr lang="en-US" sz="2000" dirty="0">
                <a:sym typeface="Wingdings" panose="05000000000000000000" pitchFamily="2" charset="2"/>
              </a:rPr>
              <a:t>When ammonia NH</a:t>
            </a:r>
            <a:r>
              <a:rPr lang="en-US" sz="2000" baseline="-25000" dirty="0">
                <a:sym typeface="Wingdings" panose="05000000000000000000" pitchFamily="2" charset="2"/>
              </a:rPr>
              <a:t>3</a:t>
            </a:r>
            <a:r>
              <a:rPr lang="en-US" sz="2000" dirty="0">
                <a:sym typeface="Wingdings" panose="05000000000000000000" pitchFamily="2" charset="2"/>
              </a:rPr>
              <a:t> is dissolved in water, H</a:t>
            </a:r>
            <a:r>
              <a:rPr lang="en-US" sz="2000" baseline="-25000" dirty="0">
                <a:sym typeface="Wingdings" panose="05000000000000000000" pitchFamily="2" charset="2"/>
              </a:rPr>
              <a:t>2</a:t>
            </a:r>
            <a:r>
              <a:rPr lang="en-US" sz="2000" dirty="0">
                <a:sym typeface="Wingdings" panose="05000000000000000000" pitchFamily="2" charset="2"/>
              </a:rPr>
              <a:t>O will act as an acid in donating a proton the NH</a:t>
            </a:r>
            <a:r>
              <a:rPr lang="en-US" sz="2000" baseline="-25000" dirty="0">
                <a:sym typeface="Wingdings" panose="05000000000000000000" pitchFamily="2" charset="2"/>
              </a:rPr>
              <a:t>3</a:t>
            </a:r>
            <a:r>
              <a:rPr lang="en-US" sz="2000" dirty="0">
                <a:sym typeface="Wingdings" panose="05000000000000000000" pitchFamily="2" charset="2"/>
              </a:rPr>
              <a:t> acting as a base. This produces a conjugate base OH</a:t>
            </a:r>
            <a:r>
              <a:rPr lang="en-US" sz="2000" baseline="30000" dirty="0">
                <a:sym typeface="Wingdings" panose="05000000000000000000" pitchFamily="2" charset="2"/>
              </a:rPr>
              <a:t>–</a:t>
            </a:r>
            <a:r>
              <a:rPr lang="en-US" sz="2000" dirty="0">
                <a:sym typeface="Wingdings" panose="05000000000000000000" pitchFamily="2" charset="2"/>
              </a:rPr>
              <a:t> and a conjugate acid NH</a:t>
            </a:r>
            <a:r>
              <a:rPr lang="en-US" sz="2000" baseline="-25000" dirty="0">
                <a:sym typeface="Wingdings" panose="05000000000000000000" pitchFamily="2" charset="2"/>
              </a:rPr>
              <a:t>4</a:t>
            </a:r>
            <a:r>
              <a:rPr lang="en-US" sz="2000" baseline="30000" dirty="0">
                <a:sym typeface="Wingdings" panose="05000000000000000000" pitchFamily="2" charset="2"/>
              </a:rPr>
              <a:t>+</a:t>
            </a:r>
          </a:p>
          <a:p>
            <a:r>
              <a:rPr lang="en-US" sz="2000" dirty="0">
                <a:sym typeface="Wingdings" panose="05000000000000000000" pitchFamily="2" charset="2"/>
              </a:rPr>
              <a:t>The reverse reaction occurs as well, with NH</a:t>
            </a:r>
            <a:r>
              <a:rPr lang="en-US" sz="2000" baseline="-25000" dirty="0">
                <a:sym typeface="Wingdings" panose="05000000000000000000" pitchFamily="2" charset="2"/>
              </a:rPr>
              <a:t>4</a:t>
            </a:r>
            <a:r>
              <a:rPr lang="en-US" sz="2000" baseline="30000" dirty="0">
                <a:sym typeface="Wingdings" panose="05000000000000000000" pitchFamily="2" charset="2"/>
              </a:rPr>
              <a:t>+</a:t>
            </a:r>
            <a:r>
              <a:rPr lang="en-US" sz="2000" dirty="0">
                <a:sym typeface="Wingdings" panose="05000000000000000000" pitchFamily="2" charset="2"/>
              </a:rPr>
              <a:t> acting as an acid (proton donor) and OH</a:t>
            </a:r>
            <a:r>
              <a:rPr lang="en-US" sz="2000" baseline="30000" dirty="0">
                <a:sym typeface="Wingdings" panose="05000000000000000000" pitchFamily="2" charset="2"/>
              </a:rPr>
              <a:t>–</a:t>
            </a:r>
            <a:r>
              <a:rPr lang="en-US" sz="2000" dirty="0">
                <a:sym typeface="Wingdings" panose="05000000000000000000" pitchFamily="2" charset="2"/>
              </a:rPr>
              <a:t> acting as a base (proton acceptor). OH</a:t>
            </a:r>
            <a:r>
              <a:rPr lang="en-US" sz="2000" baseline="30000" dirty="0">
                <a:sym typeface="Wingdings" panose="05000000000000000000" pitchFamily="2" charset="2"/>
              </a:rPr>
              <a:t>–</a:t>
            </a:r>
            <a:r>
              <a:rPr lang="en-US" sz="2000" dirty="0">
                <a:sym typeface="Wingdings" panose="05000000000000000000" pitchFamily="2" charset="2"/>
              </a:rPr>
              <a:t> is in fact a very strong base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CCEC46-9182-11B6-7188-BFB74F82CE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20</a:t>
            </a:fld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676D81-C73F-6482-668C-1E98E8172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914" y="3816273"/>
            <a:ext cx="6199447" cy="2731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4469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8F6F0-534D-A540-888A-318DFF12D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9D87E6C-5D35-2FD6-A029-5845BDD40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67629"/>
            <a:ext cx="8421512" cy="584775"/>
          </a:xfrm>
        </p:spPr>
        <p:txBody>
          <a:bodyPr/>
          <a:lstStyle/>
          <a:p>
            <a:r>
              <a:rPr lang="en-US" sz="3200" dirty="0"/>
              <a:t>Acid-Base Reactions Forward and Reverse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476F187-B245-2AE7-CAC3-950C9A6A2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35626"/>
            <a:ext cx="8387645" cy="5411929"/>
          </a:xfrm>
        </p:spPr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Here’s another look at the NH3 in water reaction which shows how a proton (H+) bonds with a lone pair of electrons on the N atom, which is how these reactions usually occur</a:t>
            </a:r>
          </a:p>
          <a:p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4E7E1-207B-AD55-FA73-DDAEEDD737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21</a:t>
            </a:fld>
            <a:endParaRPr 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72ACDC-6653-C216-D868-21365624B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402" y="3135566"/>
            <a:ext cx="7563906" cy="322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2594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57094-D3C8-DAF4-692A-1D0AC5208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D55808E-A157-B9CB-9F74-C5787516F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4033" y="367629"/>
            <a:ext cx="5641546" cy="584775"/>
          </a:xfrm>
        </p:spPr>
        <p:txBody>
          <a:bodyPr/>
          <a:lstStyle/>
          <a:p>
            <a:r>
              <a:rPr lang="en-US" sz="3200" dirty="0"/>
              <a:t>Strengths of Conjugate Pairs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E466BE-D1B4-B190-F679-20A18CBF4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8632" y="1135626"/>
            <a:ext cx="5641546" cy="5411929"/>
          </a:xfrm>
        </p:spPr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The lists to the left show the known relative strengths of acids and bases. Note this list. Those compounds listed as weak make good buffers (to be discussed)</a:t>
            </a:r>
          </a:p>
          <a:p>
            <a:r>
              <a:rPr lang="en-US" dirty="0">
                <a:sym typeface="Wingdings" panose="05000000000000000000" pitchFamily="2" charset="2"/>
              </a:rPr>
              <a:t>Look at the left side and the right side: these are the conjugate bases and acids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FC0B7-4755-231A-3CFD-1AEF6FFF13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22</a:t>
            </a:fld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997135-DE63-FCBE-52B7-2D6877449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90" y="0"/>
            <a:ext cx="29028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2546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B84E1-5C59-ECAC-5AA1-B2243EC94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E68B1D-D2C4-5374-B36D-E98906E8D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Practice: Conjugate Acid-Base Pairs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92107AB-209D-AA99-FAC8-0E142244F7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533" y="1135626"/>
                <a:ext cx="8387645" cy="541192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What are the conjugate acid-base pairs in this equilibrium reaction?</a:t>
                </a:r>
              </a:p>
              <a:p>
                <a:pPr marL="0" indent="0" algn="ctr">
                  <a:buNone/>
                </a:pP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CH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COOH + 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O</a:t>
                </a:r>
                <a:r>
                  <a:rPr lang="en-US" baseline="30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+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+ CH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COO</a:t>
                </a:r>
                <a:r>
                  <a:rPr lang="en-US" baseline="30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–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What donates the proton?  CH</a:t>
                </a:r>
                <a:r>
                  <a:rPr lang="en-US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ym typeface="Wingdings" panose="05000000000000000000" pitchFamily="2" charset="2"/>
                  </a:rPr>
                  <a:t>COOH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What accepts the proton?  H</a:t>
                </a:r>
                <a:r>
                  <a:rPr lang="en-US" baseline="-25000" dirty="0"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ym typeface="Wingdings" panose="05000000000000000000" pitchFamily="2" charset="2"/>
                  </a:rPr>
                  <a:t>O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Reactant: </a:t>
                </a:r>
                <a:r>
                  <a:rPr lang="en-US" i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acid</a:t>
                </a:r>
                <a:r>
                  <a:rPr lang="en-US" dirty="0">
                    <a:sym typeface="Wingdings" panose="05000000000000000000" pitchFamily="2" charset="2"/>
                  </a:rPr>
                  <a:t> CH</a:t>
                </a:r>
                <a:r>
                  <a:rPr lang="en-US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ym typeface="Wingdings" panose="05000000000000000000" pitchFamily="2" charset="2"/>
                  </a:rPr>
                  <a:t>COOH  (acetic acid)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Reactant: </a:t>
                </a:r>
                <a:r>
                  <a:rPr lang="en-US" i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base</a:t>
                </a:r>
                <a:r>
                  <a:rPr lang="en-US" dirty="0">
                    <a:sym typeface="Wingdings" panose="05000000000000000000" pitchFamily="2" charset="2"/>
                  </a:rPr>
                  <a:t> H</a:t>
                </a:r>
                <a:r>
                  <a:rPr lang="en-US" baseline="-25000" dirty="0"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ym typeface="Wingdings" panose="05000000000000000000" pitchFamily="2" charset="2"/>
                  </a:rPr>
                  <a:t>O   (water)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Product: </a:t>
                </a:r>
                <a:r>
                  <a:rPr lang="en-US" i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conjugate base </a:t>
                </a:r>
                <a:r>
                  <a:rPr lang="en-US" dirty="0">
                    <a:sym typeface="Wingdings" panose="05000000000000000000" pitchFamily="2" charset="2"/>
                  </a:rPr>
                  <a:t> CH</a:t>
                </a:r>
                <a:r>
                  <a:rPr lang="en-US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ym typeface="Wingdings" panose="05000000000000000000" pitchFamily="2" charset="2"/>
                  </a:rPr>
                  <a:t>COO</a:t>
                </a:r>
                <a:r>
                  <a:rPr lang="en-US" baseline="30000" dirty="0">
                    <a:sym typeface="Wingdings" panose="05000000000000000000" pitchFamily="2" charset="2"/>
                  </a:rPr>
                  <a:t>–  </a:t>
                </a:r>
                <a:r>
                  <a:rPr lang="en-US" dirty="0">
                    <a:sym typeface="Wingdings" panose="05000000000000000000" pitchFamily="2" charset="2"/>
                  </a:rPr>
                  <a:t>(acetate)</a:t>
                </a:r>
                <a:endParaRPr lang="en-US" baseline="30000" dirty="0">
                  <a:sym typeface="Wingdings" panose="05000000000000000000" pitchFamily="2" charset="2"/>
                </a:endParaRPr>
              </a:p>
              <a:p>
                <a:r>
                  <a:rPr lang="en-US" dirty="0">
                    <a:sym typeface="Wingdings" panose="05000000000000000000" pitchFamily="2" charset="2"/>
                  </a:rPr>
                  <a:t>Product: </a:t>
                </a:r>
                <a:r>
                  <a:rPr lang="en-US" i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conjugate acid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  </a:t>
                </a:r>
                <a:r>
                  <a:rPr lang="en-US" dirty="0">
                    <a:sym typeface="Wingdings" panose="05000000000000000000" pitchFamily="2" charset="2"/>
                  </a:rPr>
                  <a:t>H</a:t>
                </a:r>
                <a:r>
                  <a:rPr lang="en-US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ym typeface="Wingdings" panose="05000000000000000000" pitchFamily="2" charset="2"/>
                  </a:rPr>
                  <a:t>O</a:t>
                </a:r>
                <a:r>
                  <a:rPr lang="en-US" baseline="30000" dirty="0">
                    <a:sym typeface="Wingdings" panose="05000000000000000000" pitchFamily="2" charset="2"/>
                  </a:rPr>
                  <a:t>+  </a:t>
                </a:r>
                <a:r>
                  <a:rPr lang="en-US" dirty="0">
                    <a:sym typeface="Wingdings" panose="05000000000000000000" pitchFamily="2" charset="2"/>
                  </a:rPr>
                  <a:t>(hydronium ion)</a:t>
                </a:r>
                <a:endParaRPr lang="en-US" baseline="30000" dirty="0">
                  <a:sym typeface="Wingdings" panose="05000000000000000000" pitchFamily="2" charset="2"/>
                </a:endParaRPr>
              </a:p>
              <a:p>
                <a:endParaRPr lang="en-US" dirty="0">
                  <a:sym typeface="Wingdings" panose="05000000000000000000" pitchFamily="2" charset="2"/>
                </a:endParaRPr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92107AB-209D-AA99-FAC8-0E142244F7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533" y="1135626"/>
                <a:ext cx="8387645" cy="5411929"/>
              </a:xfrm>
              <a:blipFill>
                <a:blip r:embed="rId2"/>
                <a:stretch>
                  <a:fillRect l="-1090" t="-9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59378-EC25-2FBC-8058-B34AD98E3B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23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645692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7574C-6443-DB3F-A221-651FDB2FE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CF626F-8430-963F-8616-F8F2EB375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Practice: Conjugate Acid-Base Pairs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45A125A-6471-8309-8216-5CB763BF1D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533" y="1135626"/>
                <a:ext cx="8387645" cy="541192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What are the conjugate acid-base pairs in this equilibrium reaction?</a:t>
                </a:r>
              </a:p>
              <a:p>
                <a:pPr marL="0" indent="0" algn="ctr">
                  <a:buNone/>
                </a:pP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(CH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N + 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(CH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NH</a:t>
                </a:r>
                <a:r>
                  <a:rPr lang="en-US" baseline="30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+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+ OH</a:t>
                </a:r>
                <a:r>
                  <a:rPr lang="en-US" baseline="30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–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What donates the proton? H</a:t>
                </a:r>
                <a:r>
                  <a:rPr lang="en-US" baseline="-25000" dirty="0"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ym typeface="Wingdings" panose="05000000000000000000" pitchFamily="2" charset="2"/>
                  </a:rPr>
                  <a:t>O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What accepts the proton? (CH</a:t>
                </a:r>
                <a:r>
                  <a:rPr lang="en-US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ym typeface="Wingdings" panose="05000000000000000000" pitchFamily="2" charset="2"/>
                  </a:rPr>
                  <a:t>)</a:t>
                </a:r>
                <a:r>
                  <a:rPr lang="en-US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ym typeface="Wingdings" panose="05000000000000000000" pitchFamily="2" charset="2"/>
                  </a:rPr>
                  <a:t>N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Reactant: </a:t>
                </a:r>
                <a:r>
                  <a:rPr lang="en-US" i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acid</a:t>
                </a:r>
                <a:r>
                  <a:rPr lang="en-US" dirty="0">
                    <a:sym typeface="Wingdings" panose="05000000000000000000" pitchFamily="2" charset="2"/>
                  </a:rPr>
                  <a:t> H</a:t>
                </a:r>
                <a:r>
                  <a:rPr lang="en-US" baseline="-25000" dirty="0"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ym typeface="Wingdings" panose="05000000000000000000" pitchFamily="2" charset="2"/>
                  </a:rPr>
                  <a:t>O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Reactant: </a:t>
                </a:r>
                <a:r>
                  <a:rPr lang="en-US" i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base</a:t>
                </a:r>
                <a:r>
                  <a:rPr lang="en-US" dirty="0">
                    <a:sym typeface="Wingdings" panose="05000000000000000000" pitchFamily="2" charset="2"/>
                  </a:rPr>
                  <a:t> (CH</a:t>
                </a:r>
                <a:r>
                  <a:rPr lang="en-US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ym typeface="Wingdings" panose="05000000000000000000" pitchFamily="2" charset="2"/>
                  </a:rPr>
                  <a:t>)</a:t>
                </a:r>
                <a:r>
                  <a:rPr lang="en-US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ym typeface="Wingdings" panose="05000000000000000000" pitchFamily="2" charset="2"/>
                  </a:rPr>
                  <a:t>N   (trimethylamine)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Product: </a:t>
                </a:r>
                <a:r>
                  <a:rPr lang="en-US" i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conjugate base </a:t>
                </a:r>
                <a:r>
                  <a:rPr lang="en-US" dirty="0">
                    <a:sym typeface="Wingdings" panose="05000000000000000000" pitchFamily="2" charset="2"/>
                  </a:rPr>
                  <a:t>OH</a:t>
                </a:r>
                <a:r>
                  <a:rPr lang="en-US" baseline="30000" dirty="0">
                    <a:sym typeface="Wingdings" panose="05000000000000000000" pitchFamily="2" charset="2"/>
                  </a:rPr>
                  <a:t>–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  </a:t>
                </a:r>
                <a:r>
                  <a:rPr lang="en-US" dirty="0">
                    <a:sym typeface="Wingdings" panose="05000000000000000000" pitchFamily="2" charset="2"/>
                  </a:rPr>
                  <a:t>(hydroxide ion)</a:t>
                </a:r>
                <a:endParaRPr lang="en-US" baseline="30000" dirty="0">
                  <a:sym typeface="Wingdings" panose="05000000000000000000" pitchFamily="2" charset="2"/>
                </a:endParaRPr>
              </a:p>
              <a:p>
                <a:r>
                  <a:rPr lang="en-US" dirty="0">
                    <a:sym typeface="Wingdings" panose="05000000000000000000" pitchFamily="2" charset="2"/>
                  </a:rPr>
                  <a:t>Product: </a:t>
                </a:r>
                <a:r>
                  <a:rPr lang="en-US" i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conjugate acid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 </a:t>
                </a:r>
                <a:r>
                  <a:rPr lang="en-US" dirty="0">
                    <a:sym typeface="Wingdings" panose="05000000000000000000" pitchFamily="2" charset="2"/>
                  </a:rPr>
                  <a:t>(CH</a:t>
                </a:r>
                <a:r>
                  <a:rPr lang="en-US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ym typeface="Wingdings" panose="05000000000000000000" pitchFamily="2" charset="2"/>
                  </a:rPr>
                  <a:t>)</a:t>
                </a:r>
                <a:r>
                  <a:rPr lang="en-US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ym typeface="Wingdings" panose="05000000000000000000" pitchFamily="2" charset="2"/>
                  </a:rPr>
                  <a:t>NH</a:t>
                </a:r>
                <a:r>
                  <a:rPr lang="en-US" baseline="30000" dirty="0">
                    <a:sym typeface="Wingdings" panose="05000000000000000000" pitchFamily="2" charset="2"/>
                  </a:rPr>
                  <a:t>+</a:t>
                </a:r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:endParaRPr lang="en-US" baseline="300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US" sz="2000" dirty="0">
                    <a:sym typeface="Wingdings" panose="05000000000000000000" pitchFamily="2" charset="2"/>
                  </a:rPr>
                  <a:t>Trimethylamine is just ammonia NH</a:t>
                </a:r>
                <a:r>
                  <a:rPr lang="en-US" sz="2000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sz="2000" dirty="0">
                    <a:sym typeface="Wingdings" panose="05000000000000000000" pitchFamily="2" charset="2"/>
                  </a:rPr>
                  <a:t> with three methyl groups (CH</a:t>
                </a:r>
                <a:r>
                  <a:rPr lang="en-US" sz="2000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sz="2000" dirty="0">
                    <a:sym typeface="Wingdings" panose="05000000000000000000" pitchFamily="2" charset="2"/>
                  </a:rPr>
                  <a:t>–) instead of three hydrogen atoms, and if ammonia is a known base, so is TMA</a:t>
                </a:r>
              </a:p>
              <a:p>
                <a:pPr marL="0" indent="0" algn="ctr">
                  <a:buNone/>
                </a:pPr>
                <a:r>
                  <a:rPr lang="en-US" sz="2800" b="1" dirty="0">
                    <a:solidFill>
                      <a:srgbClr val="C00000"/>
                    </a:solidFill>
                    <a:sym typeface="Wingdings" panose="05000000000000000000" pitchFamily="2" charset="2"/>
                  </a:rPr>
                  <a:t>ALWAYS LOOK FOR PATTERNS</a:t>
                </a:r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45A125A-6471-8309-8216-5CB763BF1D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533" y="1135626"/>
                <a:ext cx="8387645" cy="5411929"/>
              </a:xfrm>
              <a:blipFill>
                <a:blip r:embed="rId2"/>
                <a:stretch>
                  <a:fillRect l="-1090" t="-901" b="-2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1D3F68-D3DC-B65C-5E70-240D4F4A49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24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527168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C5A9A-4DF1-EBF2-3D67-F524822B4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59A9C2-9FB7-33B5-E9A9-DA6E23C1F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Practice: Conjugate Acid-Base Pairs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84350F3-FAC3-41BA-A7F5-8DF6183000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533" y="1154288"/>
                <a:ext cx="8387645" cy="541192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What are the conjugate acid-base pairs in this equilibrium reaction? What looks like it needs a proton (H+ ion)? Look for where the movement transfer happens</a:t>
                </a:r>
              </a:p>
              <a:p>
                <a:pPr marL="0" indent="0" algn="ctr">
                  <a:buNone/>
                </a:pP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NH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baseline="30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–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+ 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NH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+ OH</a:t>
                </a:r>
                <a:r>
                  <a:rPr lang="en-US" baseline="30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–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What donates the proton? H</a:t>
                </a:r>
                <a:r>
                  <a:rPr lang="en-US" baseline="-25000" dirty="0"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ym typeface="Wingdings" panose="05000000000000000000" pitchFamily="2" charset="2"/>
                  </a:rPr>
                  <a:t>O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What accepts the proton? NH</a:t>
                </a:r>
                <a:r>
                  <a:rPr lang="en-US" baseline="-25000" dirty="0">
                    <a:sym typeface="Wingdings" panose="05000000000000000000" pitchFamily="2" charset="2"/>
                  </a:rPr>
                  <a:t>2</a:t>
                </a:r>
                <a:r>
                  <a:rPr lang="en-US" baseline="30000" dirty="0">
                    <a:sym typeface="Wingdings" panose="05000000000000000000" pitchFamily="2" charset="2"/>
                  </a:rPr>
                  <a:t>–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Reactant: </a:t>
                </a:r>
                <a:r>
                  <a:rPr lang="en-US" i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acid</a:t>
                </a:r>
                <a:r>
                  <a:rPr lang="en-US" dirty="0">
                    <a:sym typeface="Wingdings" panose="05000000000000000000" pitchFamily="2" charset="2"/>
                  </a:rPr>
                  <a:t> H</a:t>
                </a:r>
                <a:r>
                  <a:rPr lang="en-US" baseline="-25000" dirty="0"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ym typeface="Wingdings" panose="05000000000000000000" pitchFamily="2" charset="2"/>
                  </a:rPr>
                  <a:t>O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Reactant: </a:t>
                </a:r>
                <a:r>
                  <a:rPr lang="en-US" i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base</a:t>
                </a:r>
                <a:r>
                  <a:rPr lang="en-US" dirty="0">
                    <a:sym typeface="Wingdings" panose="05000000000000000000" pitchFamily="2" charset="2"/>
                  </a:rPr>
                  <a:t> NH</a:t>
                </a:r>
                <a:r>
                  <a:rPr lang="en-US" baseline="-25000" dirty="0">
                    <a:sym typeface="Wingdings" panose="05000000000000000000" pitchFamily="2" charset="2"/>
                  </a:rPr>
                  <a:t>2</a:t>
                </a:r>
                <a:r>
                  <a:rPr lang="en-US" baseline="30000" dirty="0">
                    <a:sym typeface="Wingdings" panose="05000000000000000000" pitchFamily="2" charset="2"/>
                  </a:rPr>
                  <a:t>–</a:t>
                </a:r>
                <a:endParaRPr lang="en-US" dirty="0">
                  <a:sym typeface="Wingdings" panose="05000000000000000000" pitchFamily="2" charset="2"/>
                </a:endParaRPr>
              </a:p>
              <a:p>
                <a:r>
                  <a:rPr lang="en-US" dirty="0">
                    <a:sym typeface="Wingdings" panose="05000000000000000000" pitchFamily="2" charset="2"/>
                  </a:rPr>
                  <a:t>Product: </a:t>
                </a:r>
                <a:r>
                  <a:rPr lang="en-US" i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conjugate base </a:t>
                </a:r>
                <a:r>
                  <a:rPr lang="en-US" dirty="0">
                    <a:sym typeface="Wingdings" panose="05000000000000000000" pitchFamily="2" charset="2"/>
                  </a:rPr>
                  <a:t>OH</a:t>
                </a:r>
                <a:r>
                  <a:rPr lang="en-US" baseline="30000" dirty="0">
                    <a:sym typeface="Wingdings" panose="05000000000000000000" pitchFamily="2" charset="2"/>
                  </a:rPr>
                  <a:t>–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</a:t>
                </a:r>
                <a:endParaRPr lang="en-US" baseline="30000" dirty="0">
                  <a:sym typeface="Wingdings" panose="05000000000000000000" pitchFamily="2" charset="2"/>
                </a:endParaRPr>
              </a:p>
              <a:p>
                <a:r>
                  <a:rPr lang="en-US" dirty="0">
                    <a:sym typeface="Wingdings" panose="05000000000000000000" pitchFamily="2" charset="2"/>
                  </a:rPr>
                  <a:t>Product: </a:t>
                </a:r>
                <a:r>
                  <a:rPr lang="en-US" i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conjugate acid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 </a:t>
                </a:r>
                <a:r>
                  <a:rPr lang="en-US" dirty="0">
                    <a:sym typeface="Wingdings" panose="05000000000000000000" pitchFamily="2" charset="2"/>
                  </a:rPr>
                  <a:t>NH</a:t>
                </a:r>
                <a:r>
                  <a:rPr lang="en-US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:endParaRPr lang="en-US" baseline="300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84350F3-FAC3-41BA-A7F5-8DF6183000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533" y="1154288"/>
                <a:ext cx="8387645" cy="5411929"/>
              </a:xfrm>
              <a:blipFill>
                <a:blip r:embed="rId2"/>
                <a:stretch>
                  <a:fillRect l="-1090" t="-9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51CDF-E2ED-4401-EC3F-009D99A1B3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25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562273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99AAC-FA36-7E6A-7781-F4F505090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5C5555F-AA20-A087-2162-EF781F396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Acid-Base Reactions: Neutralization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5D836F7-F346-3B05-4CE7-D7F1C548D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35626"/>
            <a:ext cx="8387645" cy="5411929"/>
          </a:xfrm>
        </p:spPr>
        <p:txBody>
          <a:bodyPr/>
          <a:lstStyle/>
          <a:p>
            <a:r>
              <a:rPr lang="en-US" b="1" dirty="0">
                <a:solidFill>
                  <a:srgbClr val="00FF00"/>
                </a:solidFill>
                <a:sym typeface="Wingdings" panose="05000000000000000000" pitchFamily="2" charset="2"/>
              </a:rPr>
              <a:t>Neutralization</a:t>
            </a:r>
            <a:r>
              <a:rPr lang="en-US" dirty="0">
                <a:sym typeface="Wingdings" panose="05000000000000000000" pitchFamily="2" charset="2"/>
              </a:rPr>
              <a:t> is the classic acid-base reaction</a:t>
            </a:r>
          </a:p>
          <a:p>
            <a:r>
              <a:rPr lang="en-US" sz="2000" dirty="0">
                <a:sym typeface="Wingdings" panose="05000000000000000000" pitchFamily="2" charset="2"/>
              </a:rPr>
              <a:t>The classic example of this type is a </a:t>
            </a:r>
            <a:r>
              <a:rPr lang="en-US" sz="2000" dirty="0">
                <a:solidFill>
                  <a:srgbClr val="FFFF00"/>
                </a:solidFill>
                <a:sym typeface="Wingdings" panose="05000000000000000000" pitchFamily="2" charset="2"/>
              </a:rPr>
              <a:t>strong acid </a:t>
            </a:r>
            <a:r>
              <a:rPr lang="en-US" sz="2000" dirty="0">
                <a:sym typeface="Wingdings" panose="05000000000000000000" pitchFamily="2" charset="2"/>
              </a:rPr>
              <a:t>reacting with a </a:t>
            </a:r>
            <a:r>
              <a:rPr lang="en-US" sz="2000" dirty="0">
                <a:solidFill>
                  <a:srgbClr val="FFFF00"/>
                </a:solidFill>
                <a:sym typeface="Wingdings" panose="05000000000000000000" pitchFamily="2" charset="2"/>
              </a:rPr>
              <a:t>strong base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HCl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NaOH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 NaCl + 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O (</a:t>
            </a:r>
            <a:r>
              <a:rPr lang="en-US" i="1" dirty="0">
                <a:solidFill>
                  <a:srgbClr val="FFC000"/>
                </a:solidFill>
                <a:sym typeface="Wingdings" panose="05000000000000000000" pitchFamily="2" charset="2"/>
              </a:rPr>
              <a:t>l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</a:t>
            </a:r>
          </a:p>
          <a:p>
            <a:pPr marL="231775" lvl="1" indent="0">
              <a:buNone/>
            </a:pPr>
            <a:r>
              <a:rPr lang="en-US" sz="1800" dirty="0">
                <a:sym typeface="Wingdings" panose="05000000000000000000" pitchFamily="2" charset="2"/>
              </a:rPr>
              <a:t>Note that the arrow is forward, not the equilibrium arrow, because this reaction really goes 100%</a:t>
            </a:r>
          </a:p>
          <a:p>
            <a:r>
              <a:rPr lang="en-US" sz="2200" dirty="0">
                <a:sym typeface="Wingdings" panose="05000000000000000000" pitchFamily="2" charset="2"/>
              </a:rPr>
              <a:t>Acid-base reactions occur in aqueous solutions so they form solvated ions. This is the complete ionic equation: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H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+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Cl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–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Na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+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OH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–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</a:t>
            </a:r>
            <a:b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</a:b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Na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+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Cl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–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O (</a:t>
            </a:r>
            <a:r>
              <a:rPr lang="en-US" i="1" dirty="0">
                <a:solidFill>
                  <a:srgbClr val="FFC000"/>
                </a:solidFill>
                <a:sym typeface="Wingdings" panose="05000000000000000000" pitchFamily="2" charset="2"/>
              </a:rPr>
              <a:t>l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</a:t>
            </a:r>
          </a:p>
          <a:p>
            <a:r>
              <a:rPr lang="en-US" sz="2200" dirty="0">
                <a:sym typeface="Wingdings" panose="05000000000000000000" pitchFamily="2" charset="2"/>
              </a:rPr>
              <a:t>The net ionic equation shows the important effect: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H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+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OH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–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 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O (</a:t>
            </a:r>
            <a:r>
              <a:rPr lang="en-US" i="1" dirty="0">
                <a:solidFill>
                  <a:srgbClr val="FFC000"/>
                </a:solidFill>
                <a:sym typeface="Wingdings" panose="05000000000000000000" pitchFamily="2" charset="2"/>
              </a:rPr>
              <a:t>l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</a:t>
            </a:r>
          </a:p>
          <a:p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2C0C4-FBAB-CDA5-DA06-7323D6590C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26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372127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965A8-67BA-E554-5B05-CC641DCBF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F4CAC8-17A6-2469-DA19-22AF50F4D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Acid-Base Reactions: Neutralization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8C9907D-6ED2-6EFD-467C-9BDF9B087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35626"/>
            <a:ext cx="8387645" cy="5411929"/>
          </a:xfrm>
        </p:spPr>
        <p:txBody>
          <a:bodyPr/>
          <a:lstStyle/>
          <a:p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Propionic acid (CH</a:t>
            </a:r>
            <a:r>
              <a:rPr lang="en-US" sz="2000" baseline="-25000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3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CH</a:t>
            </a:r>
            <a:r>
              <a:rPr lang="en-US" sz="2000" baseline="-25000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2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COOH) </a:t>
            </a:r>
            <a:r>
              <a:rPr lang="en-US" sz="2000" dirty="0">
                <a:sym typeface="Wingdings" panose="05000000000000000000" pitchFamily="2" charset="2"/>
              </a:rPr>
              <a:t>will react with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calcium hydroxide [Ca(OH)</a:t>
            </a:r>
            <a:r>
              <a:rPr lang="en-US" sz="2000" baseline="-25000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2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] </a:t>
            </a:r>
            <a:r>
              <a:rPr lang="en-US" sz="2000" dirty="0">
                <a:sym typeface="Wingdings" panose="05000000000000000000" pitchFamily="2" charset="2"/>
              </a:rPr>
              <a:t>to produce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calcium propionate</a:t>
            </a:r>
            <a:r>
              <a:rPr lang="en-US" sz="2000" dirty="0">
                <a:sym typeface="Wingdings" panose="05000000000000000000" pitchFamily="2" charset="2"/>
              </a:rPr>
              <a:t>. What is the balanced chemical equation?</a:t>
            </a:r>
          </a:p>
          <a:p>
            <a:r>
              <a:rPr lang="en-US" sz="2000" dirty="0">
                <a:sym typeface="Wingdings" panose="05000000000000000000" pitchFamily="2" charset="2"/>
              </a:rPr>
              <a:t>Here is the skeletal chemical equation: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CH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3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CH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COOH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Ca(OH)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 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 (CH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3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CH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COO)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Ca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O (</a:t>
            </a:r>
            <a:r>
              <a:rPr lang="en-US" i="1" dirty="0">
                <a:solidFill>
                  <a:srgbClr val="FFC000"/>
                </a:solidFill>
                <a:sym typeface="Wingdings" panose="05000000000000000000" pitchFamily="2" charset="2"/>
              </a:rPr>
              <a:t>l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</a:t>
            </a:r>
          </a:p>
          <a:p>
            <a:r>
              <a:rPr lang="en-US" sz="2000" dirty="0">
                <a:sym typeface="Wingdings" panose="05000000000000000000" pitchFamily="2" charset="2"/>
              </a:rPr>
              <a:t>Here is the balanced chemical equation: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2 CH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3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CH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COOH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Ca(OH)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 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 (CH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3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CH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COO)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Ca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+ 2 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O (</a:t>
            </a:r>
            <a:r>
              <a:rPr lang="en-US" i="1" dirty="0">
                <a:solidFill>
                  <a:srgbClr val="FFC000"/>
                </a:solidFill>
                <a:sym typeface="Wingdings" panose="05000000000000000000" pitchFamily="2" charset="2"/>
              </a:rPr>
              <a:t>l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2042A-C97C-A655-7659-A8933F7E41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27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327866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E770E-843D-097F-5650-5F6F0C66E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86EDC8D-77DD-2346-F75E-89D8882B5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4"/>
            <a:ext cx="8421512" cy="707886"/>
          </a:xfrm>
        </p:spPr>
        <p:txBody>
          <a:bodyPr/>
          <a:lstStyle/>
          <a:p>
            <a:r>
              <a:rPr lang="en-US" sz="4000" dirty="0"/>
              <a:t>Acid-Base Reactions: Active Metals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B223FF2-A55B-BEDE-F5DE-04C779AC4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35626"/>
            <a:ext cx="8387645" cy="5411929"/>
          </a:xfrm>
        </p:spPr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Previously we discussed how solid pure elemental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metals</a:t>
            </a:r>
            <a:r>
              <a:rPr lang="en-US" dirty="0">
                <a:sym typeface="Wingdings" panose="05000000000000000000" pitchFamily="2" charset="2"/>
              </a:rPr>
              <a:t> will react with strong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acids</a:t>
            </a:r>
            <a:r>
              <a:rPr lang="en-US" dirty="0">
                <a:sym typeface="Wingdings" panose="05000000000000000000" pitchFamily="2" charset="2"/>
              </a:rPr>
              <a:t> in a 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single displacement</a:t>
            </a:r>
            <a:r>
              <a:rPr lang="en-US" dirty="0">
                <a:sym typeface="Wingdings" panose="05000000000000000000" pitchFamily="2" charset="2"/>
              </a:rPr>
              <a:t> reaction which is actually an 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oxidation-reduction (redox)</a:t>
            </a:r>
            <a:r>
              <a:rPr lang="en-US" dirty="0">
                <a:sym typeface="Wingdings" panose="05000000000000000000" pitchFamily="2" charset="2"/>
              </a:rPr>
              <a:t> reaction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Zn (</a:t>
            </a:r>
            <a:r>
              <a:rPr lang="en-US" i="1" dirty="0">
                <a:solidFill>
                  <a:srgbClr val="FFC000"/>
                </a:solidFill>
                <a:sym typeface="Wingdings" panose="05000000000000000000" pitchFamily="2" charset="2"/>
              </a:rPr>
              <a:t>s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+ 2 HCl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 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(g) + ZnCl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Certain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metals</a:t>
            </a:r>
            <a:r>
              <a:rPr lang="en-US" dirty="0">
                <a:sym typeface="Wingdings" panose="05000000000000000000" pitchFamily="2" charset="2"/>
              </a:rPr>
              <a:t> will also react with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bases</a:t>
            </a:r>
            <a:r>
              <a:rPr lang="en-US" dirty="0">
                <a:sym typeface="Wingdings" panose="05000000000000000000" pitchFamily="2" charset="2"/>
              </a:rPr>
              <a:t> also in a redox reaction and also producing hydrogen gas: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Zn (</a:t>
            </a:r>
            <a:r>
              <a:rPr lang="en-US" i="1" dirty="0">
                <a:solidFill>
                  <a:srgbClr val="FFC000"/>
                </a:solidFill>
                <a:sym typeface="Wingdings" panose="05000000000000000000" pitchFamily="2" charset="2"/>
              </a:rPr>
              <a:t>s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+ 2 NaOH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+ 2 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O </a:t>
            </a:r>
            <a:b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</a:b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Na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Zn(OH)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4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>
                <a:solidFill>
                  <a:srgbClr val="FFC000"/>
                </a:solidFill>
                <a:sym typeface="Wingdings" panose="05000000000000000000" pitchFamily="2" charset="2"/>
              </a:rPr>
              <a:t>g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</a:t>
            </a:r>
          </a:p>
          <a:p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D81DF-7B87-C98C-4299-4A613E17F1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28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433712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2D8AF-F223-098E-8C03-BBD01EC23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D84347E-264B-FA6D-E9E5-F0BCF6D13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244518"/>
            <a:ext cx="8421512" cy="830997"/>
          </a:xfrm>
        </p:spPr>
        <p:txBody>
          <a:bodyPr/>
          <a:lstStyle/>
          <a:p>
            <a:r>
              <a:rPr lang="en-US" dirty="0"/>
              <a:t>Strong / Weak Acids &amp; Bases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43281E9-2318-F4B8-35EB-080B7C58A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35626"/>
            <a:ext cx="8387645" cy="5411929"/>
          </a:xfrm>
        </p:spPr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Acids have a strength to them, with strength determined by whether they ionize in water (aqueous solution) completely (100%) or less than that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b="1" dirty="0">
                <a:solidFill>
                  <a:srgbClr val="00FF00"/>
                </a:solidFill>
                <a:sym typeface="Wingdings" panose="05000000000000000000" pitchFamily="2" charset="2"/>
              </a:rPr>
              <a:t>Strong acids</a:t>
            </a:r>
            <a:r>
              <a:rPr lang="en-US" dirty="0">
                <a:sym typeface="Wingdings" panose="05000000000000000000" pitchFamily="2" charset="2"/>
              </a:rPr>
              <a:t> and </a:t>
            </a:r>
            <a:r>
              <a:rPr lang="en-US" b="1" dirty="0">
                <a:solidFill>
                  <a:srgbClr val="00FF00"/>
                </a:solidFill>
                <a:sym typeface="Wingdings" panose="05000000000000000000" pitchFamily="2" charset="2"/>
              </a:rPr>
              <a:t>bases</a:t>
            </a:r>
            <a:r>
              <a:rPr lang="en-US" dirty="0">
                <a:sym typeface="Wingdings" panose="05000000000000000000" pitchFamily="2" charset="2"/>
              </a:rPr>
              <a:t> are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those that dissociate (ionize)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completely (100%) in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aqueous solution</a:t>
            </a:r>
          </a:p>
          <a:p>
            <a:r>
              <a:rPr lang="en-US" b="1" dirty="0">
                <a:solidFill>
                  <a:srgbClr val="00FF00"/>
                </a:solidFill>
                <a:sym typeface="Wingdings" panose="05000000000000000000" pitchFamily="2" charset="2"/>
              </a:rPr>
              <a:t>Weak acids </a:t>
            </a:r>
            <a:r>
              <a:rPr lang="en-US" dirty="0">
                <a:sym typeface="Wingdings" panose="05000000000000000000" pitchFamily="2" charset="2"/>
              </a:rPr>
              <a:t>and </a:t>
            </a:r>
            <a:r>
              <a:rPr lang="en-US" b="1" dirty="0">
                <a:solidFill>
                  <a:srgbClr val="00FF00"/>
                </a:solidFill>
                <a:sym typeface="Wingdings" panose="05000000000000000000" pitchFamily="2" charset="2"/>
              </a:rPr>
              <a:t>bases</a:t>
            </a:r>
            <a:r>
              <a:rPr lang="en-US" dirty="0">
                <a:sym typeface="Wingdings" panose="05000000000000000000" pitchFamily="2" charset="2"/>
              </a:rPr>
              <a:t> are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those that dissociate (ionize)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partially (less than 100%)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B8BB0-1350-E35F-6C3D-6167C6E026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29</a:t>
            </a:fld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403522-DFE4-B124-0A88-26D0888B3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1442" y="2778121"/>
            <a:ext cx="3515007" cy="2944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3895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4B76D-D59E-6B4C-BEEC-5978FB45E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1EB5864-847D-CE12-304C-9A436B9E0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244518"/>
            <a:ext cx="8421512" cy="830997"/>
          </a:xfrm>
        </p:spPr>
        <p:txBody>
          <a:bodyPr/>
          <a:lstStyle/>
          <a:p>
            <a:r>
              <a:rPr lang="en-US" dirty="0"/>
              <a:t>Practice: Strong &amp; Weak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FA9493-08DA-6E7E-B1D8-333B3EAA4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35626"/>
            <a:ext cx="8387645" cy="5411929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Strong or weak acid or base?</a:t>
            </a:r>
          </a:p>
          <a:p>
            <a:r>
              <a:rPr lang="en-US" dirty="0">
                <a:sym typeface="Wingdings" panose="05000000000000000000" pitchFamily="2" charset="2"/>
              </a:rPr>
              <a:t>HCl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strong acid</a:t>
            </a:r>
          </a:p>
          <a:p>
            <a:r>
              <a:rPr lang="en-US" dirty="0">
                <a:sym typeface="Wingdings" panose="05000000000000000000" pitchFamily="2" charset="2"/>
              </a:rPr>
              <a:t>Mg(OH)</a:t>
            </a:r>
            <a:r>
              <a:rPr lang="en-US" baseline="-25000" dirty="0">
                <a:sym typeface="Wingdings" panose="05000000000000000000" pitchFamily="2" charset="2"/>
              </a:rPr>
              <a:t>2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strong base</a:t>
            </a:r>
          </a:p>
          <a:p>
            <a:r>
              <a:rPr lang="en-US" dirty="0">
                <a:sym typeface="Wingdings" panose="05000000000000000000" pitchFamily="2" charset="2"/>
              </a:rPr>
              <a:t>C</a:t>
            </a:r>
            <a:r>
              <a:rPr lang="en-US" baseline="-25000" dirty="0">
                <a:sym typeface="Wingdings" panose="05000000000000000000" pitchFamily="2" charset="2"/>
              </a:rPr>
              <a:t>5</a:t>
            </a:r>
            <a:r>
              <a:rPr lang="en-US" dirty="0">
                <a:sym typeface="Wingdings" panose="05000000000000000000" pitchFamily="2" charset="2"/>
              </a:rPr>
              <a:t>H</a:t>
            </a:r>
            <a:r>
              <a:rPr lang="en-US" baseline="-25000" dirty="0">
                <a:sym typeface="Wingdings" panose="05000000000000000000" pitchFamily="2" charset="2"/>
              </a:rPr>
              <a:t>5</a:t>
            </a:r>
            <a:r>
              <a:rPr lang="en-US" dirty="0">
                <a:sym typeface="Wingdings" panose="05000000000000000000" pitchFamily="2" charset="2"/>
              </a:rPr>
              <a:t>N (pyridine)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weak base</a:t>
            </a:r>
          </a:p>
          <a:p>
            <a:r>
              <a:rPr lang="en-US" dirty="0" err="1">
                <a:sym typeface="Wingdings" panose="05000000000000000000" pitchFamily="2" charset="2"/>
              </a:rPr>
              <a:t>RbOH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strong base</a:t>
            </a:r>
          </a:p>
          <a:p>
            <a:r>
              <a:rPr lang="en-US" dirty="0">
                <a:sym typeface="Wingdings" panose="05000000000000000000" pitchFamily="2" charset="2"/>
              </a:rPr>
              <a:t>HNO</a:t>
            </a:r>
            <a:r>
              <a:rPr lang="en-US" baseline="-25000" dirty="0">
                <a:sym typeface="Wingdings" panose="05000000000000000000" pitchFamily="2" charset="2"/>
              </a:rPr>
              <a:t>2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weak acid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D8E67-C238-8B98-F5AC-705F25C962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30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29346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18B76-27BF-47D9-0E58-7346DB124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834BA24-4D78-28E4-FA76-D4036C36B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244518"/>
            <a:ext cx="8421512" cy="830997"/>
          </a:xfrm>
        </p:spPr>
        <p:txBody>
          <a:bodyPr/>
          <a:lstStyle/>
          <a:p>
            <a:r>
              <a:rPr lang="en-US" dirty="0"/>
              <a:t>Water as an Acid and Base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2B180EC-C6B9-A3C7-ACBC-31EECBCF33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533" y="1135626"/>
                <a:ext cx="8387645" cy="5411929"/>
              </a:xfrm>
            </p:spPr>
            <p:txBody>
              <a:bodyPr/>
              <a:lstStyle/>
              <a:p>
                <a:r>
                  <a:rPr lang="en-US" dirty="0">
                    <a:sym typeface="Wingdings" panose="05000000000000000000" pitchFamily="2" charset="2"/>
                  </a:rPr>
                  <a:t>As an acid:  </a:t>
                </a:r>
                <a:r>
                  <a:rPr lang="en-US" dirty="0">
                    <a:solidFill>
                      <a:srgbClr val="99CCFF"/>
                    </a:solidFill>
                    <a:sym typeface="Wingdings" panose="05000000000000000000" pitchFamily="2" charset="2"/>
                  </a:rPr>
                  <a:t>NH</a:t>
                </a:r>
                <a:r>
                  <a:rPr lang="en-US" baseline="-25000" dirty="0">
                    <a:solidFill>
                      <a:srgbClr val="99CCFF"/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olidFill>
                      <a:schemeClr val="bg1"/>
                    </a:solidFill>
                    <a:sym typeface="Wingdings" panose="05000000000000000000" pitchFamily="2" charset="2"/>
                  </a:rPr>
                  <a:t> + </a:t>
                </a:r>
                <a:r>
                  <a:rPr lang="en-US" dirty="0">
                    <a:solidFill>
                      <a:srgbClr val="FF99CC"/>
                    </a:solidFill>
                    <a:sym typeface="Wingdings" panose="05000000000000000000" pitchFamily="2" charset="2"/>
                  </a:rPr>
                  <a:t>H</a:t>
                </a:r>
                <a:r>
                  <a:rPr lang="en-US" baseline="-25000" dirty="0">
                    <a:solidFill>
                      <a:srgbClr val="FF99CC"/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olidFill>
                      <a:srgbClr val="FF99CC"/>
                    </a:solidFill>
                    <a:sym typeface="Wingdings" panose="05000000000000000000" pitchFamily="2" charset="2"/>
                  </a:rPr>
                  <a:t>O</a:t>
                </a:r>
                <a:r>
                  <a:rPr lang="en-US" dirty="0">
                    <a:solidFill>
                      <a:schemeClr val="bg1"/>
                    </a:solidFill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sym typeface="Wingdings" panose="05000000000000000000" pitchFamily="2" charset="2"/>
                  </a:rPr>
                  <a:t> NH</a:t>
                </a:r>
                <a:r>
                  <a:rPr lang="en-US" baseline="-25000" dirty="0">
                    <a:solidFill>
                      <a:schemeClr val="bg1"/>
                    </a:solidFill>
                    <a:sym typeface="Wingdings" panose="05000000000000000000" pitchFamily="2" charset="2"/>
                  </a:rPr>
                  <a:t>4</a:t>
                </a:r>
                <a:r>
                  <a:rPr lang="en-US" baseline="30000" dirty="0">
                    <a:solidFill>
                      <a:schemeClr val="bg1"/>
                    </a:solidFill>
                    <a:sym typeface="Wingdings" panose="05000000000000000000" pitchFamily="2" charset="2"/>
                  </a:rPr>
                  <a:t>+</a:t>
                </a:r>
                <a:r>
                  <a:rPr lang="en-US" dirty="0">
                    <a:solidFill>
                      <a:schemeClr val="bg1"/>
                    </a:solidFill>
                    <a:sym typeface="Wingdings" panose="05000000000000000000" pitchFamily="2" charset="2"/>
                  </a:rPr>
                  <a:t> + OH</a:t>
                </a:r>
                <a:r>
                  <a:rPr lang="en-US" baseline="30000" dirty="0">
                    <a:solidFill>
                      <a:schemeClr val="bg1"/>
                    </a:solidFill>
                    <a:sym typeface="Wingdings" panose="05000000000000000000" pitchFamily="2" charset="2"/>
                  </a:rPr>
                  <a:t>–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As a base:  </a:t>
                </a:r>
                <a:r>
                  <a:rPr lang="en-US" dirty="0">
                    <a:solidFill>
                      <a:srgbClr val="FF99CC"/>
                    </a:solidFill>
                    <a:sym typeface="Wingdings" panose="05000000000000000000" pitchFamily="2" charset="2"/>
                  </a:rPr>
                  <a:t>HCl</a:t>
                </a:r>
                <a:r>
                  <a:rPr lang="en-US" dirty="0">
                    <a:solidFill>
                      <a:schemeClr val="bg1"/>
                    </a:solidFill>
                    <a:sym typeface="Wingdings" panose="05000000000000000000" pitchFamily="2" charset="2"/>
                  </a:rPr>
                  <a:t> + </a:t>
                </a:r>
                <a:r>
                  <a:rPr lang="en-US" dirty="0">
                    <a:solidFill>
                      <a:srgbClr val="99CCFF"/>
                    </a:solidFill>
                    <a:sym typeface="Wingdings" panose="05000000000000000000" pitchFamily="2" charset="2"/>
                  </a:rPr>
                  <a:t>H</a:t>
                </a:r>
                <a:r>
                  <a:rPr lang="en-US" baseline="-25000" dirty="0">
                    <a:solidFill>
                      <a:srgbClr val="99CCFF"/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olidFill>
                      <a:srgbClr val="99CCFF"/>
                    </a:solidFill>
                    <a:sym typeface="Wingdings" panose="05000000000000000000" pitchFamily="2" charset="2"/>
                  </a:rPr>
                  <a:t>O</a:t>
                </a:r>
                <a:r>
                  <a:rPr lang="en-US" dirty="0">
                    <a:solidFill>
                      <a:schemeClr val="bg1"/>
                    </a:solidFill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→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sym typeface="Wingdings" panose="05000000000000000000" pitchFamily="2" charset="2"/>
                  </a:rPr>
                  <a:t> H</a:t>
                </a:r>
                <a:r>
                  <a:rPr lang="en-US" baseline="-25000" dirty="0">
                    <a:solidFill>
                      <a:schemeClr val="bg1"/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olidFill>
                      <a:schemeClr val="bg1"/>
                    </a:solidFill>
                    <a:sym typeface="Wingdings" panose="05000000000000000000" pitchFamily="2" charset="2"/>
                  </a:rPr>
                  <a:t>O</a:t>
                </a:r>
                <a:r>
                  <a:rPr lang="en-US" baseline="30000" dirty="0">
                    <a:solidFill>
                      <a:schemeClr val="bg1"/>
                    </a:solidFill>
                    <a:sym typeface="Wingdings" panose="05000000000000000000" pitchFamily="2" charset="2"/>
                  </a:rPr>
                  <a:t>+</a:t>
                </a:r>
                <a:r>
                  <a:rPr lang="en-US" dirty="0">
                    <a:solidFill>
                      <a:schemeClr val="bg1"/>
                    </a:solidFill>
                    <a:sym typeface="Wingdings" panose="05000000000000000000" pitchFamily="2" charset="2"/>
                  </a:rPr>
                  <a:t> + Cl</a:t>
                </a:r>
                <a:r>
                  <a:rPr lang="en-US" baseline="30000" dirty="0">
                    <a:solidFill>
                      <a:schemeClr val="bg1"/>
                    </a:solidFill>
                    <a:sym typeface="Wingdings" panose="05000000000000000000" pitchFamily="2" charset="2"/>
                  </a:rPr>
                  <a:t>–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Water even undergoes acid-base reaction with itself: </a:t>
                </a:r>
                <a:r>
                  <a:rPr lang="en-US" dirty="0">
                    <a:solidFill>
                      <a:srgbClr val="FF99CC"/>
                    </a:solidFill>
                    <a:sym typeface="Wingdings" panose="05000000000000000000" pitchFamily="2" charset="2"/>
                  </a:rPr>
                  <a:t>H</a:t>
                </a:r>
                <a:r>
                  <a:rPr lang="en-US" baseline="-25000" dirty="0">
                    <a:solidFill>
                      <a:srgbClr val="FF99CC"/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olidFill>
                      <a:srgbClr val="FF99CC"/>
                    </a:solidFill>
                    <a:sym typeface="Wingdings" panose="05000000000000000000" pitchFamily="2" charset="2"/>
                  </a:rPr>
                  <a:t>O</a:t>
                </a:r>
                <a:r>
                  <a:rPr lang="en-US" dirty="0">
                    <a:sym typeface="Wingdings" panose="05000000000000000000" pitchFamily="2" charset="2"/>
                  </a:rPr>
                  <a:t> + </a:t>
                </a:r>
                <a:r>
                  <a:rPr lang="en-US" dirty="0">
                    <a:solidFill>
                      <a:srgbClr val="99CCFF"/>
                    </a:solidFill>
                    <a:sym typeface="Wingdings" panose="05000000000000000000" pitchFamily="2" charset="2"/>
                  </a:rPr>
                  <a:t>H</a:t>
                </a:r>
                <a:r>
                  <a:rPr lang="en-US" baseline="-25000" dirty="0">
                    <a:solidFill>
                      <a:srgbClr val="99CCFF"/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olidFill>
                      <a:srgbClr val="99CCFF"/>
                    </a:solidFill>
                    <a:sym typeface="Wingdings" panose="05000000000000000000" pitchFamily="2" charset="2"/>
                  </a:rPr>
                  <a:t>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H</a:t>
                </a:r>
                <a:r>
                  <a:rPr lang="en-US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ym typeface="Wingdings" panose="05000000000000000000" pitchFamily="2" charset="2"/>
                  </a:rPr>
                  <a:t>O</a:t>
                </a:r>
                <a:r>
                  <a:rPr lang="en-US" baseline="30000" dirty="0">
                    <a:sym typeface="Wingdings" panose="05000000000000000000" pitchFamily="2" charset="2"/>
                  </a:rPr>
                  <a:t>+</a:t>
                </a:r>
                <a:r>
                  <a:rPr lang="en-US" dirty="0">
                    <a:sym typeface="Wingdings" panose="05000000000000000000" pitchFamily="2" charset="2"/>
                  </a:rPr>
                  <a:t> + OH</a:t>
                </a:r>
                <a:r>
                  <a:rPr lang="en-US" baseline="30000" dirty="0">
                    <a:sym typeface="Wingdings" panose="05000000000000000000" pitchFamily="2" charset="2"/>
                  </a:rPr>
                  <a:t>–</a:t>
                </a:r>
              </a:p>
              <a:p>
                <a:pPr marL="0" indent="0">
                  <a:buNone/>
                </a:pPr>
                <a:r>
                  <a:rPr lang="en-US" sz="1800" dirty="0">
                    <a:sym typeface="Wingdings" panose="05000000000000000000" pitchFamily="2" charset="2"/>
                  </a:rPr>
                  <a:t>Called autoionization:  </a:t>
                </a:r>
              </a:p>
              <a:p>
                <a:pPr marL="0" indent="0">
                  <a:buNone/>
                </a:pPr>
                <a:r>
                  <a:rPr lang="en-US" sz="1800" dirty="0">
                    <a:sym typeface="Wingdings" panose="05000000000000000000" pitchFamily="2" charset="2"/>
                  </a:rPr>
                  <a:t>6 in 10</a:t>
                </a:r>
                <a:r>
                  <a:rPr lang="en-US" sz="1800" baseline="30000" dirty="0">
                    <a:sym typeface="Wingdings" panose="05000000000000000000" pitchFamily="2" charset="2"/>
                  </a:rPr>
                  <a:t>8</a:t>
                </a:r>
                <a:r>
                  <a:rPr lang="en-US" sz="1800" dirty="0">
                    <a:sym typeface="Wingdings" panose="05000000000000000000" pitchFamily="2" charset="2"/>
                  </a:rPr>
                  <a:t> molecules</a:t>
                </a: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The concentration of</a:t>
                </a:r>
                <a:br>
                  <a:rPr lang="en-US" dirty="0">
                    <a:sym typeface="Wingdings" panose="05000000000000000000" pitchFamily="2" charset="2"/>
                  </a:rPr>
                </a:br>
                <a:r>
                  <a:rPr lang="en-US" dirty="0">
                    <a:sym typeface="Wingdings" panose="05000000000000000000" pitchFamily="2" charset="2"/>
                  </a:rPr>
                  <a:t>H</a:t>
                </a:r>
                <a:r>
                  <a:rPr lang="en-US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ym typeface="Wingdings" panose="05000000000000000000" pitchFamily="2" charset="2"/>
                  </a:rPr>
                  <a:t>O</a:t>
                </a:r>
                <a:r>
                  <a:rPr lang="en-US" baseline="30000" dirty="0">
                    <a:sym typeface="Wingdings" panose="05000000000000000000" pitchFamily="2" charset="2"/>
                  </a:rPr>
                  <a:t>+</a:t>
                </a:r>
                <a:r>
                  <a:rPr lang="en-US" dirty="0">
                    <a:sym typeface="Wingdings" panose="05000000000000000000" pitchFamily="2" charset="2"/>
                  </a:rPr>
                  <a:t> and OH</a:t>
                </a:r>
                <a:r>
                  <a:rPr lang="en-US" baseline="30000" dirty="0">
                    <a:sym typeface="Wingdings" panose="05000000000000000000" pitchFamily="2" charset="2"/>
                  </a:rPr>
                  <a:t>–</a:t>
                </a:r>
                <a:r>
                  <a:rPr lang="en-US" dirty="0">
                    <a:sym typeface="Wingdings" panose="05000000000000000000" pitchFamily="2" charset="2"/>
                  </a:rPr>
                  <a:t> ions in water</a:t>
                </a:r>
                <a:br>
                  <a:rPr lang="en-US" dirty="0">
                    <a:sym typeface="Wingdings" panose="05000000000000000000" pitchFamily="2" charset="2"/>
                  </a:rPr>
                </a:br>
                <a:r>
                  <a:rPr lang="en-US" dirty="0">
                    <a:sym typeface="Wingdings" panose="05000000000000000000" pitchFamily="2" charset="2"/>
                  </a:rPr>
                  <a:t>is ~ 1.0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×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10–7 </a:t>
                </a:r>
                <a:r>
                  <a:rPr lang="en-US" i="1" dirty="0">
                    <a:sym typeface="Wingdings" panose="05000000000000000000" pitchFamily="2" charset="2"/>
                  </a:rPr>
                  <a:t>M</a:t>
                </a: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[H</a:t>
                </a:r>
                <a:r>
                  <a:rPr lang="en-US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ym typeface="Wingdings" panose="05000000000000000000" pitchFamily="2" charset="2"/>
                  </a:rPr>
                  <a:t>O</a:t>
                </a:r>
                <a:r>
                  <a:rPr lang="en-US" baseline="30000" dirty="0">
                    <a:sym typeface="Wingdings" panose="05000000000000000000" pitchFamily="2" charset="2"/>
                  </a:rPr>
                  <a:t>+</a:t>
                </a:r>
                <a:r>
                  <a:rPr lang="en-US" dirty="0">
                    <a:sym typeface="Wingdings" panose="05000000000000000000" pitchFamily="2" charset="2"/>
                  </a:rPr>
                  <a:t>] = [OH</a:t>
                </a:r>
                <a:r>
                  <a:rPr lang="en-US" baseline="30000" dirty="0">
                    <a:sym typeface="Wingdings" panose="05000000000000000000" pitchFamily="2" charset="2"/>
                  </a:rPr>
                  <a:t>–</a:t>
                </a:r>
                <a:r>
                  <a:rPr lang="en-US" dirty="0">
                    <a:sym typeface="Wingdings" panose="05000000000000000000" pitchFamily="2" charset="2"/>
                  </a:rPr>
                  <a:t>] = 1.0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×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10–7 </a:t>
                </a:r>
                <a:r>
                  <a:rPr lang="en-US" i="1" dirty="0">
                    <a:sym typeface="Wingdings" panose="05000000000000000000" pitchFamily="2" charset="2"/>
                  </a:rPr>
                  <a:t>M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Remember that the brackets refer to a concentration and if there is just a number, then units are in molar (mol/L)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2B180EC-C6B9-A3C7-ACBC-31EECBCF33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533" y="1135626"/>
                <a:ext cx="8387645" cy="5411929"/>
              </a:xfrm>
              <a:blipFill>
                <a:blip r:embed="rId2"/>
                <a:stretch>
                  <a:fillRect l="-1090" t="-1014" r="-1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55B9AB-CE0E-F3F0-67AE-AD35763E2A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31</a:t>
            </a:fld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4F5C09-3A10-ADC1-C271-669643AEC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7091" y="2824109"/>
            <a:ext cx="3658488" cy="1435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4937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79A03-8EBD-42DE-E0CF-A8C289445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3A8401-250B-7CEF-FAC0-200122CF7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244518"/>
            <a:ext cx="8421512" cy="830997"/>
          </a:xfrm>
        </p:spPr>
        <p:txBody>
          <a:bodyPr/>
          <a:lstStyle/>
          <a:p>
            <a:r>
              <a:rPr lang="en-US" i="1" dirty="0"/>
              <a:t>K</a:t>
            </a:r>
            <a:r>
              <a:rPr lang="en-US" baseline="-25000" dirty="0"/>
              <a:t>w</a:t>
            </a:r>
            <a:r>
              <a:rPr lang="en-US" dirty="0"/>
              <a:t> = [H</a:t>
            </a:r>
            <a:r>
              <a:rPr lang="en-US" baseline="-25000" dirty="0"/>
              <a:t>3</a:t>
            </a:r>
            <a:r>
              <a:rPr lang="en-US" dirty="0"/>
              <a:t>O</a:t>
            </a:r>
            <a:r>
              <a:rPr lang="en-US" baseline="30000" dirty="0"/>
              <a:t>+</a:t>
            </a:r>
            <a:r>
              <a:rPr lang="en-US" dirty="0"/>
              <a:t>][OH</a:t>
            </a:r>
            <a:r>
              <a:rPr lang="en-US" baseline="30000" dirty="0"/>
              <a:t>–</a:t>
            </a:r>
            <a:r>
              <a:rPr lang="en-US" dirty="0"/>
              <a:t>] = 10</a:t>
            </a:r>
            <a:r>
              <a:rPr lang="en-US" baseline="30000" dirty="0"/>
              <a:t>–14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EA42024-90A3-785C-1FD4-0D08D07A40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35626"/>
            <a:ext cx="8387645" cy="5411929"/>
          </a:xfrm>
        </p:spPr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The concentration of H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 (as H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dirty="0">
                <a:sym typeface="Wingdings" panose="05000000000000000000" pitchFamily="2" charset="2"/>
              </a:rPr>
              <a:t>O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) and OH</a:t>
            </a:r>
            <a:r>
              <a:rPr lang="en-US" baseline="30000" dirty="0">
                <a:sym typeface="Wingdings" panose="05000000000000000000" pitchFamily="2" charset="2"/>
              </a:rPr>
              <a:t>–</a:t>
            </a:r>
            <a:r>
              <a:rPr lang="en-US" dirty="0">
                <a:sym typeface="Wingdings" panose="05000000000000000000" pitchFamily="2" charset="2"/>
              </a:rPr>
              <a:t> ions in any aqueous solution can be understood as the product  [H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dirty="0">
                <a:sym typeface="Wingdings" panose="05000000000000000000" pitchFamily="2" charset="2"/>
              </a:rPr>
              <a:t>O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] x [OH</a:t>
            </a:r>
            <a:r>
              <a:rPr lang="en-US" baseline="30000" dirty="0">
                <a:sym typeface="Wingdings" panose="05000000000000000000" pitchFamily="2" charset="2"/>
              </a:rPr>
              <a:t>–</a:t>
            </a:r>
            <a:r>
              <a:rPr lang="en-US" dirty="0">
                <a:sym typeface="Wingdings" panose="05000000000000000000" pitchFamily="2" charset="2"/>
              </a:rPr>
              <a:t>] = 10</a:t>
            </a:r>
            <a:r>
              <a:rPr lang="en-US" baseline="30000" dirty="0">
                <a:sym typeface="Wingdings" panose="05000000000000000000" pitchFamily="2" charset="2"/>
              </a:rPr>
              <a:t>–14  </a:t>
            </a:r>
            <a:r>
              <a:rPr lang="en-US" sz="1800" dirty="0">
                <a:sym typeface="Wingdings" panose="05000000000000000000" pitchFamily="2" charset="2"/>
              </a:rPr>
              <a:t>(units are actually </a:t>
            </a:r>
            <a:r>
              <a:rPr lang="en-US" sz="1800" i="1" dirty="0">
                <a:sym typeface="Wingdings" panose="05000000000000000000" pitchFamily="2" charset="2"/>
              </a:rPr>
              <a:t>M</a:t>
            </a:r>
            <a:r>
              <a:rPr lang="en-US" sz="1800" baseline="30000" dirty="0">
                <a:sym typeface="Wingdings" panose="05000000000000000000" pitchFamily="2" charset="2"/>
              </a:rPr>
              <a:t>2</a:t>
            </a:r>
            <a:r>
              <a:rPr lang="en-US" sz="1800" dirty="0">
                <a:sym typeface="Wingdings" panose="05000000000000000000" pitchFamily="2" charset="2"/>
              </a:rPr>
              <a:t>)</a:t>
            </a:r>
            <a:endParaRPr lang="en-US" dirty="0">
              <a:sym typeface="Wingdings" panose="05000000000000000000" pitchFamily="2" charset="2"/>
            </a:endParaRPr>
          </a:p>
          <a:p>
            <a:pPr marL="0" indent="0" algn="ctr">
              <a:buNone/>
            </a:pPr>
            <a:r>
              <a:rPr lang="en-US" sz="1800" dirty="0">
                <a:sym typeface="Wingdings" panose="05000000000000000000" pitchFamily="2" charset="2"/>
              </a:rPr>
              <a:t>(the times symbol can be omitted)</a:t>
            </a:r>
          </a:p>
          <a:p>
            <a:r>
              <a:rPr lang="en-US" dirty="0">
                <a:sym typeface="Wingdings" panose="05000000000000000000" pitchFamily="2" charset="2"/>
              </a:rPr>
              <a:t>This equation is the equilibrium constant for water, </a:t>
            </a:r>
            <a:r>
              <a:rPr lang="en-US" i="1" dirty="0">
                <a:sym typeface="Wingdings" panose="05000000000000000000" pitchFamily="2" charset="2"/>
              </a:rPr>
              <a:t>K</a:t>
            </a:r>
            <a:r>
              <a:rPr lang="en-US" baseline="-25000" dirty="0">
                <a:sym typeface="Wingdings" panose="05000000000000000000" pitchFamily="2" charset="2"/>
              </a:rPr>
              <a:t>w</a:t>
            </a:r>
            <a:r>
              <a:rPr lang="en-US" dirty="0">
                <a:sym typeface="Wingdings" panose="05000000000000000000" pitchFamily="2" charset="2"/>
              </a:rPr>
              <a:t>:  </a:t>
            </a:r>
            <a:r>
              <a:rPr lang="en-US" i="1" dirty="0">
                <a:sym typeface="Wingdings" panose="05000000000000000000" pitchFamily="2" charset="2"/>
              </a:rPr>
              <a:t>K</a:t>
            </a:r>
            <a:r>
              <a:rPr lang="en-US" baseline="-25000" dirty="0">
                <a:sym typeface="Wingdings" panose="05000000000000000000" pitchFamily="2" charset="2"/>
              </a:rPr>
              <a:t>w</a:t>
            </a:r>
            <a:r>
              <a:rPr lang="en-US" dirty="0">
                <a:sym typeface="Wingdings" panose="05000000000000000000" pitchFamily="2" charset="2"/>
              </a:rPr>
              <a:t> = [H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dirty="0">
                <a:sym typeface="Wingdings" panose="05000000000000000000" pitchFamily="2" charset="2"/>
              </a:rPr>
              <a:t>O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][OH</a:t>
            </a:r>
            <a:r>
              <a:rPr lang="en-US" baseline="30000" dirty="0">
                <a:sym typeface="Wingdings" panose="05000000000000000000" pitchFamily="2" charset="2"/>
              </a:rPr>
              <a:t>–</a:t>
            </a:r>
            <a:r>
              <a:rPr lang="en-US" dirty="0">
                <a:sym typeface="Wingdings" panose="05000000000000000000" pitchFamily="2" charset="2"/>
              </a:rPr>
              <a:t>] = 10</a:t>
            </a:r>
            <a:r>
              <a:rPr lang="en-US" baseline="30000" dirty="0">
                <a:sym typeface="Wingdings" panose="05000000000000000000" pitchFamily="2" charset="2"/>
              </a:rPr>
              <a:t>–14 </a:t>
            </a:r>
          </a:p>
          <a:p>
            <a:pPr marL="0" indent="0">
              <a:buNone/>
            </a:pPr>
            <a:endParaRPr lang="en-US" baseline="30000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When a strong acid H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dirty="0">
                <a:sym typeface="Wingdings" panose="05000000000000000000" pitchFamily="2" charset="2"/>
              </a:rPr>
              <a:t>O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 is added, the [H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dirty="0">
                <a:sym typeface="Wingdings" panose="05000000000000000000" pitchFamily="2" charset="2"/>
              </a:rPr>
              <a:t>O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] goes up, OH</a:t>
            </a:r>
            <a:r>
              <a:rPr lang="en-US" baseline="30000" dirty="0">
                <a:sym typeface="Wingdings" panose="05000000000000000000" pitchFamily="2" charset="2"/>
              </a:rPr>
              <a:t>–</a:t>
            </a:r>
            <a:r>
              <a:rPr lang="en-US" dirty="0">
                <a:sym typeface="Wingdings" panose="05000000000000000000" pitchFamily="2" charset="2"/>
              </a:rPr>
              <a:t> is consumed and [OH</a:t>
            </a:r>
            <a:r>
              <a:rPr lang="en-US" baseline="30000" dirty="0">
                <a:sym typeface="Wingdings" panose="05000000000000000000" pitchFamily="2" charset="2"/>
              </a:rPr>
              <a:t>–</a:t>
            </a:r>
            <a:r>
              <a:rPr lang="en-US" dirty="0">
                <a:sym typeface="Wingdings" panose="05000000000000000000" pitchFamily="2" charset="2"/>
              </a:rPr>
              <a:t>] goes down</a:t>
            </a:r>
          </a:p>
          <a:p>
            <a:r>
              <a:rPr lang="en-US" dirty="0">
                <a:sym typeface="Wingdings" panose="05000000000000000000" pitchFamily="2" charset="2"/>
              </a:rPr>
              <a:t>When a strong base OH</a:t>
            </a:r>
            <a:r>
              <a:rPr lang="en-US" baseline="30000" dirty="0">
                <a:sym typeface="Wingdings" panose="05000000000000000000" pitchFamily="2" charset="2"/>
              </a:rPr>
              <a:t>–</a:t>
            </a:r>
            <a:r>
              <a:rPr lang="en-US" dirty="0">
                <a:sym typeface="Wingdings" panose="05000000000000000000" pitchFamily="2" charset="2"/>
              </a:rPr>
              <a:t> is added, the [OH</a:t>
            </a:r>
            <a:r>
              <a:rPr lang="en-US" baseline="30000" dirty="0">
                <a:sym typeface="Wingdings" panose="05000000000000000000" pitchFamily="2" charset="2"/>
              </a:rPr>
              <a:t>–</a:t>
            </a:r>
            <a:r>
              <a:rPr lang="en-US" dirty="0">
                <a:sym typeface="Wingdings" panose="05000000000000000000" pitchFamily="2" charset="2"/>
              </a:rPr>
              <a:t>] goes up, H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dirty="0">
                <a:sym typeface="Wingdings" panose="05000000000000000000" pitchFamily="2" charset="2"/>
              </a:rPr>
              <a:t>O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 is consumed and [H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dirty="0">
                <a:sym typeface="Wingdings" panose="05000000000000000000" pitchFamily="2" charset="2"/>
              </a:rPr>
              <a:t>O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] goes down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F624D-94A1-F920-A4F2-B1B73F50CC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32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120715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F9233-5CA6-7605-7918-0A06D3D5F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8BEB495-6B3D-E536-0490-0837083AC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Practice: </a:t>
            </a:r>
            <a:r>
              <a:rPr lang="en-US" sz="4000" i="1" dirty="0"/>
              <a:t>K</a:t>
            </a:r>
            <a:r>
              <a:rPr lang="en-US" sz="4000" baseline="-25000" dirty="0"/>
              <a:t>w</a:t>
            </a:r>
            <a:r>
              <a:rPr lang="en-US" sz="4000" dirty="0"/>
              <a:t> = [H</a:t>
            </a:r>
            <a:r>
              <a:rPr lang="en-US" sz="4000" baseline="-25000" dirty="0"/>
              <a:t>3</a:t>
            </a:r>
            <a:r>
              <a:rPr lang="en-US" sz="4000" dirty="0"/>
              <a:t>O</a:t>
            </a:r>
            <a:r>
              <a:rPr lang="en-US" sz="4000" baseline="30000" dirty="0"/>
              <a:t>+</a:t>
            </a:r>
            <a:r>
              <a:rPr lang="en-US" sz="4000" dirty="0"/>
              <a:t>][OH</a:t>
            </a:r>
            <a:r>
              <a:rPr lang="en-US" sz="4000" baseline="30000" dirty="0"/>
              <a:t>–</a:t>
            </a:r>
            <a:r>
              <a:rPr lang="en-US" sz="4000" dirty="0"/>
              <a:t>] = 10</a:t>
            </a:r>
            <a:r>
              <a:rPr lang="en-US" sz="4000" baseline="30000" dirty="0"/>
              <a:t>–14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F82BD0B-686F-1DE7-9779-06C8C017B4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533" y="1135626"/>
                <a:ext cx="8387645" cy="5411929"/>
              </a:xfrm>
            </p:spPr>
            <p:txBody>
              <a:bodyPr/>
              <a:lstStyle/>
              <a:p>
                <a:r>
                  <a:rPr lang="en-US" dirty="0">
                    <a:sym typeface="Wingdings" panose="05000000000000000000" pitchFamily="2" charset="2"/>
                  </a:rPr>
                  <a:t>Water is acidified such that [H</a:t>
                </a:r>
                <a:r>
                  <a:rPr lang="en-US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ym typeface="Wingdings" panose="05000000000000000000" pitchFamily="2" charset="2"/>
                  </a:rPr>
                  <a:t>O</a:t>
                </a:r>
                <a:r>
                  <a:rPr lang="en-US" baseline="30000" dirty="0">
                    <a:sym typeface="Wingdings" panose="05000000000000000000" pitchFamily="2" charset="2"/>
                  </a:rPr>
                  <a:t>+</a:t>
                </a:r>
                <a:r>
                  <a:rPr lang="en-US" dirty="0">
                    <a:sym typeface="Wingdings" panose="05000000000000000000" pitchFamily="2" charset="2"/>
                  </a:rPr>
                  <a:t>] = 1.0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×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10</a:t>
                </a:r>
                <a:r>
                  <a:rPr lang="en-US" baseline="30000" dirty="0">
                    <a:sym typeface="Wingdings" panose="05000000000000000000" pitchFamily="2" charset="2"/>
                  </a:rPr>
                  <a:t>-4</a:t>
                </a:r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:r>
                  <a:rPr lang="en-US" i="1" dirty="0">
                    <a:sym typeface="Wingdings" panose="05000000000000000000" pitchFamily="2" charset="2"/>
                  </a:rPr>
                  <a:t>M</a:t>
                </a:r>
                <a:r>
                  <a:rPr lang="en-US" dirty="0">
                    <a:sym typeface="Wingdings" panose="05000000000000000000" pitchFamily="2" charset="2"/>
                  </a:rPr>
                  <a:t>. What is [OH</a:t>
                </a:r>
                <a:r>
                  <a:rPr lang="en-US" baseline="30000" dirty="0">
                    <a:sym typeface="Wingdings" panose="05000000000000000000" pitchFamily="2" charset="2"/>
                  </a:rPr>
                  <a:t>–</a:t>
                </a:r>
                <a:r>
                  <a:rPr lang="en-US" dirty="0">
                    <a:sym typeface="Wingdings" panose="05000000000000000000" pitchFamily="2" charset="2"/>
                  </a:rPr>
                  <a:t>]?</a:t>
                </a:r>
              </a:p>
              <a:p>
                <a:pPr marL="0" indent="0" algn="ctr">
                  <a:buNone/>
                </a:pPr>
                <a:r>
                  <a:rPr lang="en-US" i="1" dirty="0">
                    <a:sym typeface="Wingdings" panose="05000000000000000000" pitchFamily="2" charset="2"/>
                  </a:rPr>
                  <a:t>K</a:t>
                </a:r>
                <a:r>
                  <a:rPr lang="en-US" baseline="-25000" dirty="0">
                    <a:sym typeface="Wingdings" panose="05000000000000000000" pitchFamily="2" charset="2"/>
                  </a:rPr>
                  <a:t>w</a:t>
                </a:r>
                <a:r>
                  <a:rPr lang="en-US" dirty="0">
                    <a:sym typeface="Wingdings" panose="05000000000000000000" pitchFamily="2" charset="2"/>
                  </a:rPr>
                  <a:t> = [H</a:t>
                </a:r>
                <a:r>
                  <a:rPr lang="en-US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ym typeface="Wingdings" panose="05000000000000000000" pitchFamily="2" charset="2"/>
                  </a:rPr>
                  <a:t>O</a:t>
                </a:r>
                <a:r>
                  <a:rPr lang="en-US" baseline="30000" dirty="0">
                    <a:sym typeface="Wingdings" panose="05000000000000000000" pitchFamily="2" charset="2"/>
                  </a:rPr>
                  <a:t>+</a:t>
                </a:r>
                <a:r>
                  <a:rPr lang="en-US" dirty="0">
                    <a:sym typeface="Wingdings" panose="05000000000000000000" pitchFamily="2" charset="2"/>
                  </a:rPr>
                  <a:t>][OH</a:t>
                </a:r>
                <a:r>
                  <a:rPr lang="en-US" baseline="30000" dirty="0">
                    <a:sym typeface="Wingdings" panose="05000000000000000000" pitchFamily="2" charset="2"/>
                  </a:rPr>
                  <a:t>–</a:t>
                </a:r>
                <a:r>
                  <a:rPr lang="en-US" dirty="0">
                    <a:sym typeface="Wingdings" panose="05000000000000000000" pitchFamily="2" charset="2"/>
                  </a:rPr>
                  <a:t>] = 10</a:t>
                </a:r>
                <a:r>
                  <a:rPr lang="en-US" baseline="30000" dirty="0">
                    <a:sym typeface="Wingdings" panose="05000000000000000000" pitchFamily="2" charset="2"/>
                  </a:rPr>
                  <a:t>–14 </a:t>
                </a:r>
              </a:p>
              <a:p>
                <a:pPr marL="0" indent="0" algn="ctr">
                  <a:buNone/>
                </a:pPr>
                <a:endParaRPr lang="en-US" baseline="30000" dirty="0">
                  <a:sym typeface="Wingdings" panose="05000000000000000000" pitchFamily="2" charset="2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[</m:t>
                      </m:r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OH</m:t>
                      </m:r>
                      <m:r>
                        <m:rPr>
                          <m:nor/>
                        </m:rPr>
                        <a:rPr lang="en-US" baseline="30000" dirty="0">
                          <a:sym typeface="Wingdings" panose="05000000000000000000" pitchFamily="2" charset="2"/>
                        </a:rPr>
                        <m:t>–</m:t>
                      </m:r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]</m:t>
                      </m:r>
                      <m:r>
                        <m:rPr>
                          <m:nor/>
                        </m:rPr>
                        <a:rPr lang="en-US" b="0" i="0" dirty="0" smtClean="0">
                          <a:sym typeface="Wingdings" panose="05000000000000000000" pitchFamily="2" charset="2"/>
                        </a:rPr>
                        <m:t> = 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𝑤</m:t>
                              </m:r>
                            </m:sub>
                          </m:sSub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[</m:t>
                          </m:r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H</m:t>
                          </m:r>
                          <m:r>
                            <a:rPr lang="en-US" b="0" i="0" baseline="-25000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3</m:t>
                          </m:r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O</m:t>
                          </m:r>
                          <m:r>
                            <a:rPr lang="en-US" b="0" i="0" baseline="30000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+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]</m:t>
                          </m:r>
                        </m:den>
                      </m:f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1.0 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p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−14</m:t>
                              </m:r>
                            </m:sup>
                          </m:sSup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𝑀</m:t>
                          </m:r>
                          <m:r>
                            <a:rPr lang="en-US" b="0" i="1" baseline="3000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2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1.0 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p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−4</m:t>
                              </m:r>
                            </m:sup>
                          </m:sSup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𝑀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=1.0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×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10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−10</m:t>
                          </m:r>
                        </m:sup>
                      </m:sSup>
                      <m:r>
                        <a:rPr lang="en-US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𝑀</m:t>
                      </m:r>
                    </m:oMath>
                  </m:oMathPara>
                </a14:m>
                <a:endParaRPr lang="en-US" i="1" dirty="0">
                  <a:sym typeface="Wingdings" panose="05000000000000000000" pitchFamily="2" charset="2"/>
                </a:endParaRPr>
              </a:p>
              <a:p>
                <a:pPr marL="0" indent="0" algn="ctr">
                  <a:buNone/>
                </a:pPr>
                <a:endParaRPr lang="en-US" baseline="30000" dirty="0">
                  <a:sym typeface="Wingdings" panose="05000000000000000000" pitchFamily="2" charset="2"/>
                </a:endParaRPr>
              </a:p>
              <a:p>
                <a:r>
                  <a:rPr lang="en-US" dirty="0">
                    <a:sym typeface="Wingdings" panose="05000000000000000000" pitchFamily="2" charset="2"/>
                  </a:rPr>
                  <a:t>Assuming both protons ionize, what is [OH</a:t>
                </a:r>
                <a:r>
                  <a:rPr lang="en-US" baseline="30000" dirty="0">
                    <a:sym typeface="Wingdings" panose="05000000000000000000" pitchFamily="2" charset="2"/>
                  </a:rPr>
                  <a:t>–</a:t>
                </a:r>
                <a:r>
                  <a:rPr lang="en-US" dirty="0">
                    <a:sym typeface="Wingdings" panose="05000000000000000000" pitchFamily="2" charset="2"/>
                  </a:rPr>
                  <a:t>] of a </a:t>
                </a:r>
                <a:r>
                  <a:rPr lang="en-US" b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0.00032 </a:t>
                </a:r>
                <a:r>
                  <a:rPr lang="en-US" b="1" i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M</a:t>
                </a:r>
                <a:r>
                  <a:rPr lang="en-US" dirty="0">
                    <a:sym typeface="Wingdings" panose="05000000000000000000" pitchFamily="2" charset="2"/>
                  </a:rPr>
                  <a:t> H</a:t>
                </a:r>
                <a:r>
                  <a:rPr lang="en-US" baseline="-25000" dirty="0"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ym typeface="Wingdings" panose="05000000000000000000" pitchFamily="2" charset="2"/>
                  </a:rPr>
                  <a:t>SO</a:t>
                </a:r>
                <a:r>
                  <a:rPr lang="en-US" baseline="-25000" dirty="0">
                    <a:sym typeface="Wingdings" panose="05000000000000000000" pitchFamily="2" charset="2"/>
                  </a:rPr>
                  <a:t>4</a:t>
                </a:r>
                <a:r>
                  <a:rPr lang="en-US" dirty="0">
                    <a:sym typeface="Wingdings" panose="05000000000000000000" pitchFamily="2" charset="2"/>
                  </a:rPr>
                  <a:t> solution?</a:t>
                </a:r>
              </a:p>
              <a:p>
                <a:pPr marL="0" indent="0" algn="ctr">
                  <a:buNone/>
                </a:pPr>
                <a:endParaRPr lang="en-US" baseline="30000" dirty="0">
                  <a:sym typeface="Wingdings" panose="05000000000000000000" pitchFamily="2" charset="2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[</m:t>
                      </m:r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OH</m:t>
                      </m:r>
                      <m:r>
                        <m:rPr>
                          <m:nor/>
                        </m:rPr>
                        <a:rPr lang="en-US" baseline="30000" dirty="0">
                          <a:sym typeface="Wingdings" panose="05000000000000000000" pitchFamily="2" charset="2"/>
                        </a:rPr>
                        <m:t>–</m:t>
                      </m:r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] = 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𝑤</m:t>
                              </m:r>
                            </m:sub>
                          </m:sSub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[</m:t>
                          </m:r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H</m:t>
                          </m:r>
                          <m:r>
                            <a:rPr lang="en-US" baseline="-25000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3</m:t>
                          </m:r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O</m:t>
                          </m:r>
                          <m:r>
                            <a:rPr lang="en-US" baseline="30000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+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]</m:t>
                          </m:r>
                        </m:den>
                      </m:f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1.0 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−14</m:t>
                              </m:r>
                            </m:sup>
                          </m:sSup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𝑀</m:t>
                          </m:r>
                          <m:r>
                            <a:rPr lang="en-US" i="1" baseline="30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2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6.4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−4</m:t>
                              </m:r>
                            </m:sup>
                          </m:sSup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𝑀</m:t>
                          </m:r>
                        </m:den>
                      </m:f>
                      <m:r>
                        <a:rPr lang="en-US" i="1" dirty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=1.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6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×</m:t>
                      </m:r>
                      <m:sSup>
                        <m:sSupPr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10</m:t>
                          </m:r>
                        </m:e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−1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1</m:t>
                          </m:r>
                        </m:sup>
                      </m:sSup>
                      <m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𝑀</m:t>
                      </m:r>
                    </m:oMath>
                  </m:oMathPara>
                </a14:m>
                <a:endParaRPr lang="en-US" i="1" dirty="0">
                  <a:sym typeface="Wingdings" panose="05000000000000000000" pitchFamily="2" charset="2"/>
                </a:endParaRPr>
              </a:p>
              <a:p>
                <a:pPr marL="0" indent="0" algn="ctr">
                  <a:buNone/>
                </a:pPr>
                <a:endParaRPr lang="en-US" baseline="300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US" baseline="30000" dirty="0">
                    <a:sym typeface="Wingdings" panose="05000000000000000000" pitchFamily="2" charset="2"/>
                  </a:rPr>
                  <a:t>Note concentration converted to scientific notation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F82BD0B-686F-1DE7-9779-06C8C017B4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533" y="1135626"/>
                <a:ext cx="8387645" cy="5411929"/>
              </a:xfrm>
              <a:blipFill>
                <a:blip r:embed="rId2"/>
                <a:stretch>
                  <a:fillRect l="-1090" t="-1014" r="-10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02908-64AA-B6B6-38EF-B5D261369F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33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129719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CB741-47E8-C1C0-64C8-F1694B48A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DDFC3A-707F-A8C3-0305-302185524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Practice: </a:t>
            </a:r>
            <a:r>
              <a:rPr lang="en-US" sz="4000" i="1" dirty="0"/>
              <a:t>K</a:t>
            </a:r>
            <a:r>
              <a:rPr lang="en-US" sz="4000" baseline="-25000" dirty="0"/>
              <a:t>w</a:t>
            </a:r>
            <a:r>
              <a:rPr lang="en-US" sz="4000" dirty="0"/>
              <a:t> = [H</a:t>
            </a:r>
            <a:r>
              <a:rPr lang="en-US" sz="4000" baseline="-25000" dirty="0"/>
              <a:t>3</a:t>
            </a:r>
            <a:r>
              <a:rPr lang="en-US" sz="4000" dirty="0"/>
              <a:t>O</a:t>
            </a:r>
            <a:r>
              <a:rPr lang="en-US" sz="4000" baseline="30000" dirty="0"/>
              <a:t>+</a:t>
            </a:r>
            <a:r>
              <a:rPr lang="en-US" sz="4000" dirty="0"/>
              <a:t>][OH</a:t>
            </a:r>
            <a:r>
              <a:rPr lang="en-US" sz="4000" baseline="30000" dirty="0"/>
              <a:t>–</a:t>
            </a:r>
            <a:r>
              <a:rPr lang="en-US" sz="4000" dirty="0"/>
              <a:t>] = 10</a:t>
            </a:r>
            <a:r>
              <a:rPr lang="en-US" sz="4000" baseline="30000" dirty="0"/>
              <a:t>–14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AB631A5-0BAD-29D9-ED84-8E2B228B59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533" y="1135626"/>
                <a:ext cx="8387645" cy="5411929"/>
              </a:xfrm>
            </p:spPr>
            <p:txBody>
              <a:bodyPr/>
              <a:lstStyle/>
              <a:p>
                <a:r>
                  <a:rPr lang="en-US" dirty="0">
                    <a:sym typeface="Wingdings" panose="05000000000000000000" pitchFamily="2" charset="2"/>
                  </a:rPr>
                  <a:t>Water is acidified such that [H</a:t>
                </a:r>
                <a:r>
                  <a:rPr lang="en-US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ym typeface="Wingdings" panose="05000000000000000000" pitchFamily="2" charset="2"/>
                  </a:rPr>
                  <a:t>O</a:t>
                </a:r>
                <a:r>
                  <a:rPr lang="en-US" baseline="30000" dirty="0">
                    <a:sym typeface="Wingdings" panose="05000000000000000000" pitchFamily="2" charset="2"/>
                  </a:rPr>
                  <a:t>+</a:t>
                </a:r>
                <a:r>
                  <a:rPr lang="en-US" dirty="0">
                    <a:sym typeface="Wingdings" panose="05000000000000000000" pitchFamily="2" charset="2"/>
                  </a:rPr>
                  <a:t>] = 1.0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×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10</a:t>
                </a:r>
                <a:r>
                  <a:rPr lang="en-US" baseline="30000" dirty="0">
                    <a:sym typeface="Wingdings" panose="05000000000000000000" pitchFamily="2" charset="2"/>
                  </a:rPr>
                  <a:t>-4</a:t>
                </a:r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:r>
                  <a:rPr lang="en-US" i="1" dirty="0">
                    <a:sym typeface="Wingdings" panose="05000000000000000000" pitchFamily="2" charset="2"/>
                  </a:rPr>
                  <a:t>M</a:t>
                </a:r>
                <a:r>
                  <a:rPr lang="en-US" dirty="0">
                    <a:sym typeface="Wingdings" panose="05000000000000000000" pitchFamily="2" charset="2"/>
                  </a:rPr>
                  <a:t>. What is [OH</a:t>
                </a:r>
                <a:r>
                  <a:rPr lang="en-US" baseline="30000" dirty="0">
                    <a:sym typeface="Wingdings" panose="05000000000000000000" pitchFamily="2" charset="2"/>
                  </a:rPr>
                  <a:t>–</a:t>
                </a:r>
                <a:r>
                  <a:rPr lang="en-US" dirty="0">
                    <a:sym typeface="Wingdings" panose="05000000000000000000" pitchFamily="2" charset="2"/>
                  </a:rPr>
                  <a:t>]?</a:t>
                </a:r>
              </a:p>
              <a:p>
                <a:pPr marL="0" indent="0" algn="ctr">
                  <a:buNone/>
                </a:pPr>
                <a:r>
                  <a:rPr lang="en-US" i="1" dirty="0">
                    <a:sym typeface="Wingdings" panose="05000000000000000000" pitchFamily="2" charset="2"/>
                  </a:rPr>
                  <a:t>K</a:t>
                </a:r>
                <a:r>
                  <a:rPr lang="en-US" baseline="-25000" dirty="0">
                    <a:sym typeface="Wingdings" panose="05000000000000000000" pitchFamily="2" charset="2"/>
                  </a:rPr>
                  <a:t>w</a:t>
                </a:r>
                <a:r>
                  <a:rPr lang="en-US" dirty="0">
                    <a:sym typeface="Wingdings" panose="05000000000000000000" pitchFamily="2" charset="2"/>
                  </a:rPr>
                  <a:t> = [H</a:t>
                </a:r>
                <a:r>
                  <a:rPr lang="en-US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ym typeface="Wingdings" panose="05000000000000000000" pitchFamily="2" charset="2"/>
                  </a:rPr>
                  <a:t>O</a:t>
                </a:r>
                <a:r>
                  <a:rPr lang="en-US" baseline="30000" dirty="0">
                    <a:sym typeface="Wingdings" panose="05000000000000000000" pitchFamily="2" charset="2"/>
                  </a:rPr>
                  <a:t>+</a:t>
                </a:r>
                <a:r>
                  <a:rPr lang="en-US" dirty="0">
                    <a:sym typeface="Wingdings" panose="05000000000000000000" pitchFamily="2" charset="2"/>
                  </a:rPr>
                  <a:t>][OH</a:t>
                </a:r>
                <a:r>
                  <a:rPr lang="en-US" baseline="30000" dirty="0">
                    <a:sym typeface="Wingdings" panose="05000000000000000000" pitchFamily="2" charset="2"/>
                  </a:rPr>
                  <a:t>–</a:t>
                </a:r>
                <a:r>
                  <a:rPr lang="en-US" dirty="0">
                    <a:sym typeface="Wingdings" panose="05000000000000000000" pitchFamily="2" charset="2"/>
                  </a:rPr>
                  <a:t>] = 10</a:t>
                </a:r>
                <a:r>
                  <a:rPr lang="en-US" baseline="30000" dirty="0">
                    <a:sym typeface="Wingdings" panose="05000000000000000000" pitchFamily="2" charset="2"/>
                  </a:rPr>
                  <a:t>–14 </a:t>
                </a:r>
              </a:p>
              <a:p>
                <a:pPr marL="0" indent="0" algn="ctr">
                  <a:buNone/>
                </a:pPr>
                <a:endParaRPr lang="en-US" baseline="30000" dirty="0">
                  <a:sym typeface="Wingdings" panose="05000000000000000000" pitchFamily="2" charset="2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[</m:t>
                      </m:r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OH</m:t>
                      </m:r>
                      <m:r>
                        <m:rPr>
                          <m:nor/>
                        </m:rPr>
                        <a:rPr lang="en-US" baseline="30000" dirty="0">
                          <a:sym typeface="Wingdings" panose="05000000000000000000" pitchFamily="2" charset="2"/>
                        </a:rPr>
                        <m:t>–</m:t>
                      </m:r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]</m:t>
                      </m:r>
                      <m:r>
                        <m:rPr>
                          <m:nor/>
                        </m:rPr>
                        <a:rPr lang="en-US" b="0" i="0" dirty="0" smtClean="0">
                          <a:sym typeface="Wingdings" panose="05000000000000000000" pitchFamily="2" charset="2"/>
                        </a:rPr>
                        <m:t> = 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𝑤</m:t>
                              </m:r>
                            </m:sub>
                          </m:sSub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[</m:t>
                          </m:r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H</m:t>
                          </m:r>
                          <m:r>
                            <a:rPr lang="en-US" b="0" i="0" baseline="-25000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3</m:t>
                          </m:r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O</m:t>
                          </m:r>
                          <m:r>
                            <a:rPr lang="en-US" b="0" i="0" baseline="30000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+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]</m:t>
                          </m:r>
                        </m:den>
                      </m:f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1.0 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p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−14</m:t>
                              </m:r>
                            </m:sup>
                          </m:sSup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𝑀</m:t>
                          </m:r>
                          <m:r>
                            <a:rPr lang="en-US" b="0" i="1" baseline="3000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2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1.0 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p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−4</m:t>
                              </m:r>
                            </m:sup>
                          </m:sSup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𝑀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=1.0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×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10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−10</m:t>
                          </m:r>
                        </m:sup>
                      </m:sSup>
                      <m:r>
                        <a:rPr lang="en-US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𝑀</m:t>
                      </m:r>
                    </m:oMath>
                  </m:oMathPara>
                </a14:m>
                <a:endParaRPr lang="en-US" i="1" dirty="0">
                  <a:sym typeface="Wingdings" panose="05000000000000000000" pitchFamily="2" charset="2"/>
                </a:endParaRPr>
              </a:p>
              <a:p>
                <a:pPr marL="0" indent="0" algn="ctr">
                  <a:buNone/>
                </a:pPr>
                <a:endParaRPr lang="en-US" baseline="30000" dirty="0">
                  <a:sym typeface="Wingdings" panose="05000000000000000000" pitchFamily="2" charset="2"/>
                </a:endParaRPr>
              </a:p>
              <a:p>
                <a:r>
                  <a:rPr lang="en-US" dirty="0">
                    <a:sym typeface="Wingdings" panose="05000000000000000000" pitchFamily="2" charset="2"/>
                  </a:rPr>
                  <a:t>Assuming both protons ionize, what is [OH</a:t>
                </a:r>
                <a:r>
                  <a:rPr lang="en-US" baseline="30000" dirty="0">
                    <a:sym typeface="Wingdings" panose="05000000000000000000" pitchFamily="2" charset="2"/>
                  </a:rPr>
                  <a:t>–</a:t>
                </a:r>
                <a:r>
                  <a:rPr lang="en-US" dirty="0">
                    <a:sym typeface="Wingdings" panose="05000000000000000000" pitchFamily="2" charset="2"/>
                  </a:rPr>
                  <a:t>] of a </a:t>
                </a:r>
                <a:r>
                  <a:rPr lang="en-US" b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0.00032 </a:t>
                </a:r>
                <a:r>
                  <a:rPr lang="en-US" b="1" i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M</a:t>
                </a:r>
                <a:r>
                  <a:rPr lang="en-US" dirty="0">
                    <a:sym typeface="Wingdings" panose="05000000000000000000" pitchFamily="2" charset="2"/>
                  </a:rPr>
                  <a:t> H</a:t>
                </a:r>
                <a:r>
                  <a:rPr lang="en-US" baseline="-25000" dirty="0"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ym typeface="Wingdings" panose="05000000000000000000" pitchFamily="2" charset="2"/>
                  </a:rPr>
                  <a:t>SO</a:t>
                </a:r>
                <a:r>
                  <a:rPr lang="en-US" baseline="-25000" dirty="0">
                    <a:sym typeface="Wingdings" panose="05000000000000000000" pitchFamily="2" charset="2"/>
                  </a:rPr>
                  <a:t>4</a:t>
                </a:r>
                <a:r>
                  <a:rPr lang="en-US" dirty="0">
                    <a:sym typeface="Wingdings" panose="05000000000000000000" pitchFamily="2" charset="2"/>
                  </a:rPr>
                  <a:t> solution?</a:t>
                </a:r>
              </a:p>
              <a:p>
                <a:pPr marL="0" indent="0" algn="ctr">
                  <a:buNone/>
                </a:pPr>
                <a:endParaRPr lang="en-US" baseline="30000" dirty="0">
                  <a:sym typeface="Wingdings" panose="05000000000000000000" pitchFamily="2" charset="2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[</m:t>
                      </m:r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OH</m:t>
                      </m:r>
                      <m:r>
                        <m:rPr>
                          <m:nor/>
                        </m:rPr>
                        <a:rPr lang="en-US" baseline="30000" dirty="0">
                          <a:sym typeface="Wingdings" panose="05000000000000000000" pitchFamily="2" charset="2"/>
                        </a:rPr>
                        <m:t>–</m:t>
                      </m:r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] = 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𝑤</m:t>
                              </m:r>
                            </m:sub>
                          </m:sSub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[</m:t>
                          </m:r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H</m:t>
                          </m:r>
                          <m:r>
                            <a:rPr lang="en-US" baseline="-25000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3</m:t>
                          </m:r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O</m:t>
                          </m:r>
                          <m:r>
                            <a:rPr lang="en-US" baseline="30000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+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]</m:t>
                          </m:r>
                        </m:den>
                      </m:f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1.0 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−14</m:t>
                              </m:r>
                            </m:sup>
                          </m:sSup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𝑀</m:t>
                          </m:r>
                          <m:r>
                            <a:rPr lang="en-US" i="1" baseline="30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2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1.0 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−4</m:t>
                              </m:r>
                            </m:sup>
                          </m:sSup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𝑀</m:t>
                          </m:r>
                        </m:den>
                      </m:f>
                      <m:r>
                        <a:rPr lang="en-US" i="1" dirty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=1.0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×</m:t>
                      </m:r>
                      <m:sSup>
                        <m:sSupPr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10</m:t>
                          </m:r>
                        </m:e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−10</m:t>
                          </m:r>
                        </m:sup>
                      </m:sSup>
                      <m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𝑀</m:t>
                      </m:r>
                    </m:oMath>
                  </m:oMathPara>
                </a14:m>
                <a:endParaRPr lang="en-US" i="1" dirty="0">
                  <a:sym typeface="Wingdings" panose="05000000000000000000" pitchFamily="2" charset="2"/>
                </a:endParaRPr>
              </a:p>
              <a:p>
                <a:pPr marL="0" indent="0" algn="ctr">
                  <a:buNone/>
                </a:pPr>
                <a:endParaRPr lang="en-US" baseline="300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en-US" baseline="300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AB631A5-0BAD-29D9-ED84-8E2B228B59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533" y="1135626"/>
                <a:ext cx="8387645" cy="5411929"/>
              </a:xfrm>
              <a:blipFill>
                <a:blip r:embed="rId2"/>
                <a:stretch>
                  <a:fillRect l="-1090" t="-1014" r="-10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132E20-DB55-C287-B35A-607E9E3FEB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34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182463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032B6-F517-6AB3-B64D-99C4757A7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FAB011-F343-1DA5-3BA6-9DCAC9CE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244518"/>
            <a:ext cx="8421512" cy="830997"/>
          </a:xfrm>
        </p:spPr>
        <p:txBody>
          <a:bodyPr/>
          <a:lstStyle/>
          <a:p>
            <a:r>
              <a:rPr lang="en-US" dirty="0"/>
              <a:t>pH Defined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0737339-7CBC-F16A-D694-552B65F02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35626"/>
            <a:ext cx="8387645" cy="5411929"/>
          </a:xfrm>
        </p:spPr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Writing out [H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dirty="0">
                <a:sym typeface="Wingdings" panose="05000000000000000000" pitchFamily="2" charset="2"/>
              </a:rPr>
              <a:t>O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] = 1.45 x 10</a:t>
            </a:r>
            <a:r>
              <a:rPr lang="en-US" baseline="30000" dirty="0">
                <a:sym typeface="Wingdings" panose="05000000000000000000" pitchFamily="2" charset="2"/>
              </a:rPr>
              <a:t>–8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i="1" dirty="0">
                <a:sym typeface="Wingdings" panose="05000000000000000000" pitchFamily="2" charset="2"/>
              </a:rPr>
              <a:t>M</a:t>
            </a:r>
            <a:r>
              <a:rPr lang="en-US" dirty="0">
                <a:sym typeface="Wingdings" panose="05000000000000000000" pitchFamily="2" charset="2"/>
              </a:rPr>
              <a:t> for chemists can lead to a kind of eye strain and brain punch</a:t>
            </a:r>
          </a:p>
          <a:p>
            <a:r>
              <a:rPr lang="en-US" dirty="0">
                <a:sym typeface="Wingdings" panose="05000000000000000000" pitchFamily="2" charset="2"/>
              </a:rPr>
              <a:t>So they came up with a convenient conversion</a:t>
            </a:r>
          </a:p>
          <a:p>
            <a:r>
              <a:rPr lang="en-US" dirty="0">
                <a:sym typeface="Wingdings" panose="05000000000000000000" pitchFamily="2" charset="2"/>
              </a:rPr>
              <a:t>pH = –log [H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dirty="0">
                <a:sym typeface="Wingdings" panose="05000000000000000000" pitchFamily="2" charset="2"/>
              </a:rPr>
              <a:t>O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]   also written pH = –log [H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]</a:t>
            </a:r>
          </a:p>
          <a:p>
            <a:r>
              <a:rPr lang="en-US" dirty="0">
                <a:sym typeface="Wingdings" panose="05000000000000000000" pitchFamily="2" charset="2"/>
              </a:rPr>
              <a:t>Recall that water with no added acid or base has a [H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dirty="0">
                <a:sym typeface="Wingdings" panose="05000000000000000000" pitchFamily="2" charset="2"/>
              </a:rPr>
              <a:t>O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] = 1.0 × 10</a:t>
            </a:r>
            <a:r>
              <a:rPr lang="en-US" baseline="30000" dirty="0">
                <a:sym typeface="Wingdings" panose="05000000000000000000" pitchFamily="2" charset="2"/>
              </a:rPr>
              <a:t>–7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i="1" dirty="0">
                <a:sym typeface="Wingdings" panose="05000000000000000000" pitchFamily="2" charset="2"/>
              </a:rPr>
              <a:t>M</a:t>
            </a:r>
            <a:r>
              <a:rPr lang="en-US" dirty="0">
                <a:sym typeface="Wingdings" panose="05000000000000000000" pitchFamily="2" charset="2"/>
              </a:rPr>
              <a:t>. The pH would be:</a:t>
            </a:r>
          </a:p>
          <a:p>
            <a:r>
              <a:rPr lang="en-US" dirty="0">
                <a:sym typeface="Wingdings" panose="05000000000000000000" pitchFamily="2" charset="2"/>
              </a:rPr>
              <a:t>pH = –log (1.0 × 10</a:t>
            </a:r>
            <a:r>
              <a:rPr lang="en-US" baseline="30000" dirty="0">
                <a:sym typeface="Wingdings" panose="05000000000000000000" pitchFamily="2" charset="2"/>
              </a:rPr>
              <a:t>–7</a:t>
            </a:r>
            <a:r>
              <a:rPr lang="en-US" dirty="0">
                <a:sym typeface="Wingdings" panose="05000000000000000000" pitchFamily="2" charset="2"/>
              </a:rPr>
              <a:t>) = 7.0</a:t>
            </a:r>
          </a:p>
          <a:p>
            <a:r>
              <a:rPr lang="en-US" dirty="0">
                <a:sym typeface="Wingdings" panose="05000000000000000000" pitchFamily="2" charset="2"/>
              </a:rPr>
              <a:t>You can also compute that if acid is added, the pH will be less than 7.0; if base added, pH greater than 7.0</a:t>
            </a:r>
          </a:p>
          <a:p>
            <a:r>
              <a:rPr lang="en-US" dirty="0">
                <a:sym typeface="Wingdings" panose="05000000000000000000" pitchFamily="2" charset="2"/>
              </a:rPr>
              <a:t>The pH scale will go from 0 to 14, in fact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94B5F-034C-E46C-762A-E8704F8962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35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114323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F1148-92A4-46E6-917B-4DE3EE7E5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7CDDD6-4642-EFCA-038A-5AB215D96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244518"/>
            <a:ext cx="8421512" cy="830997"/>
          </a:xfrm>
        </p:spPr>
        <p:txBody>
          <a:bodyPr/>
          <a:lstStyle/>
          <a:p>
            <a:r>
              <a:rPr lang="en-US" dirty="0"/>
              <a:t>The pH Scale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855A970-6D7E-0428-3088-47693761F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35626"/>
            <a:ext cx="4343305" cy="5411929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Acidic, basic or neutral?</a:t>
            </a:r>
          </a:p>
          <a:p>
            <a:r>
              <a:rPr lang="en-US" sz="2000" dirty="0">
                <a:solidFill>
                  <a:srgbClr val="FFFF00"/>
                </a:solidFill>
                <a:sym typeface="Wingdings" panose="05000000000000000000" pitchFamily="2" charset="2"/>
              </a:rPr>
              <a:t>milk of magnesia, pH 10.5</a:t>
            </a:r>
          </a:p>
          <a:p>
            <a:pPr marL="0" indent="0">
              <a:buNone/>
            </a:pPr>
            <a:r>
              <a:rPr lang="en-US" sz="2000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basic</a:t>
            </a:r>
          </a:p>
          <a:p>
            <a:r>
              <a:rPr lang="en-US" sz="2000" dirty="0">
                <a:solidFill>
                  <a:srgbClr val="FFFF00"/>
                </a:solidFill>
                <a:sym typeface="Wingdings" panose="05000000000000000000" pitchFamily="2" charset="2"/>
              </a:rPr>
              <a:t>pure water, pH 7.0</a:t>
            </a:r>
          </a:p>
          <a:p>
            <a:pPr marL="0" indent="0">
              <a:buNone/>
            </a:pPr>
            <a:r>
              <a:rPr lang="en-US" sz="2000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neutral</a:t>
            </a:r>
          </a:p>
          <a:p>
            <a:r>
              <a:rPr lang="en-US" sz="2000" dirty="0">
                <a:solidFill>
                  <a:srgbClr val="FFFF00"/>
                </a:solidFill>
                <a:sym typeface="Wingdings" panose="05000000000000000000" pitchFamily="2" charset="2"/>
              </a:rPr>
              <a:t>wine pH 3.0</a:t>
            </a:r>
          </a:p>
          <a:p>
            <a:pPr marL="0" indent="0">
              <a:buNone/>
            </a:pPr>
            <a:r>
              <a:rPr lang="en-US" sz="2000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acidic</a:t>
            </a:r>
          </a:p>
          <a:p>
            <a:r>
              <a:rPr lang="en-US" sz="2000" dirty="0">
                <a:solidFill>
                  <a:srgbClr val="FFFF00"/>
                </a:solidFill>
                <a:sym typeface="Wingdings" panose="05000000000000000000" pitchFamily="2" charset="2"/>
              </a:rPr>
              <a:t>human blood, pH 7.4</a:t>
            </a:r>
          </a:p>
          <a:p>
            <a:pPr marL="0" indent="0">
              <a:buNone/>
            </a:pPr>
            <a:r>
              <a:rPr lang="en-US" sz="2000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basic (slightly)</a:t>
            </a:r>
          </a:p>
          <a:p>
            <a:r>
              <a:rPr lang="en-US" sz="2000" dirty="0">
                <a:solidFill>
                  <a:srgbClr val="FFFF00"/>
                </a:solidFill>
                <a:sym typeface="Wingdings" panose="05000000000000000000" pitchFamily="2" charset="2"/>
              </a:rPr>
              <a:t>ammonia, pH 11.0</a:t>
            </a:r>
          </a:p>
          <a:p>
            <a:pPr marL="0" indent="0">
              <a:buNone/>
            </a:pPr>
            <a:r>
              <a:rPr lang="en-US" sz="2000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basic</a:t>
            </a:r>
          </a:p>
          <a:p>
            <a:r>
              <a:rPr lang="en-US" sz="2000" dirty="0">
                <a:solidFill>
                  <a:srgbClr val="FFFF00"/>
                </a:solidFill>
                <a:sym typeface="Wingdings" panose="05000000000000000000" pitchFamily="2" charset="2"/>
              </a:rPr>
              <a:t>cherries pH 3.6</a:t>
            </a:r>
          </a:p>
          <a:p>
            <a:pPr marL="0" indent="0">
              <a:buNone/>
            </a:pPr>
            <a:r>
              <a:rPr lang="en-US" sz="2000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acidic</a:t>
            </a:r>
          </a:p>
          <a:p>
            <a:pPr marL="0" indent="0">
              <a:buNone/>
            </a:pPr>
            <a:endParaRPr lang="en-US" sz="2000" i="1" dirty="0">
              <a:solidFill>
                <a:schemeClr val="accent1">
                  <a:lumMod val="60000"/>
                  <a:lumOff val="40000"/>
                </a:schemeClr>
              </a:solidFill>
              <a:sym typeface="Wingdings" panose="05000000000000000000" pitchFamily="2" charset="2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CD5221-E8B3-26B8-BA9B-C1E0FDADCC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36</a:t>
            </a:fld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65C093-8752-CBAF-1F49-6DB5D14AD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092" y="1048590"/>
            <a:ext cx="4203629" cy="516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430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20A3B-44AB-D4F1-2C02-2CC1A4E21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B888C2-5DEC-C131-2413-504A48991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The Math of pH</a:t>
            </a:r>
            <a:endParaRPr lang="en-US" sz="4000" baseline="300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FDE67C-436E-A820-1739-CBF20D8F1B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35626"/>
            <a:ext cx="8387645" cy="5411929"/>
          </a:xfrm>
        </p:spPr>
        <p:txBody>
          <a:bodyPr/>
          <a:lstStyle/>
          <a:p>
            <a:pPr marL="0" indent="0">
              <a:buNone/>
            </a:pPr>
            <a:r>
              <a:rPr lang="en-US" sz="2000" i="1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You should be able to calculate </a:t>
            </a:r>
            <a:r>
              <a:rPr lang="en-US" sz="2000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pH</a:t>
            </a:r>
            <a:r>
              <a:rPr lang="en-US" sz="2000" i="1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from </a:t>
            </a:r>
            <a:r>
              <a:rPr lang="en-US" sz="2000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[H</a:t>
            </a:r>
            <a:r>
              <a:rPr lang="en-US" sz="2000" baseline="-25000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3</a:t>
            </a:r>
            <a:r>
              <a:rPr lang="en-US" sz="2000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</a:t>
            </a:r>
            <a:r>
              <a:rPr lang="en-US" sz="2000" baseline="30000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+</a:t>
            </a:r>
            <a:r>
              <a:rPr lang="en-US" sz="2000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 </a:t>
            </a:r>
            <a:r>
              <a:rPr lang="en-US" sz="2000" i="1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and </a:t>
            </a:r>
            <a:r>
              <a:rPr lang="en-US" sz="2000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[H</a:t>
            </a:r>
            <a:r>
              <a:rPr lang="en-US" sz="2000" baseline="-25000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3</a:t>
            </a:r>
            <a:r>
              <a:rPr lang="en-US" sz="2000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</a:t>
            </a:r>
            <a:r>
              <a:rPr lang="en-US" sz="2000" baseline="30000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+</a:t>
            </a:r>
            <a:r>
              <a:rPr lang="en-US" sz="2000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r>
              <a:rPr lang="en-US" sz="2000" i="1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from </a:t>
            </a:r>
            <a:r>
              <a:rPr lang="en-US" sz="2000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pH</a:t>
            </a:r>
          </a:p>
          <a:p>
            <a:pPr marL="0" indent="0">
              <a:buNone/>
            </a:pPr>
            <a:r>
              <a:rPr lang="en-US" sz="1800" dirty="0">
                <a:sym typeface="Wingdings" panose="05000000000000000000" pitchFamily="2" charset="2"/>
              </a:rPr>
              <a:t>What is the pH if [H</a:t>
            </a:r>
            <a:r>
              <a:rPr lang="en-US" sz="1800" baseline="-25000" dirty="0">
                <a:sym typeface="Wingdings" panose="05000000000000000000" pitchFamily="2" charset="2"/>
              </a:rPr>
              <a:t>3</a:t>
            </a:r>
            <a:r>
              <a:rPr lang="en-US" sz="1800" dirty="0">
                <a:sym typeface="Wingdings" panose="05000000000000000000" pitchFamily="2" charset="2"/>
              </a:rPr>
              <a:t>O</a:t>
            </a:r>
            <a:r>
              <a:rPr lang="en-US" sz="1800" baseline="30000" dirty="0">
                <a:sym typeface="Wingdings" panose="05000000000000000000" pitchFamily="2" charset="2"/>
              </a:rPr>
              <a:t>+</a:t>
            </a:r>
            <a:r>
              <a:rPr lang="en-US" sz="1800" dirty="0">
                <a:sym typeface="Wingdings" panose="05000000000000000000" pitchFamily="2" charset="2"/>
              </a:rPr>
              <a:t>] = 1 × 10</a:t>
            </a:r>
            <a:r>
              <a:rPr lang="en-US" sz="1800" baseline="30000" dirty="0">
                <a:sym typeface="Wingdings" panose="05000000000000000000" pitchFamily="2" charset="2"/>
              </a:rPr>
              <a:t>-3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i="1" dirty="0">
                <a:sym typeface="Wingdings" panose="05000000000000000000" pitchFamily="2" charset="2"/>
              </a:rPr>
              <a:t>M</a:t>
            </a:r>
            <a:r>
              <a:rPr lang="en-US" sz="1800" dirty="0">
                <a:sym typeface="Wingdings" panose="05000000000000000000" pitchFamily="2" charset="2"/>
              </a:rPr>
              <a:t>?</a:t>
            </a:r>
          </a:p>
          <a:p>
            <a:pPr marL="0" indent="0">
              <a:buNone/>
            </a:pPr>
            <a:r>
              <a:rPr lang="en-US" sz="1800" dirty="0">
                <a:sym typeface="Wingdings" panose="05000000000000000000" pitchFamily="2" charset="2"/>
              </a:rPr>
              <a:t>pH = –log [1 × 10</a:t>
            </a:r>
            <a:r>
              <a:rPr lang="en-US" sz="1800" baseline="30000" dirty="0">
                <a:sym typeface="Wingdings" panose="05000000000000000000" pitchFamily="2" charset="2"/>
              </a:rPr>
              <a:t>-3</a:t>
            </a:r>
            <a:r>
              <a:rPr lang="en-US" sz="1800" dirty="0">
                <a:sym typeface="Wingdings" panose="05000000000000000000" pitchFamily="2" charset="2"/>
              </a:rPr>
              <a:t>] = 3.0</a:t>
            </a:r>
          </a:p>
          <a:p>
            <a:pPr marL="0" indent="0">
              <a:buNone/>
            </a:pPr>
            <a:r>
              <a:rPr lang="en-US" sz="1800" dirty="0">
                <a:sym typeface="Wingdings" panose="05000000000000000000" pitchFamily="2" charset="2"/>
              </a:rPr>
              <a:t>What is the pH if [H</a:t>
            </a:r>
            <a:r>
              <a:rPr lang="en-US" sz="1800" baseline="-25000" dirty="0">
                <a:sym typeface="Wingdings" panose="05000000000000000000" pitchFamily="2" charset="2"/>
              </a:rPr>
              <a:t>3</a:t>
            </a:r>
            <a:r>
              <a:rPr lang="en-US" sz="1800" dirty="0">
                <a:sym typeface="Wingdings" panose="05000000000000000000" pitchFamily="2" charset="2"/>
              </a:rPr>
              <a:t>O</a:t>
            </a:r>
            <a:r>
              <a:rPr lang="en-US" sz="1800" baseline="30000" dirty="0">
                <a:sym typeface="Wingdings" panose="05000000000000000000" pitchFamily="2" charset="2"/>
              </a:rPr>
              <a:t>+</a:t>
            </a:r>
            <a:r>
              <a:rPr lang="en-US" sz="1800" dirty="0">
                <a:sym typeface="Wingdings" panose="05000000000000000000" pitchFamily="2" charset="2"/>
              </a:rPr>
              <a:t>] = 2.5 × 10</a:t>
            </a:r>
            <a:r>
              <a:rPr lang="en-US" sz="1800" baseline="30000" dirty="0">
                <a:sym typeface="Wingdings" panose="05000000000000000000" pitchFamily="2" charset="2"/>
              </a:rPr>
              <a:t>-11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i="1" dirty="0">
                <a:sym typeface="Wingdings" panose="05000000000000000000" pitchFamily="2" charset="2"/>
              </a:rPr>
              <a:t>M</a:t>
            </a:r>
            <a:r>
              <a:rPr lang="en-US" sz="1800" dirty="0">
                <a:sym typeface="Wingdings" panose="05000000000000000000" pitchFamily="2" charset="2"/>
              </a:rPr>
              <a:t>?</a:t>
            </a:r>
          </a:p>
          <a:p>
            <a:pPr marL="0" indent="0">
              <a:buNone/>
            </a:pPr>
            <a:r>
              <a:rPr lang="en-US" sz="1800" dirty="0">
                <a:sym typeface="Wingdings" panose="05000000000000000000" pitchFamily="2" charset="2"/>
              </a:rPr>
              <a:t>pH = –log [2.5 × 10</a:t>
            </a:r>
            <a:r>
              <a:rPr lang="en-US" sz="1800" baseline="30000" dirty="0">
                <a:sym typeface="Wingdings" panose="05000000000000000000" pitchFamily="2" charset="2"/>
              </a:rPr>
              <a:t>-11</a:t>
            </a:r>
            <a:r>
              <a:rPr lang="en-US" sz="1800" dirty="0">
                <a:sym typeface="Wingdings" panose="05000000000000000000" pitchFamily="2" charset="2"/>
              </a:rPr>
              <a:t>] = 10.60</a:t>
            </a:r>
          </a:p>
          <a:p>
            <a:pPr marL="0" indent="0">
              <a:buNone/>
            </a:pPr>
            <a:r>
              <a:rPr lang="en-US" sz="1800" dirty="0">
                <a:sym typeface="Wingdings" panose="05000000000000000000" pitchFamily="2" charset="2"/>
              </a:rPr>
              <a:t>What is the pH if [H</a:t>
            </a:r>
            <a:r>
              <a:rPr lang="en-US" sz="1800" baseline="-25000" dirty="0">
                <a:sym typeface="Wingdings" panose="05000000000000000000" pitchFamily="2" charset="2"/>
              </a:rPr>
              <a:t>3</a:t>
            </a:r>
            <a:r>
              <a:rPr lang="en-US" sz="1800" dirty="0">
                <a:sym typeface="Wingdings" panose="05000000000000000000" pitchFamily="2" charset="2"/>
              </a:rPr>
              <a:t>O</a:t>
            </a:r>
            <a:r>
              <a:rPr lang="en-US" sz="1800" baseline="30000" dirty="0">
                <a:sym typeface="Wingdings" panose="05000000000000000000" pitchFamily="2" charset="2"/>
              </a:rPr>
              <a:t>+</a:t>
            </a:r>
            <a:r>
              <a:rPr lang="en-US" sz="1800" dirty="0">
                <a:sym typeface="Wingdings" panose="05000000000000000000" pitchFamily="2" charset="2"/>
              </a:rPr>
              <a:t>] = 4.7 × 10</a:t>
            </a:r>
            <a:r>
              <a:rPr lang="en-US" sz="1800" baseline="30000" dirty="0">
                <a:sym typeface="Wingdings" panose="05000000000000000000" pitchFamily="2" charset="2"/>
              </a:rPr>
              <a:t>-9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i="1" dirty="0">
                <a:sym typeface="Wingdings" panose="05000000000000000000" pitchFamily="2" charset="2"/>
              </a:rPr>
              <a:t>M</a:t>
            </a:r>
            <a:r>
              <a:rPr lang="en-US" sz="1800" dirty="0">
                <a:sym typeface="Wingdings" panose="05000000000000000000" pitchFamily="2" charset="2"/>
              </a:rPr>
              <a:t>?</a:t>
            </a:r>
          </a:p>
          <a:p>
            <a:pPr marL="0" indent="0">
              <a:buNone/>
            </a:pPr>
            <a:r>
              <a:rPr lang="en-US" sz="1800" dirty="0">
                <a:sym typeface="Wingdings" panose="05000000000000000000" pitchFamily="2" charset="2"/>
              </a:rPr>
              <a:t>pH = –log [4.7 × 10</a:t>
            </a:r>
            <a:r>
              <a:rPr lang="en-US" sz="1800" baseline="30000" dirty="0">
                <a:sym typeface="Wingdings" panose="05000000000000000000" pitchFamily="2" charset="2"/>
              </a:rPr>
              <a:t>-9</a:t>
            </a:r>
            <a:r>
              <a:rPr lang="en-US" sz="1800" dirty="0">
                <a:sym typeface="Wingdings" panose="05000000000000000000" pitchFamily="2" charset="2"/>
              </a:rPr>
              <a:t>] = 8.30</a:t>
            </a:r>
          </a:p>
          <a:p>
            <a:pPr marL="0" indent="0">
              <a:buNone/>
            </a:pPr>
            <a:r>
              <a:rPr lang="en-US" sz="1800" dirty="0" err="1">
                <a:sym typeface="Wingdings" panose="05000000000000000000" pitchFamily="2" charset="2"/>
              </a:rPr>
              <a:t>a.bbb</a:t>
            </a:r>
            <a:r>
              <a:rPr lang="en-US" sz="1800" dirty="0">
                <a:sym typeface="Wingdings" panose="05000000000000000000" pitchFamily="2" charset="2"/>
              </a:rPr>
              <a:t> (pH)   b.bb x 10</a:t>
            </a:r>
            <a:r>
              <a:rPr lang="en-US" sz="1800" baseline="30000" dirty="0">
                <a:sym typeface="Wingdings" panose="05000000000000000000" pitchFamily="2" charset="2"/>
              </a:rPr>
              <a:t>a  </a:t>
            </a:r>
          </a:p>
          <a:p>
            <a:pPr marL="0" indent="0">
              <a:buNone/>
            </a:pPr>
            <a:r>
              <a:rPr lang="en-US" sz="1800" dirty="0">
                <a:sym typeface="Wingdings" panose="05000000000000000000" pitchFamily="2" charset="2"/>
              </a:rPr>
              <a:t>Note how significant digits work in this conversion</a:t>
            </a:r>
          </a:p>
          <a:p>
            <a:pPr marL="0" indent="0">
              <a:buNone/>
            </a:pPr>
            <a:endParaRPr lang="en-US" sz="1600" baseline="300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000" dirty="0" err="1">
                <a:sym typeface="Wingdings" panose="05000000000000000000" pitchFamily="2" charset="2"/>
              </a:rPr>
              <a:t>Backconversion</a:t>
            </a:r>
            <a:r>
              <a:rPr lang="en-US" sz="2000" dirty="0">
                <a:sym typeface="Wingdings" panose="05000000000000000000" pitchFamily="2" charset="2"/>
              </a:rPr>
              <a:t>: [H</a:t>
            </a:r>
            <a:r>
              <a:rPr lang="en-US" sz="2000" baseline="-25000" dirty="0">
                <a:sym typeface="Wingdings" panose="05000000000000000000" pitchFamily="2" charset="2"/>
              </a:rPr>
              <a:t>3</a:t>
            </a:r>
            <a:r>
              <a:rPr lang="en-US" sz="2000" dirty="0">
                <a:sym typeface="Wingdings" panose="05000000000000000000" pitchFamily="2" charset="2"/>
              </a:rPr>
              <a:t>O</a:t>
            </a:r>
            <a:r>
              <a:rPr lang="en-US" sz="2000" baseline="30000" dirty="0">
                <a:sym typeface="Wingdings" panose="05000000000000000000" pitchFamily="2" charset="2"/>
              </a:rPr>
              <a:t>+</a:t>
            </a:r>
            <a:r>
              <a:rPr lang="en-US" sz="2000" dirty="0">
                <a:sym typeface="Wingdings" panose="05000000000000000000" pitchFamily="2" charset="2"/>
              </a:rPr>
              <a:t>] = antilog(–pH) = 10</a:t>
            </a:r>
            <a:r>
              <a:rPr lang="en-US" sz="2000" baseline="30000" dirty="0">
                <a:sym typeface="Wingdings" panose="05000000000000000000" pitchFamily="2" charset="2"/>
              </a:rPr>
              <a:t>–pH</a:t>
            </a:r>
          </a:p>
          <a:p>
            <a:pPr marL="0" indent="0">
              <a:buNone/>
            </a:pPr>
            <a:r>
              <a:rPr lang="en-US" sz="1800" dirty="0">
                <a:sym typeface="Wingdings" panose="05000000000000000000" pitchFamily="2" charset="2"/>
              </a:rPr>
              <a:t>You have a solution at pH = 8.3. What is [H</a:t>
            </a:r>
            <a:r>
              <a:rPr lang="en-US" sz="1800" baseline="-25000" dirty="0">
                <a:sym typeface="Wingdings" panose="05000000000000000000" pitchFamily="2" charset="2"/>
              </a:rPr>
              <a:t>3</a:t>
            </a:r>
            <a:r>
              <a:rPr lang="en-US" sz="1800" dirty="0">
                <a:sym typeface="Wingdings" panose="05000000000000000000" pitchFamily="2" charset="2"/>
              </a:rPr>
              <a:t>O</a:t>
            </a:r>
            <a:r>
              <a:rPr lang="en-US" sz="1800" baseline="30000" dirty="0">
                <a:sym typeface="Wingdings" panose="05000000000000000000" pitchFamily="2" charset="2"/>
              </a:rPr>
              <a:t>+</a:t>
            </a:r>
            <a:r>
              <a:rPr lang="en-US" sz="1800" dirty="0">
                <a:sym typeface="Wingdings" panose="05000000000000000000" pitchFamily="2" charset="2"/>
              </a:rPr>
              <a:t>]?</a:t>
            </a:r>
          </a:p>
          <a:p>
            <a:pPr marL="0" indent="0">
              <a:buNone/>
            </a:pPr>
            <a:r>
              <a:rPr lang="en-US" sz="1800" dirty="0">
                <a:sym typeface="Wingdings" panose="05000000000000000000" pitchFamily="2" charset="2"/>
              </a:rPr>
              <a:t>[H</a:t>
            </a:r>
            <a:r>
              <a:rPr lang="en-US" sz="1800" baseline="-25000" dirty="0">
                <a:sym typeface="Wingdings" panose="05000000000000000000" pitchFamily="2" charset="2"/>
              </a:rPr>
              <a:t>3</a:t>
            </a:r>
            <a:r>
              <a:rPr lang="en-US" sz="1800" dirty="0">
                <a:sym typeface="Wingdings" panose="05000000000000000000" pitchFamily="2" charset="2"/>
              </a:rPr>
              <a:t>O</a:t>
            </a:r>
            <a:r>
              <a:rPr lang="en-US" sz="1800" baseline="30000" dirty="0">
                <a:sym typeface="Wingdings" panose="05000000000000000000" pitchFamily="2" charset="2"/>
              </a:rPr>
              <a:t>+</a:t>
            </a:r>
            <a:r>
              <a:rPr lang="en-US" sz="1800" dirty="0">
                <a:sym typeface="Wingdings" panose="05000000000000000000" pitchFamily="2" charset="2"/>
              </a:rPr>
              <a:t>] = 10</a:t>
            </a:r>
            <a:r>
              <a:rPr lang="en-US" sz="1800" baseline="30000" dirty="0">
                <a:sym typeface="Wingdings" panose="05000000000000000000" pitchFamily="2" charset="2"/>
              </a:rPr>
              <a:t>–pH = </a:t>
            </a:r>
            <a:r>
              <a:rPr lang="en-US" sz="1800" dirty="0">
                <a:sym typeface="Wingdings" panose="05000000000000000000" pitchFamily="2" charset="2"/>
              </a:rPr>
              <a:t>10</a:t>
            </a:r>
            <a:r>
              <a:rPr lang="en-US" sz="1800" baseline="30000" dirty="0">
                <a:sym typeface="Wingdings" panose="05000000000000000000" pitchFamily="2" charset="2"/>
              </a:rPr>
              <a:t>–8.3</a:t>
            </a:r>
            <a:r>
              <a:rPr lang="en-US" sz="1800" dirty="0">
                <a:sym typeface="Wingdings" panose="05000000000000000000" pitchFamily="2" charset="2"/>
              </a:rPr>
              <a:t> = 5.0 x 10</a:t>
            </a:r>
            <a:r>
              <a:rPr lang="en-US" sz="1800" baseline="30000" dirty="0">
                <a:sym typeface="Wingdings" panose="05000000000000000000" pitchFamily="2" charset="2"/>
              </a:rPr>
              <a:t>-9</a:t>
            </a:r>
            <a:r>
              <a:rPr lang="en-US" sz="1800" dirty="0">
                <a:sym typeface="Wingdings" panose="05000000000000000000" pitchFamily="2" charset="2"/>
              </a:rPr>
              <a:t> 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741965-19A2-F9F4-09A8-7C67B4631E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37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072143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6CE6B-ABE9-B2F6-CDE7-730EB4A9F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969F98-99E9-263B-CE46-3BF39280A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pOH</a:t>
            </a:r>
            <a:endParaRPr lang="en-US" sz="4000" baseline="300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7BDC9A4-C10C-F4BA-F346-5A9FC424F7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35626"/>
            <a:ext cx="8387645" cy="5411929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Just as pH = – log [H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], pH = –log [OH</a:t>
            </a:r>
            <a:r>
              <a:rPr lang="en-US" baseline="30000" dirty="0">
                <a:sym typeface="Wingdings" panose="05000000000000000000" pitchFamily="2" charset="2"/>
              </a:rPr>
              <a:t>–</a:t>
            </a:r>
            <a:r>
              <a:rPr lang="en-US" dirty="0">
                <a:sym typeface="Wingdings" panose="05000000000000000000" pitchFamily="2" charset="2"/>
              </a:rPr>
              <a:t>]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Since </a:t>
            </a:r>
            <a:r>
              <a:rPr lang="en-US" i="1" dirty="0">
                <a:sym typeface="Wingdings" panose="05000000000000000000" pitchFamily="2" charset="2"/>
              </a:rPr>
              <a:t>K</a:t>
            </a:r>
            <a:r>
              <a:rPr lang="en-US" baseline="-25000" dirty="0">
                <a:sym typeface="Wingdings" panose="05000000000000000000" pitchFamily="2" charset="2"/>
              </a:rPr>
              <a:t>w</a:t>
            </a:r>
            <a:r>
              <a:rPr lang="en-US" dirty="0">
                <a:sym typeface="Wingdings" panose="05000000000000000000" pitchFamily="2" charset="2"/>
              </a:rPr>
              <a:t> = [H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dirty="0">
                <a:sym typeface="Wingdings" panose="05000000000000000000" pitchFamily="2" charset="2"/>
              </a:rPr>
              <a:t>O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][OH</a:t>
            </a:r>
            <a:r>
              <a:rPr lang="en-US" baseline="30000" dirty="0">
                <a:sym typeface="Wingdings" panose="05000000000000000000" pitchFamily="2" charset="2"/>
              </a:rPr>
              <a:t>–</a:t>
            </a:r>
            <a:r>
              <a:rPr lang="en-US" dirty="0">
                <a:sym typeface="Wingdings" panose="05000000000000000000" pitchFamily="2" charset="2"/>
              </a:rPr>
              <a:t>]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Take negative logarithm of both sides:  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– log </a:t>
            </a:r>
            <a:r>
              <a:rPr lang="en-US" i="1" dirty="0">
                <a:sym typeface="Wingdings" panose="05000000000000000000" pitchFamily="2" charset="2"/>
              </a:rPr>
              <a:t>K</a:t>
            </a:r>
            <a:r>
              <a:rPr lang="en-US" baseline="-25000" dirty="0">
                <a:sym typeface="Wingdings" panose="05000000000000000000" pitchFamily="2" charset="2"/>
              </a:rPr>
              <a:t>w</a:t>
            </a:r>
            <a:r>
              <a:rPr lang="en-US" dirty="0">
                <a:sym typeface="Wingdings" panose="05000000000000000000" pitchFamily="2" charset="2"/>
              </a:rPr>
              <a:t> = –log [H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dirty="0">
                <a:sym typeface="Wingdings" panose="05000000000000000000" pitchFamily="2" charset="2"/>
              </a:rPr>
              <a:t>O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][OH</a:t>
            </a:r>
            <a:r>
              <a:rPr lang="en-US" baseline="30000" dirty="0">
                <a:sym typeface="Wingdings" panose="05000000000000000000" pitchFamily="2" charset="2"/>
              </a:rPr>
              <a:t>–</a:t>
            </a:r>
            <a:r>
              <a:rPr lang="en-US" dirty="0">
                <a:sym typeface="Wingdings" panose="05000000000000000000" pitchFamily="2" charset="2"/>
              </a:rPr>
              <a:t>]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– log </a:t>
            </a:r>
            <a:r>
              <a:rPr lang="en-US" i="1" dirty="0">
                <a:sym typeface="Wingdings" panose="05000000000000000000" pitchFamily="2" charset="2"/>
              </a:rPr>
              <a:t>K</a:t>
            </a:r>
            <a:r>
              <a:rPr lang="en-US" i="1" baseline="-25000" dirty="0">
                <a:sym typeface="Wingdings" panose="05000000000000000000" pitchFamily="2" charset="2"/>
              </a:rPr>
              <a:t>w</a:t>
            </a:r>
            <a:r>
              <a:rPr lang="en-US" dirty="0">
                <a:sym typeface="Wingdings" panose="05000000000000000000" pitchFamily="2" charset="2"/>
              </a:rPr>
              <a:t> = –log [H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dirty="0">
                <a:sym typeface="Wingdings" panose="05000000000000000000" pitchFamily="2" charset="2"/>
              </a:rPr>
              <a:t>O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] + –log[OH</a:t>
            </a:r>
            <a:r>
              <a:rPr lang="en-US" baseline="30000" dirty="0">
                <a:sym typeface="Wingdings" panose="05000000000000000000" pitchFamily="2" charset="2"/>
              </a:rPr>
              <a:t>–</a:t>
            </a:r>
            <a:r>
              <a:rPr lang="en-US" dirty="0">
                <a:sym typeface="Wingdings" panose="05000000000000000000" pitchFamily="2" charset="2"/>
              </a:rPr>
              <a:t>]</a:t>
            </a:r>
          </a:p>
          <a:p>
            <a:pPr marL="0" indent="0">
              <a:buNone/>
            </a:pPr>
            <a:r>
              <a:rPr lang="en-US" dirty="0" err="1">
                <a:sym typeface="Wingdings" panose="05000000000000000000" pitchFamily="2" charset="2"/>
              </a:rPr>
              <a:t>p</a:t>
            </a:r>
            <a:r>
              <a:rPr lang="en-US" i="1" dirty="0" err="1">
                <a:sym typeface="Wingdings" panose="05000000000000000000" pitchFamily="2" charset="2"/>
              </a:rPr>
              <a:t>K</a:t>
            </a:r>
            <a:r>
              <a:rPr lang="en-US" baseline="-25000" dirty="0" err="1">
                <a:sym typeface="Wingdings" panose="05000000000000000000" pitchFamily="2" charset="2"/>
              </a:rPr>
              <a:t>w</a:t>
            </a:r>
            <a:r>
              <a:rPr lang="en-US" dirty="0">
                <a:sym typeface="Wingdings" panose="05000000000000000000" pitchFamily="2" charset="2"/>
              </a:rPr>
              <a:t> = pH + pOH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Since </a:t>
            </a:r>
            <a:r>
              <a:rPr lang="en-US" i="1" dirty="0">
                <a:sym typeface="Wingdings" panose="05000000000000000000" pitchFamily="2" charset="2"/>
              </a:rPr>
              <a:t>K</a:t>
            </a:r>
            <a:r>
              <a:rPr lang="en-US" baseline="-25000" dirty="0">
                <a:sym typeface="Wingdings" panose="05000000000000000000" pitchFamily="2" charset="2"/>
              </a:rPr>
              <a:t>w</a:t>
            </a:r>
            <a:r>
              <a:rPr lang="en-US" dirty="0">
                <a:sym typeface="Wingdings" panose="05000000000000000000" pitchFamily="2" charset="2"/>
              </a:rPr>
              <a:t> = 1.0 × 10</a:t>
            </a:r>
            <a:r>
              <a:rPr lang="en-US" baseline="30000" dirty="0">
                <a:sym typeface="Wingdings" panose="05000000000000000000" pitchFamily="2" charset="2"/>
              </a:rPr>
              <a:t>–14</a:t>
            </a:r>
            <a:r>
              <a:rPr lang="en-US" dirty="0">
                <a:sym typeface="Wingdings" panose="05000000000000000000" pitchFamily="2" charset="2"/>
              </a:rPr>
              <a:t> (at 25°C)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Then 14.00 = pH + pOH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If the pH = 4.42, what is the pOH?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14.00 = pH + pOH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pOH =14.00 – 4.42 = 9.58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3245D-8075-FF66-0F03-0372FF81EF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38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169073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1EE18-28D8-4F4B-29B0-C58781359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25DB42-F688-8478-D2A9-9507A6AC3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244518"/>
            <a:ext cx="8421512" cy="830997"/>
          </a:xfrm>
        </p:spPr>
        <p:txBody>
          <a:bodyPr/>
          <a:lstStyle/>
          <a:p>
            <a:r>
              <a:rPr lang="en-US" dirty="0"/>
              <a:t>Relating pH to pOH and [ ]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57A8202-4D9F-D7D8-0928-BAA8CD2FF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35626"/>
            <a:ext cx="4054687" cy="5411929"/>
          </a:xfrm>
        </p:spPr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This shows you how to convert [H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] and 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[OH</a:t>
            </a:r>
            <a:r>
              <a:rPr lang="en-US" baseline="30000" dirty="0">
                <a:sym typeface="Wingdings" panose="05000000000000000000" pitchFamily="2" charset="2"/>
              </a:rPr>
              <a:t>–</a:t>
            </a:r>
            <a:r>
              <a:rPr lang="en-US" dirty="0">
                <a:sym typeface="Wingdings" panose="05000000000000000000" pitchFamily="2" charset="2"/>
              </a:rPr>
              <a:t>], and to pH and pOH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It’s easy after an hour of practice (or less)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837BE-AD85-98E5-27AD-8E43DC0469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39</a:t>
            </a:fld>
            <a:endParaRPr 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732BF9-A2E5-120D-B944-81AC6E738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6200" y="1836738"/>
            <a:ext cx="4666521" cy="4528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1040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B1666-69E7-E48C-DB91-B17673A82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24BAD6-C124-9D5A-4E41-0596592A3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244518"/>
            <a:ext cx="8421512" cy="830997"/>
          </a:xfrm>
        </p:spPr>
        <p:txBody>
          <a:bodyPr/>
          <a:lstStyle/>
          <a:p>
            <a:r>
              <a:rPr lang="en-US" dirty="0"/>
              <a:t>Buffers: Resisting pH Change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4E3988-9CFB-E333-4A36-6FFBFE8E7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35626"/>
            <a:ext cx="8387645" cy="5411929"/>
          </a:xfrm>
        </p:spPr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The acid of the stomach is the 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strong acid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hydrochloric acid </a:t>
            </a:r>
            <a:r>
              <a:rPr lang="en-US" dirty="0">
                <a:sym typeface="Wingdings" panose="05000000000000000000" pitchFamily="2" charset="2"/>
              </a:rPr>
              <a:t>(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HCl</a:t>
            </a:r>
            <a:r>
              <a:rPr lang="en-US" dirty="0">
                <a:sym typeface="Wingdings" panose="05000000000000000000" pitchFamily="2" charset="2"/>
              </a:rPr>
              <a:t>). Its concentration is estimated to be 0.05 M. If 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1 mL </a:t>
            </a:r>
            <a:r>
              <a:rPr lang="en-US" dirty="0">
                <a:sym typeface="Wingdings" panose="05000000000000000000" pitchFamily="2" charset="2"/>
              </a:rPr>
              <a:t>got into the blood, the blood pH would go from 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7.4</a:t>
            </a:r>
            <a:r>
              <a:rPr lang="en-US" dirty="0">
                <a:sym typeface="Wingdings" panose="05000000000000000000" pitchFamily="2" charset="2"/>
              </a:rPr>
              <a:t> to about 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4.9</a:t>
            </a:r>
            <a:r>
              <a:rPr lang="en-US" dirty="0">
                <a:sym typeface="Wingdings" panose="05000000000000000000" pitchFamily="2" charset="2"/>
              </a:rPr>
              <a:t>, with fatal results.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Buffers</a:t>
            </a:r>
            <a:r>
              <a:rPr lang="en-US" dirty="0">
                <a:sym typeface="Wingdings" panose="05000000000000000000" pitchFamily="2" charset="2"/>
              </a:rPr>
              <a:t> are made of 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weak acid </a:t>
            </a:r>
            <a:r>
              <a:rPr lang="en-US" dirty="0">
                <a:sym typeface="Wingdings" panose="05000000000000000000" pitchFamily="2" charset="2"/>
              </a:rPr>
              <a:t>or 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weak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base</a:t>
            </a:r>
            <a:r>
              <a:rPr lang="en-US" dirty="0">
                <a:sym typeface="Wingdings" panose="05000000000000000000" pitchFamily="2" charset="2"/>
              </a:rPr>
              <a:t> along with salt of its 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conjugate base</a:t>
            </a:r>
            <a:r>
              <a:rPr lang="en-US" dirty="0">
                <a:sym typeface="Wingdings" panose="05000000000000000000" pitchFamily="2" charset="2"/>
              </a:rPr>
              <a:t> or 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conjugate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acid</a:t>
            </a:r>
            <a:r>
              <a:rPr lang="en-US" dirty="0">
                <a:sym typeface="Wingdings" panose="05000000000000000000" pitchFamily="2" charset="2"/>
              </a:rPr>
              <a:t>.</a:t>
            </a:r>
          </a:p>
          <a:p>
            <a:r>
              <a:rPr lang="en-US" dirty="0">
                <a:sym typeface="Wingdings" panose="05000000000000000000" pitchFamily="2" charset="2"/>
              </a:rPr>
              <a:t>An example of a buffer is </a:t>
            </a:r>
            <a:r>
              <a:rPr lang="en-US" b="1" dirty="0">
                <a:solidFill>
                  <a:srgbClr val="FFFF00"/>
                </a:solidFill>
                <a:sym typeface="Wingdings" panose="05000000000000000000" pitchFamily="2" charset="2"/>
              </a:rPr>
              <a:t>acetic acid </a:t>
            </a:r>
            <a:r>
              <a:rPr lang="en-US" dirty="0">
                <a:sym typeface="Wingdings" panose="05000000000000000000" pitchFamily="2" charset="2"/>
              </a:rPr>
              <a:t>and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b="1" dirty="0">
                <a:solidFill>
                  <a:srgbClr val="FFFF00"/>
                </a:solidFill>
                <a:sym typeface="Wingdings" panose="05000000000000000000" pitchFamily="2" charset="2"/>
              </a:rPr>
              <a:t>sodium acetate</a:t>
            </a:r>
            <a:r>
              <a:rPr lang="en-US" dirty="0">
                <a:sym typeface="Wingdings" panose="05000000000000000000" pitchFamily="2" charset="2"/>
              </a:rPr>
              <a:t>, detailed on the next slide</a:t>
            </a:r>
          </a:p>
          <a:p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4BFB18-DF9C-8BEB-EB71-303E5A46C0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40</a:t>
            </a:fld>
            <a:endParaRPr lang="en-US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271932-E6C2-CE18-8945-334FF9E23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67" y="4814498"/>
            <a:ext cx="3657142" cy="15504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4685115-AE1A-BA8D-573C-25984C22B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4899" y="4880529"/>
            <a:ext cx="4725034" cy="1370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9603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25E63-B6C9-2E49-0DEA-1CC968CB8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E830EA-85E3-0231-0B7B-DB6E9E2E1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244518"/>
            <a:ext cx="8421512" cy="830997"/>
          </a:xfrm>
        </p:spPr>
        <p:txBody>
          <a:bodyPr/>
          <a:lstStyle/>
          <a:p>
            <a:r>
              <a:rPr lang="en-US" dirty="0"/>
              <a:t>Mechanism of Buffering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8EAD249-3571-915E-E830-21F394120B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533" y="1135626"/>
                <a:ext cx="8387645" cy="5411929"/>
              </a:xfrm>
            </p:spPr>
            <p:txBody>
              <a:bodyPr/>
              <a:lstStyle/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Acetic acid CH</a:t>
                </a:r>
                <a:r>
                  <a:rPr lang="en-US" baseline="-25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COOH </a:t>
                </a:r>
                <a:r>
                  <a:rPr lang="en-US" dirty="0">
                    <a:sym typeface="Wingdings" panose="05000000000000000000" pitchFamily="2" charset="2"/>
                  </a:rPr>
                  <a:t>is a </a:t>
                </a:r>
                <a:r>
                  <a:rPr lang="en-US" dirty="0">
                    <a:solidFill>
                      <a:srgbClr val="FFFF00"/>
                    </a:solidFill>
                    <a:sym typeface="Wingdings" panose="05000000000000000000" pitchFamily="2" charset="2"/>
                  </a:rPr>
                  <a:t>weak acid</a:t>
                </a:r>
              </a:p>
              <a:p>
                <a:pPr marL="0" indent="0" algn="ctr">
                  <a:buNone/>
                </a:pPr>
                <a:r>
                  <a:rPr lang="en-US" sz="22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OH</a:t>
                </a:r>
                <a:r>
                  <a:rPr lang="en-US" sz="2200" baseline="30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– </a:t>
                </a:r>
                <a:r>
                  <a:rPr lang="en-US" sz="22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(</a:t>
                </a:r>
                <a:r>
                  <a:rPr lang="en-US" sz="2200" i="1" dirty="0" err="1">
                    <a:solidFill>
                      <a:srgbClr val="FFC000"/>
                    </a:solidFill>
                    <a:sym typeface="Wingdings" panose="05000000000000000000" pitchFamily="2" charset="2"/>
                  </a:rPr>
                  <a:t>aq</a:t>
                </a:r>
                <a:r>
                  <a:rPr lang="en-US" sz="22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 + CH</a:t>
                </a:r>
                <a:r>
                  <a:rPr lang="en-US" sz="2200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sz="22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COOH (</a:t>
                </a:r>
                <a:r>
                  <a:rPr lang="en-US" sz="2200" i="1" dirty="0" err="1">
                    <a:solidFill>
                      <a:srgbClr val="FFC000"/>
                    </a:solidFill>
                    <a:sym typeface="Wingdings" panose="05000000000000000000" pitchFamily="2" charset="2"/>
                  </a:rPr>
                  <a:t>aq</a:t>
                </a:r>
                <a:r>
                  <a:rPr lang="en-US" sz="22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sz="22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H</a:t>
                </a:r>
                <a:r>
                  <a:rPr lang="en-US" sz="2200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sz="22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O (</a:t>
                </a:r>
                <a:r>
                  <a:rPr lang="en-US" sz="2200" i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l</a:t>
                </a:r>
                <a:r>
                  <a:rPr lang="en-US" sz="22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 + CH</a:t>
                </a:r>
                <a:r>
                  <a:rPr lang="en-US" sz="2200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sz="22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COO</a:t>
                </a:r>
                <a:r>
                  <a:rPr lang="en-US" sz="2200" baseline="30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–</a:t>
                </a:r>
                <a:r>
                  <a:rPr lang="en-US" sz="22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(</a:t>
                </a:r>
                <a:r>
                  <a:rPr lang="en-US" sz="2200" i="1" dirty="0" err="1">
                    <a:solidFill>
                      <a:srgbClr val="FFC000"/>
                    </a:solidFill>
                    <a:sym typeface="Wingdings" panose="05000000000000000000" pitchFamily="2" charset="2"/>
                  </a:rPr>
                  <a:t>aq</a:t>
                </a:r>
                <a:r>
                  <a:rPr lang="en-US" sz="22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anose="05000000000000000000" pitchFamily="2" charset="2"/>
                  </a:rPr>
                  <a:t>If a </a:t>
                </a:r>
                <a:r>
                  <a:rPr lang="en-US" sz="2000" dirty="0">
                    <a:solidFill>
                      <a:srgbClr val="FFFF00"/>
                    </a:solidFill>
                    <a:sym typeface="Wingdings" panose="05000000000000000000" pitchFamily="2" charset="2"/>
                  </a:rPr>
                  <a:t>strong base </a:t>
                </a:r>
                <a:r>
                  <a:rPr lang="en-US" sz="2000" dirty="0">
                    <a:sym typeface="Wingdings" panose="05000000000000000000" pitchFamily="2" charset="2"/>
                  </a:rPr>
                  <a:t>(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hydroxyl ion OH</a:t>
                </a:r>
                <a:r>
                  <a:rPr lang="en-US" sz="2000" baseline="30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–</a:t>
                </a:r>
                <a:r>
                  <a:rPr lang="en-US" sz="2000" dirty="0">
                    <a:sym typeface="Wingdings" panose="05000000000000000000" pitchFamily="2" charset="2"/>
                  </a:rPr>
                  <a:t>) is added to the solution, the </a:t>
                </a:r>
                <a:r>
                  <a:rPr lang="en-US" sz="2000" dirty="0">
                    <a:solidFill>
                      <a:srgbClr val="FFFF00"/>
                    </a:solidFill>
                    <a:sym typeface="Wingdings" panose="05000000000000000000" pitchFamily="2" charset="2"/>
                  </a:rPr>
                  <a:t>weak acid </a:t>
                </a:r>
                <a:r>
                  <a:rPr lang="en-US" sz="2000" dirty="0">
                    <a:sym typeface="Wingdings" panose="05000000000000000000" pitchFamily="2" charset="2"/>
                  </a:rPr>
                  <a:t>reacts with it which resists a strong change in pH</a:t>
                </a:r>
              </a:p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Sodium acetate CH</a:t>
                </a:r>
                <a:r>
                  <a:rPr lang="en-US" baseline="-25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COONa </a:t>
                </a:r>
                <a:r>
                  <a:rPr lang="en-US" dirty="0">
                    <a:sym typeface="Wingdings" panose="05000000000000000000" pitchFamily="2" charset="2"/>
                  </a:rPr>
                  <a:t>is its </a:t>
                </a:r>
                <a:r>
                  <a:rPr lang="en-US" dirty="0">
                    <a:solidFill>
                      <a:srgbClr val="FFFF00"/>
                    </a:solidFill>
                    <a:sym typeface="Wingdings" panose="05000000000000000000" pitchFamily="2" charset="2"/>
                  </a:rPr>
                  <a:t>conjugate base</a:t>
                </a:r>
              </a:p>
              <a:p>
                <a:pPr marL="0" indent="0" algn="ctr">
                  <a:buNone/>
                </a:pP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H</a:t>
                </a:r>
                <a:r>
                  <a:rPr lang="en-US" baseline="30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+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(</a:t>
                </a:r>
                <a:r>
                  <a:rPr lang="en-US" i="1" dirty="0" err="1">
                    <a:solidFill>
                      <a:srgbClr val="FFC000"/>
                    </a:solidFill>
                    <a:sym typeface="Wingdings" panose="05000000000000000000" pitchFamily="2" charset="2"/>
                  </a:rPr>
                  <a:t>aq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 + CH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COO</a:t>
                </a:r>
                <a:r>
                  <a:rPr lang="en-US" baseline="30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–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(</a:t>
                </a:r>
                <a:r>
                  <a:rPr lang="en-US" i="1" dirty="0" err="1">
                    <a:solidFill>
                      <a:srgbClr val="FFC000"/>
                    </a:solidFill>
                    <a:sym typeface="Wingdings" panose="05000000000000000000" pitchFamily="2" charset="2"/>
                  </a:rPr>
                  <a:t>aq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CH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COOH (</a:t>
                </a:r>
                <a:r>
                  <a:rPr lang="en-US" i="1" dirty="0" err="1">
                    <a:solidFill>
                      <a:srgbClr val="FFC000"/>
                    </a:solidFill>
                    <a:sym typeface="Wingdings" panose="05000000000000000000" pitchFamily="2" charset="2"/>
                  </a:rPr>
                  <a:t>aq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anose="05000000000000000000" pitchFamily="2" charset="2"/>
                  </a:rPr>
                  <a:t>If a </a:t>
                </a:r>
                <a:r>
                  <a:rPr lang="en-US" sz="2000" dirty="0">
                    <a:solidFill>
                      <a:srgbClr val="FFFF00"/>
                    </a:solidFill>
                    <a:sym typeface="Wingdings" panose="05000000000000000000" pitchFamily="2" charset="2"/>
                  </a:rPr>
                  <a:t>strong acid </a:t>
                </a:r>
                <a:r>
                  <a:rPr lang="en-US" sz="2000" dirty="0">
                    <a:sym typeface="Wingdings" panose="05000000000000000000" pitchFamily="2" charset="2"/>
                  </a:rPr>
                  <a:t>(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hydrogen ion H</a:t>
                </a:r>
                <a:r>
                  <a:rPr lang="en-US" sz="2000" baseline="30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+</a:t>
                </a:r>
                <a:r>
                  <a:rPr lang="en-US" sz="2000" dirty="0">
                    <a:sym typeface="Wingdings" panose="05000000000000000000" pitchFamily="2" charset="2"/>
                  </a:rPr>
                  <a:t>) is added to the solution, the </a:t>
                </a:r>
                <a:r>
                  <a:rPr lang="en-US" sz="2000" dirty="0">
                    <a:solidFill>
                      <a:srgbClr val="FFFF00"/>
                    </a:solidFill>
                    <a:sym typeface="Wingdings" panose="05000000000000000000" pitchFamily="2" charset="2"/>
                  </a:rPr>
                  <a:t>weak base </a:t>
                </a:r>
                <a:r>
                  <a:rPr lang="en-US" sz="2000" dirty="0">
                    <a:sym typeface="Wingdings" panose="05000000000000000000" pitchFamily="2" charset="2"/>
                  </a:rPr>
                  <a:t>reacts with it which resists a strong change in pH</a:t>
                </a:r>
              </a:p>
              <a:p>
                <a:endParaRPr lang="en-US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8EAD249-3571-915E-E830-21F394120B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533" y="1135626"/>
                <a:ext cx="8387645" cy="5411929"/>
              </a:xfrm>
              <a:blipFill>
                <a:blip r:embed="rId2"/>
                <a:stretch>
                  <a:fillRect l="-1090" t="-901" r="-16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24D75-B966-D4F7-309F-F370647C1E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41</a:t>
            </a:fld>
            <a:endParaRPr lang="en-US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4ABA37-D929-9445-A921-9F55E038A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914" y="4499253"/>
            <a:ext cx="6228881" cy="1940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0466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5A7D2-E18C-54A2-1745-767929929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B634043-63AD-4C6D-2B44-CB70674DF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244518"/>
            <a:ext cx="8421512" cy="830997"/>
          </a:xfrm>
        </p:spPr>
        <p:txBody>
          <a:bodyPr/>
          <a:lstStyle/>
          <a:p>
            <a:r>
              <a:rPr lang="en-US" dirty="0"/>
              <a:t>Practice: Buffers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D6572B1-DC9B-87FC-EAD0-F8BB79A15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35626"/>
            <a:ext cx="8413046" cy="5411929"/>
          </a:xfrm>
        </p:spPr>
        <p:txBody>
          <a:bodyPr/>
          <a:lstStyle/>
          <a:p>
            <a:pPr marL="0" indent="0">
              <a:buNone/>
            </a:pPr>
            <a:r>
              <a:rPr lang="en-US" sz="2200" dirty="0">
                <a:sym typeface="Wingdings" panose="05000000000000000000" pitchFamily="2" charset="2"/>
              </a:rPr>
              <a:t>Are these solute combinations good aqueous buffers?</a:t>
            </a:r>
          </a:p>
          <a:p>
            <a:r>
              <a:rPr lang="en-US" dirty="0">
                <a:sym typeface="Wingdings" panose="05000000000000000000" pitchFamily="2" charset="2"/>
              </a:rPr>
              <a:t>HCOOH + Na</a:t>
            </a:r>
            <a:r>
              <a:rPr lang="en-US" baseline="30000" dirty="0">
                <a:sym typeface="Wingdings" panose="05000000000000000000" pitchFamily="2" charset="2"/>
              </a:rPr>
              <a:t>+ –</a:t>
            </a:r>
            <a:r>
              <a:rPr lang="en-US" dirty="0">
                <a:sym typeface="Wingdings" panose="05000000000000000000" pitchFamily="2" charset="2"/>
              </a:rPr>
              <a:t>OOCH</a:t>
            </a:r>
          </a:p>
          <a:p>
            <a:pPr marL="236538" lvl="1" indent="0">
              <a:buNone/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Yes</a:t>
            </a:r>
            <a:r>
              <a:rPr lang="en-US" dirty="0">
                <a:sym typeface="Wingdings" panose="05000000000000000000" pitchFamily="2" charset="2"/>
              </a:rPr>
              <a:t> -- Formic acid: weak acid; sodium </a:t>
            </a:r>
            <a:r>
              <a:rPr lang="en-US" dirty="0" err="1">
                <a:sym typeface="Wingdings" panose="05000000000000000000" pitchFamily="2" charset="2"/>
              </a:rPr>
              <a:t>formate</a:t>
            </a:r>
            <a:r>
              <a:rPr lang="en-US" dirty="0">
                <a:sym typeface="Wingdings" panose="05000000000000000000" pitchFamily="2" charset="2"/>
              </a:rPr>
              <a:t>: its conjugate base as a salt </a:t>
            </a:r>
            <a:endParaRPr lang="en-US" baseline="30000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HCl + NaCl</a:t>
            </a:r>
          </a:p>
          <a:p>
            <a:pPr marL="236538" lvl="1" indent="0">
              <a:buNone/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No</a:t>
            </a:r>
            <a:r>
              <a:rPr lang="en-US" dirty="0">
                <a:sym typeface="Wingdings" panose="05000000000000000000" pitchFamily="2" charset="2"/>
              </a:rPr>
              <a:t> -- Hydrochloric acid is a strong acid, not weak; not a good buffer</a:t>
            </a:r>
            <a:endParaRPr lang="en-US" baseline="30000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CH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dirty="0">
                <a:sym typeface="Wingdings" panose="05000000000000000000" pitchFamily="2" charset="2"/>
              </a:rPr>
              <a:t>NH</a:t>
            </a:r>
            <a:r>
              <a:rPr lang="en-US" baseline="-25000" dirty="0">
                <a:sym typeface="Wingdings" panose="05000000000000000000" pitchFamily="2" charset="2"/>
              </a:rPr>
              <a:t>2</a:t>
            </a:r>
            <a:r>
              <a:rPr lang="en-US" dirty="0">
                <a:sym typeface="Wingdings" panose="05000000000000000000" pitchFamily="2" charset="2"/>
              </a:rPr>
              <a:t> + CH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dirty="0">
                <a:sym typeface="Wingdings" panose="05000000000000000000" pitchFamily="2" charset="2"/>
              </a:rPr>
              <a:t>NH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 Cl</a:t>
            </a:r>
            <a:r>
              <a:rPr lang="en-US" baseline="30000" dirty="0">
                <a:sym typeface="Wingdings" panose="05000000000000000000" pitchFamily="2" charset="2"/>
              </a:rPr>
              <a:t>–</a:t>
            </a:r>
          </a:p>
          <a:p>
            <a:pPr marL="236538" lvl="1" indent="0">
              <a:buNone/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Yes</a:t>
            </a:r>
            <a:r>
              <a:rPr lang="en-US" dirty="0">
                <a:sym typeface="Wingdings" panose="05000000000000000000" pitchFamily="2" charset="2"/>
              </a:rPr>
              <a:t> -- Methylamine is just the methyl derivative of ammonia, which is a known weak base. Its chloride is a conjugate acid</a:t>
            </a:r>
            <a:endParaRPr lang="en-US" baseline="30000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NH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dirty="0">
                <a:sym typeface="Wingdings" panose="05000000000000000000" pitchFamily="2" charset="2"/>
              </a:rPr>
              <a:t> + NaOH</a:t>
            </a:r>
          </a:p>
          <a:p>
            <a:pPr marL="231775" lvl="1" indent="0">
              <a:buNone/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No</a:t>
            </a:r>
            <a:r>
              <a:rPr lang="en-US" dirty="0">
                <a:sym typeface="Wingdings" panose="05000000000000000000" pitchFamily="2" charset="2"/>
              </a:rPr>
              <a:t> – While ammonia is a weak base, the other solute should be a conjugate acid, like ammonium chloride or sulfate, not a strong base like sodium hydroxide</a:t>
            </a:r>
            <a:endParaRPr lang="en-US" baseline="30000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C6945-1109-E7AF-FCA7-302D6E17FA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42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8664020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7938A-C12A-0521-75BE-9644D6CE8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7CD145-5FD2-BA4E-715B-563F406F4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244518"/>
            <a:ext cx="8421512" cy="830997"/>
          </a:xfrm>
        </p:spPr>
        <p:txBody>
          <a:bodyPr/>
          <a:lstStyle/>
          <a:p>
            <a:r>
              <a:rPr lang="en-US" dirty="0"/>
              <a:t>Practice: Buffers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55566C-8990-A57D-6731-99C9320A1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35626"/>
            <a:ext cx="8413046" cy="5411929"/>
          </a:xfrm>
        </p:spPr>
        <p:txBody>
          <a:bodyPr/>
          <a:lstStyle/>
          <a:p>
            <a:pPr marL="0" indent="0">
              <a:buNone/>
            </a:pPr>
            <a:r>
              <a:rPr lang="en-US" sz="2200" dirty="0">
                <a:sym typeface="Wingdings" panose="05000000000000000000" pitchFamily="2" charset="2"/>
              </a:rPr>
              <a:t>Are these solute combinations good aqueous buffers?</a:t>
            </a:r>
          </a:p>
          <a:p>
            <a:r>
              <a:rPr lang="en-US" dirty="0">
                <a:sym typeface="Wingdings" panose="05000000000000000000" pitchFamily="2" charset="2"/>
              </a:rPr>
              <a:t>NaHCO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dirty="0">
                <a:sym typeface="Wingdings" panose="05000000000000000000" pitchFamily="2" charset="2"/>
              </a:rPr>
              <a:t> + NaCl</a:t>
            </a:r>
          </a:p>
          <a:p>
            <a:pPr marL="236538" lvl="1" indent="0">
              <a:buNone/>
            </a:pPr>
            <a:r>
              <a:rPr 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No</a:t>
            </a:r>
            <a:r>
              <a:rPr lang="en-US" sz="1800" dirty="0">
                <a:sym typeface="Wingdings" panose="05000000000000000000" pitchFamily="2" charset="2"/>
              </a:rPr>
              <a:t> – While sodium bicarbonate is a good weak base, its conjugate acid is carbonic acid H2CO3 should be the other solute. Sodium chloride is not a weak acid or weak base</a:t>
            </a:r>
            <a:endParaRPr lang="en-US" sz="1800" baseline="30000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H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dirty="0">
                <a:sym typeface="Wingdings" panose="05000000000000000000" pitchFamily="2" charset="2"/>
              </a:rPr>
              <a:t>PO</a:t>
            </a:r>
            <a:r>
              <a:rPr lang="en-US" baseline="-25000" dirty="0">
                <a:sym typeface="Wingdings" panose="05000000000000000000" pitchFamily="2" charset="2"/>
              </a:rPr>
              <a:t>4</a:t>
            </a:r>
            <a:r>
              <a:rPr lang="en-US" dirty="0">
                <a:sym typeface="Wingdings" panose="05000000000000000000" pitchFamily="2" charset="2"/>
              </a:rPr>
              <a:t> + NaH</a:t>
            </a:r>
            <a:r>
              <a:rPr lang="en-US" baseline="-25000" dirty="0">
                <a:sym typeface="Wingdings" panose="05000000000000000000" pitchFamily="2" charset="2"/>
              </a:rPr>
              <a:t>2</a:t>
            </a:r>
            <a:r>
              <a:rPr lang="en-US" dirty="0">
                <a:sym typeface="Wingdings" panose="05000000000000000000" pitchFamily="2" charset="2"/>
              </a:rPr>
              <a:t>PO</a:t>
            </a:r>
            <a:r>
              <a:rPr lang="en-US" baseline="-25000" dirty="0">
                <a:sym typeface="Wingdings" panose="05000000000000000000" pitchFamily="2" charset="2"/>
              </a:rPr>
              <a:t>4</a:t>
            </a:r>
          </a:p>
          <a:p>
            <a:pPr marL="236538" lvl="1" indent="0">
              <a:buNone/>
            </a:pPr>
            <a:r>
              <a:rPr 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Yes</a:t>
            </a:r>
            <a:r>
              <a:rPr lang="en-US" sz="1800" dirty="0">
                <a:sym typeface="Wingdings" panose="05000000000000000000" pitchFamily="2" charset="2"/>
              </a:rPr>
              <a:t> – Phosphoric acid and its conjugate base sodium dihydrogen phosphate make an excellent buffer</a:t>
            </a:r>
            <a:endParaRPr lang="en-US" sz="1800" baseline="30000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NH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dirty="0">
                <a:sym typeface="Wingdings" panose="05000000000000000000" pitchFamily="2" charset="2"/>
              </a:rPr>
              <a:t> + (NH</a:t>
            </a:r>
            <a:r>
              <a:rPr lang="en-US" baseline="-25000" dirty="0">
                <a:sym typeface="Wingdings" panose="05000000000000000000" pitchFamily="2" charset="2"/>
              </a:rPr>
              <a:t>4</a:t>
            </a:r>
            <a:r>
              <a:rPr lang="en-US" dirty="0">
                <a:sym typeface="Wingdings" panose="05000000000000000000" pitchFamily="2" charset="2"/>
              </a:rPr>
              <a:t>)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baseline="30000" dirty="0">
                <a:sym typeface="Wingdings" panose="05000000000000000000" pitchFamily="2" charset="2"/>
              </a:rPr>
              <a:t> </a:t>
            </a:r>
            <a:r>
              <a:rPr lang="en-US" dirty="0">
                <a:sym typeface="Wingdings" panose="05000000000000000000" pitchFamily="2" charset="2"/>
              </a:rPr>
              <a:t>PO</a:t>
            </a:r>
            <a:r>
              <a:rPr lang="en-US" baseline="-25000" dirty="0">
                <a:sym typeface="Wingdings" panose="05000000000000000000" pitchFamily="2" charset="2"/>
              </a:rPr>
              <a:t>4</a:t>
            </a:r>
            <a:endParaRPr lang="en-US" baseline="30000" dirty="0">
              <a:sym typeface="Wingdings" panose="05000000000000000000" pitchFamily="2" charset="2"/>
            </a:endParaRPr>
          </a:p>
          <a:p>
            <a:pPr marL="236538" lvl="1" indent="0">
              <a:buNone/>
            </a:pPr>
            <a:r>
              <a:rPr 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Yes</a:t>
            </a:r>
            <a:r>
              <a:rPr lang="en-US" sz="1800" dirty="0">
                <a:sym typeface="Wingdings" panose="05000000000000000000" pitchFamily="2" charset="2"/>
              </a:rPr>
              <a:t> – Ammonia is a weak base and ammonium phosphate is a conjugate acid that also includes a phosphate counterion that is itself a buffering chemical</a:t>
            </a:r>
            <a:endParaRPr lang="en-US" sz="1800" baseline="30000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NaOH + NaCl</a:t>
            </a:r>
          </a:p>
          <a:p>
            <a:pPr marL="231775" lvl="1" indent="0">
              <a:buNone/>
            </a:pPr>
            <a:r>
              <a:rPr 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No</a:t>
            </a:r>
            <a:r>
              <a:rPr lang="en-US" sz="1800" dirty="0">
                <a:sym typeface="Wingdings" panose="05000000000000000000" pitchFamily="2" charset="2"/>
              </a:rPr>
              <a:t> – Neither strong base sodium hydroxide or sodium chloride (not acid nor base) have properties as a weak acid or base required to be a buffering agent</a:t>
            </a:r>
            <a:endParaRPr lang="en-US" sz="1800" baseline="30000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78D475-9BD9-DCE0-702D-5F24823B70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43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37391074"/>
      </p:ext>
    </p:extLst>
  </p:cSld>
  <p:clrMapOvr>
    <a:masterClrMapping/>
  </p:clrMapOvr>
</p:sld>
</file>

<file path=ppt/theme/theme1.xml><?xml version="1.0" encoding="utf-8"?>
<a:theme xmlns:a="http://schemas.openxmlformats.org/drawingml/2006/main" name="Light-on-dark-standard-presentation">
  <a:themeElements>
    <a:clrScheme name="4_LightOnDar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4_LightOnDark">
      <a:majorFont>
        <a:latin typeface="Arial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1600" dirty="0" smtClean="0">
            <a:solidFill>
              <a:schemeClr val="bg1"/>
            </a:solidFill>
          </a:defRPr>
        </a:defPPr>
      </a:lstStyle>
    </a:txDef>
  </a:objectDefaults>
  <a:extraClrSchemeLst>
    <a:extraClrScheme>
      <a:clrScheme name="4_LightOnDar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LightOnDark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30298</TotalTime>
  <Words>3512</Words>
  <Application>Microsoft Office PowerPoint</Application>
  <PresentationFormat>On-screen Show (4:3)</PresentationFormat>
  <Paragraphs>373</Paragraphs>
  <Slides>43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2" baseType="lpstr">
      <vt:lpstr>Arial</vt:lpstr>
      <vt:lpstr>Cambria</vt:lpstr>
      <vt:lpstr>Cambria Math</vt:lpstr>
      <vt:lpstr>Courier New</vt:lpstr>
      <vt:lpstr>Tahoma</vt:lpstr>
      <vt:lpstr>Times New Roman</vt:lpstr>
      <vt:lpstr>Verdana</vt:lpstr>
      <vt:lpstr>Wingdings</vt:lpstr>
      <vt:lpstr>Light-on-dark-standard-presentation</vt:lpstr>
      <vt:lpstr>Introductory General Chemistry</vt:lpstr>
      <vt:lpstr>PowerPoint Presentation</vt:lpstr>
      <vt:lpstr>The Equilibrium Symbol/Character</vt:lpstr>
      <vt:lpstr>Acids</vt:lpstr>
      <vt:lpstr>Acids</vt:lpstr>
      <vt:lpstr>PowerPoint Presentation</vt:lpstr>
      <vt:lpstr>Specific Acids</vt:lpstr>
      <vt:lpstr>Specific Acids</vt:lpstr>
      <vt:lpstr>Specific Acids</vt:lpstr>
      <vt:lpstr>Bases</vt:lpstr>
      <vt:lpstr>PowerPoint Presentation</vt:lpstr>
      <vt:lpstr>Specific Bases</vt:lpstr>
      <vt:lpstr>Specific Bases</vt:lpstr>
      <vt:lpstr>Specific Bases</vt:lpstr>
      <vt:lpstr>What Defines An Acid, A Base?</vt:lpstr>
      <vt:lpstr>What Defines An Acid, A Base?</vt:lpstr>
      <vt:lpstr>The Hydronium Ion (H3O+)</vt:lpstr>
      <vt:lpstr>Practice: Definitions of Acids/Bases</vt:lpstr>
      <vt:lpstr>Practice</vt:lpstr>
      <vt:lpstr>Conjugate Acid-Base Pair</vt:lpstr>
      <vt:lpstr>Acid-Base Reactions Forward and Reverse</vt:lpstr>
      <vt:lpstr>Strengths of Conjugate Pairs</vt:lpstr>
      <vt:lpstr>Practice: Conjugate Acid-Base Pairs</vt:lpstr>
      <vt:lpstr>Practice: Conjugate Acid-Base Pairs</vt:lpstr>
      <vt:lpstr>Practice: Conjugate Acid-Base Pairs</vt:lpstr>
      <vt:lpstr>Acid-Base Reactions: Neutralization</vt:lpstr>
      <vt:lpstr>Acid-Base Reactions: Neutralization</vt:lpstr>
      <vt:lpstr>Acid-Base Reactions: Active Metals</vt:lpstr>
      <vt:lpstr>Strong / Weak Acids &amp; Bases</vt:lpstr>
      <vt:lpstr>Practice: Strong &amp; Weak</vt:lpstr>
      <vt:lpstr>Water as an Acid and Base</vt:lpstr>
      <vt:lpstr>Kw = [H3O+][OH–] = 10–14</vt:lpstr>
      <vt:lpstr>Practice: Kw = [H3O+][OH–] = 10–14</vt:lpstr>
      <vt:lpstr>Practice: Kw = [H3O+][OH–] = 10–14</vt:lpstr>
      <vt:lpstr>pH Defined</vt:lpstr>
      <vt:lpstr>The pH Scale</vt:lpstr>
      <vt:lpstr>The Math of pH</vt:lpstr>
      <vt:lpstr>pOH</vt:lpstr>
      <vt:lpstr>Relating pH to pOH and [ ]</vt:lpstr>
      <vt:lpstr>Buffers: Resisting pH Change</vt:lpstr>
      <vt:lpstr>Mechanism of Buffering</vt:lpstr>
      <vt:lpstr>Practice: Buffers</vt:lpstr>
      <vt:lpstr>Practice: Buffers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 M Halloran</dc:creator>
  <cp:lastModifiedBy>sm h</cp:lastModifiedBy>
  <cp:revision>1160</cp:revision>
  <cp:lastPrinted>2016-03-14T04:22:58Z</cp:lastPrinted>
  <dcterms:created xsi:type="dcterms:W3CDTF">2005-12-08T13:54:14Z</dcterms:created>
  <dcterms:modified xsi:type="dcterms:W3CDTF">2025-11-10T21:42:59Z</dcterms:modified>
</cp:coreProperties>
</file>